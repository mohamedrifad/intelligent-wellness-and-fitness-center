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47956a2a1194baa" /><Relationship Type="http://schemas.openxmlformats.org/officeDocument/2006/relationships/extended-properties" Target="/docProps/app.xml" Id="R0512aabaf44e4073" /><Relationship Type="http://schemas.openxmlformats.org/officeDocument/2006/relationships/officeDocument" Target="/ppt/presentation.xml" Id="R3780326473ce4c9b" /></Relationships>
</file>

<file path=ppt/presentation.xml><?xml version="1.0" encoding="utf-8"?>
<p:presentation xmlns:p="http://schemas.openxmlformats.org/presentationml/2006/main">
  <p:sldMasterIdLst>
    <p:sldMasterId xmlns:r="http://schemas.openxmlformats.org/officeDocument/2006/relationships" id="2147483648" r:id="Rafe4c7970d57445c"/>
  </p:sldMasterIdLst>
  <p:notesMasterIdLst>
    <p:notesMasterId xmlns:r="http://schemas.openxmlformats.org/officeDocument/2006/relationships" r:id="Rfeb80b1526e54533"/>
  </p:notesMasterIdLst>
  <p:sldIdLst>
    <p:sldId xmlns:r="http://schemas.openxmlformats.org/officeDocument/2006/relationships" id="256" r:id="R0802a99119774df2"/>
    <p:sldId xmlns:r="http://schemas.openxmlformats.org/officeDocument/2006/relationships" id="257" r:id="Rf40716d394274aee"/>
    <p:sldId xmlns:r="http://schemas.openxmlformats.org/officeDocument/2006/relationships" id="258" r:id="R9e75fc1f76574441"/>
    <p:sldId xmlns:r="http://schemas.openxmlformats.org/officeDocument/2006/relationships" id="259" r:id="R8e5e9f8463b94242"/>
    <p:sldId xmlns:r="http://schemas.openxmlformats.org/officeDocument/2006/relationships" id="260" r:id="R7e03f82e187b49c7"/>
    <p:sldId xmlns:r="http://schemas.openxmlformats.org/officeDocument/2006/relationships" id="261" r:id="R35ee3628cc4a431c"/>
    <p:sldId xmlns:r="http://schemas.openxmlformats.org/officeDocument/2006/relationships" id="262" r:id="R3783ca1378a44ce8"/>
    <p:sldId xmlns:r="http://schemas.openxmlformats.org/officeDocument/2006/relationships" id="263" r:id="R8e0575fbf2754789"/>
    <p:sldId xmlns:r="http://schemas.openxmlformats.org/officeDocument/2006/relationships" id="264" r:id="R4dc8d2c839ca4d11"/>
    <p:sldId xmlns:r="http://schemas.openxmlformats.org/officeDocument/2006/relationships" id="265" r:id="R1b756e923889458f"/>
    <p:sldId xmlns:r="http://schemas.openxmlformats.org/officeDocument/2006/relationships" id="266" r:id="Rd8605c29634a4f9a"/>
    <p:sldId xmlns:r="http://schemas.openxmlformats.org/officeDocument/2006/relationships" id="267" r:id="R68b3316f5284451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21ae74787524f31" /><Relationship Type="http://schemas.openxmlformats.org/officeDocument/2006/relationships/slideMaster" Target="/ppt/slideMasters/slideMaster1.xml" Id="Rafe4c7970d57445c" /><Relationship Type="http://schemas.openxmlformats.org/officeDocument/2006/relationships/notesMaster" Target="/ppt/notesMasters/notesMaster1.xml" Id="Rfeb80b1526e54533" /><Relationship Type="http://schemas.openxmlformats.org/officeDocument/2006/relationships/presProps" Target="/ppt/presProps.xml" Id="R3f02594b46374bd9" /><Relationship Type="http://schemas.openxmlformats.org/officeDocument/2006/relationships/tableStyles" Target="/ppt/tableStyles.xml" Id="R9f5449ca52014dac" /><Relationship Type="http://schemas.openxmlformats.org/officeDocument/2006/relationships/slide" Target="/ppt/slides/slide1.xml" Id="R0802a99119774df2" /><Relationship Type="http://schemas.openxmlformats.org/officeDocument/2006/relationships/slide" Target="/ppt/slides/slide2.xml" Id="Rf40716d394274aee" /><Relationship Type="http://schemas.openxmlformats.org/officeDocument/2006/relationships/slide" Target="/ppt/slides/slide3.xml" Id="R9e75fc1f76574441" /><Relationship Type="http://schemas.openxmlformats.org/officeDocument/2006/relationships/slide" Target="/ppt/slides/slide4.xml" Id="R8e5e9f8463b94242" /><Relationship Type="http://schemas.openxmlformats.org/officeDocument/2006/relationships/slide" Target="/ppt/slides/slide5.xml" Id="R7e03f82e187b49c7" /><Relationship Type="http://schemas.openxmlformats.org/officeDocument/2006/relationships/slide" Target="/ppt/slides/slide6.xml" Id="R35ee3628cc4a431c" /><Relationship Type="http://schemas.openxmlformats.org/officeDocument/2006/relationships/slide" Target="/ppt/slides/slide7.xml" Id="R3783ca1378a44ce8" /><Relationship Type="http://schemas.openxmlformats.org/officeDocument/2006/relationships/slide" Target="/ppt/slides/slide8.xml" Id="R8e0575fbf2754789" /><Relationship Type="http://schemas.openxmlformats.org/officeDocument/2006/relationships/slide" Target="/ppt/slides/slide9.xml" Id="R4dc8d2c839ca4d11" /><Relationship Type="http://schemas.openxmlformats.org/officeDocument/2006/relationships/slide" Target="/ppt/slides/slide10.xml" Id="R1b756e923889458f" /><Relationship Type="http://schemas.openxmlformats.org/officeDocument/2006/relationships/slide" Target="/ppt/slides/slide11.xml" Id="Rd8605c29634a4f9a" /><Relationship Type="http://schemas.openxmlformats.org/officeDocument/2006/relationships/slide" Target="/ppt/slides/slide12.xml" Id="R68b3316f528445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65a87628edf4ba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c749229ddbc4b58" /><Relationship Type="http://schemas.openxmlformats.org/officeDocument/2006/relationships/notesMaster" Target="/ppt/notesMasters/notesMaster1.xml" Id="R389190ac14ec42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2bdeafa80ab5472f" /><Relationship Type="http://schemas.openxmlformats.org/officeDocument/2006/relationships/notesMaster" Target="/ppt/notesMasters/notesMaster1.xml" Id="R9a5195c371df4f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4d06d15cc28f465e" /><Relationship Type="http://schemas.openxmlformats.org/officeDocument/2006/relationships/notesMaster" Target="/ppt/notesMasters/notesMaster1.xml" Id="Red5dbe3ecc484234" /></Relationships>
</file>

<file path=ppt/notesSlides/_rels/notesSlide4.xml.rels>&#65279;<?xml version="1.0" encoding="utf-8"?><Relationships xmlns="http://schemas.openxmlformats.org/package/2006/relationships"><Relationship Type="http://schemas.openxmlformats.org/officeDocument/2006/relationships/slide" Target="/ppt/slides/slide4.xml" Id="R1b36ff6f2c8e48a8" /><Relationship Type="http://schemas.openxmlformats.org/officeDocument/2006/relationships/notesMaster" Target="/ppt/notesMasters/notesMaster1.xml" Id="Rda952d3d698541f6"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43a7d908e84dc1" /><Relationship Type="http://schemas.openxmlformats.org/officeDocument/2006/relationships/notesMaster" Target="/ppt/notesMasters/notesMaster1.xml" Id="R3aa1ab7e81364707" /></Relationships>
</file>

<file path=ppt/notesSlides/_rels/notesSlide6.xml.rels>&#65279;<?xml version="1.0" encoding="utf-8"?><Relationships xmlns="http://schemas.openxmlformats.org/package/2006/relationships"><Relationship Type="http://schemas.openxmlformats.org/officeDocument/2006/relationships/slide" Target="/ppt/slides/slide6.xml" Id="Rfa909b72c1af4cf1" /><Relationship Type="http://schemas.openxmlformats.org/officeDocument/2006/relationships/notesMaster" Target="/ppt/notesMasters/notesMaster1.xml" Id="Red181e9808f346d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209bf6bec4d4c1f" /><Relationship Type="http://schemas.openxmlformats.org/officeDocument/2006/relationships/notesMaster" Target="/ppt/notesMasters/notesMaster1.xml" Id="Racc8ab92e80f459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a4b35f1814042fa" /><Relationship Type="http://schemas.openxmlformats.org/officeDocument/2006/relationships/notesMaster" Target="/ppt/notesMasters/notesMaster1.xml" Id="R3f731bbe763e4782" /></Relationships>
</file>

<file path=ppt/notesSlides/_rels/notesSlide9.xml.rels>&#65279;<?xml version="1.0" encoding="utf-8"?><Relationships xmlns="http://schemas.openxmlformats.org/package/2006/relationships"><Relationship Type="http://schemas.openxmlformats.org/officeDocument/2006/relationships/slide" Target="/ppt/slides/slide9.xml" Id="Rbb16bdfa7b5346c6" /><Relationship Type="http://schemas.openxmlformats.org/officeDocument/2006/relationships/notesMaster" Target="/ppt/notesMasters/notesMaster1.xml" Id="Re9ac1d34e2804d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7e0dee4ca6b464a" /><Relationship Type="http://schemas.openxmlformats.org/officeDocument/2006/relationships/notesMaster" Target="/ppt/notesMasters/notesMaster1.xml" Id="Rc05c43ac84a84b1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ea7e9cc7844063" /><Relationship Type="http://schemas.openxmlformats.org/officeDocument/2006/relationships/notesMaster" Target="/ppt/notesMasters/notesMaster1.xml" Id="R344bb1caea66460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5b9dc7c8ef74369" /><Relationship Type="http://schemas.openxmlformats.org/officeDocument/2006/relationships/notesMaster" Target="/ppt/notesMasters/notesMaster1.xml" Id="Ra78d06208ed543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0:00-0:35. Introduce the IWFC prototype and say the presentation will show the design, key code, tests, and running console. The repository is private. Before submission, record the video, upload it to YouTube or an accessible student OneDrive, replace the visible video-link line on this first slide with the real URL, and verify tutor access. Source: CMP 7001 PRES1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0:35-1:15. The scenario starts with fragmented manual equipment records, booking processes, and maintenance reporting. The project objective is one small management tool. Emphasise that this is an in-memory academic prototype, not a deployed production service. Source: CMP 7001 PRAC1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1:15-2:00. Walk through the three actors. An Administrator registers accounts and equipment. An Instructor schedules single or weekly sessions, records usage and reports a fault. A Member books a place and receives booking and affected-session notices. Maintenance progresses Pending to Assigned to Completed. Explain the guardrails: 06:00 to 22:00, overlap checks, capacity and active equipment. Source: PRAC1 brief and IWFCFacade/BookingService/MaintenanceService.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2:00-3:15. This is the required class diagram. All 15 top-level production classes appear. Point to scheduleWeeklySessions in BookingService and viewAllSessions plus sample loading in IWFCFacade. MaintenanceService preserves Faulty or Under Maintenance when another request remains open. Nested enums remain within their source files and do not increase the 15-file count. Source: completed src/main/java codebase.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3:15-4:10. Factory creates all three roles and equipment. Facade methods guard role and account state before coordinating weekly scheduling, sample loading and Administrator views. Observer publishing sends fault or 100-hour alerts to active Administrators, assignment and completion to the reporter, and affected-session notices to booked active Members. BookingService uses the same User receiver for confirmations and deterministic wellness tips. Source: completed code and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4:10-4:55. User is abstract and holds shared identity, account state and notification behaviour. Administrator, Instructor and Member override getRoleDescription. A User reference can represent any role, which is real polymorphism. GenericRepository&lt;T&gt; reuses one typed store for four entity types. Collections are chosen by meaning: maps for ID lookup, sets for unique bookings and alerts, lists for ordered snapshots and notifications. Encapsulated status methods stop callers bypassing transitions. Source: domain classes, GenericRepository, evidence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4:55-5:40. Explain three checked custom exceptions and the maintenance transition rule. Scheduling rejects outside 06:00-22:00 and overlapping instructor, studio or equipment use. Booking rejects full capacity and repeat Member booking. The Facade rejects wrong roles and inactive or unregistered actors. Duplicate IDs fail in GenericRepository. MaintenanceRequest permits only Pending to Assigned to Completed; invalid transitions use IllegalStateException. Source: BookingService, IWFCFacade, GenericRepository, MaintenanceRequest.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5:40-6:30. Maven Surefire recorded 14 test suites and 142 tests, with zero failures, zero errors and zero skipped. Coverage includes recurring-series atomicity, booking and schedule notifications, multiple open maintenance requests, sample-data state and console data views. Boundaries include 06:00 and 22:00, one to twelve recurrence weeks, capacity, and 99.9 versus 100 hours. Source: final Maven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6:30-7:20. The integration suite covers the full workflow through public Facade methods and rejected duplicate equipment, conflicting sessions, unauthorized log access and invalid maintenance transitions. Additional tests prove a four-week atomic series and the three equipment states after one of several requests completes. Preventative alerts rearm after completion without duplicating messages in one cycle. Source: IWFCWorkflowIntegrationTest, BookingServiceTest and MaintenanceServiceTest.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7:20-8:35. Enter A1 and Rifad. Choose option 2 to load sample data, then option 3 to show S1 at 2/2 and S4-W1 through S4-W4. Choose option 1 to run the guided workflow and point out booking confirmation, wellness tip, schedule notice and the 100-hour preventative alert. Finish with Operational equipment and a Completed request, then select 0. Source: README and IWFCFacade.main.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8:35-9:20. The prototype is in memory and a restart loses data. It has no password authentication or database transactions. Weekly recurrence uses a fixed interval and occurrence count rather than a general calendar engine. Notifications remain in memory rather than using email or mobile services. Future work includes persistent transactional storage, real authentication, richer recurrence and durable notification delivery. Source: report and completed codebase.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9:20-10:00. Summarise the learning: a small domain model enforces booking, recurring scheduling and maintenance rules. The hardest design choice was retaining 15 production files while adding atomic recurrence and filtered notifications. Show the repository link again if asked. Finish the recording, replace the video reminder with a verified URL, and check audio and screen capture. Source: completed project and PRES1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c2c2fe1cc584f6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bf4ec201e749bf" /><Relationship Type="http://schemas.openxmlformats.org/officeDocument/2006/relationships/slideLayout" Target="/ppt/slideLayouts/slideLayout1.xml" Id="R7acb8abb34a84d4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cb8abb34a84d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fe65da2fccb4c7f" /><Relationship Type="http://schemas.openxmlformats.org/officeDocument/2006/relationships/notesSlide" Target="/ppt/notesSlides/notesSlide1.xml" Id="Rda10406c95c244c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68ed09972934522" /><Relationship Type="http://schemas.openxmlformats.org/officeDocument/2006/relationships/notesSlide" Target="/ppt/notesSlides/notesSlide2.xml" Id="Rcaf9f7eec4174a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499103948274bbb" /><Relationship Type="http://schemas.openxmlformats.org/officeDocument/2006/relationships/notesSlide" Target="/ppt/notesSlides/notesSlide3.xml" Id="R27793aea7cf74f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52cb6cbf92840ce" /><Relationship Type="http://schemas.openxmlformats.org/officeDocument/2006/relationships/notesSlide" Target="/ppt/notesSlides/notesSlide4.xml" Id="R3123d1ace0aa4a0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1d2dd598dc645dd" /><Relationship Type="http://schemas.openxmlformats.org/officeDocument/2006/relationships/notesSlide" Target="/ppt/notesSlides/notesSlide5.xml" Id="R44e81fa055524c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a7d49f775e24080" /><Relationship Type="http://schemas.openxmlformats.org/officeDocument/2006/relationships/notesSlide" Target="/ppt/notesSlides/notesSlide6.xml" Id="Re7d95c93cf0a49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390a09dcafd460f" /><Relationship Type="http://schemas.openxmlformats.org/officeDocument/2006/relationships/notesSlide" Target="/ppt/notesSlides/notesSlide7.xml" Id="R402682589761400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c7c80cd44534aa0" /><Relationship Type="http://schemas.openxmlformats.org/officeDocument/2006/relationships/notesSlide" Target="/ppt/notesSlides/notesSlide8.xml" Id="Re7ef43f166f541f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0b083ff6d8a4ce6" /><Relationship Type="http://schemas.openxmlformats.org/officeDocument/2006/relationships/notesSlide" Target="/ppt/notesSlides/notesSlide9.xml" Id="R781d5eb3fb824d0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176de21be3e41e3" /><Relationship Type="http://schemas.openxmlformats.org/officeDocument/2006/relationships/notesSlide" Target="/ppt/notesSlides/notesSlide10.xml" Id="Rff3dab80990548b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36d6046e7624f76" /><Relationship Type="http://schemas.openxmlformats.org/officeDocument/2006/relationships/notesSlide" Target="/ppt/notesSlides/notesSlide11.xml" Id="R962e3817a28c472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5301c2880d94c6f" /><Relationship Type="http://schemas.openxmlformats.org/officeDocument/2006/relationships/notesSlide" Target="/ppt/notesSlides/notesSlide12.xml" Id="R1083e92be182497b" /></Relationships>
</file>

<file path=ppt/slides/slide1.xml><?xml version="1.0" encoding="utf-8"?>
<p:sld xmlns:p="http://schemas.openxmlformats.org/presentationml/2006/main">
  <p:cSld>
    <p:bg>
      <p:bgPr>
        <a:solidFill xmlns:a="http://schemas.openxmlformats.org/drawingml/2006/main">
          <a:srgbClr val="16324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B6402C-CE9A-418B-8E8C-71C83CAA1CC8}"/>
              </a:ext>
            </a:extLst>
          </p:cNvPr>
          <p:cNvSpPr>
            <a:spLocks xmlns:a="http://schemas.openxmlformats.org/drawingml/2006/main" noGrp="1"/>
          </p:cNvSpPr>
          <p:nvPr/>
        </p:nvSpPr>
        <p:spPr>
          <a:xfrm xmlns:a="http://schemas.openxmlformats.org/drawingml/2006/main">
            <a:off x="704850" y="1162050"/>
            <a:ext cx="10001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FFFFFF"/>
                </a:solidFill>
                <a:latin typeface="Arial"/>
                <a:ea typeface="Arial"/>
                <a:cs typeface="Arial"/>
              </a:defRPr>
            </a:pPr>
            <a:r>
              <a:rPr sz="4275" b="1">
                <a:solidFill>
                  <a:srgbClr val="FFFFFF"/>
                </a:solidFill>
                <a:latin typeface="Arial"/>
                <a:ea typeface="Arial"/>
                <a:cs typeface="Arial"/>
              </a:rPr>
              <a:t>Intelligent Wellness and</a:t>
            </a:r>
          </a:p>
          <a:p xmlns:a="http://schemas.openxmlformats.org/drawingml/2006/main">
            <a:pPr>
              <a:defRPr sz="4275" b="1">
                <a:solidFill>
                  <a:srgbClr val="FFFFFF"/>
                </a:solidFill>
                <a:latin typeface="Arial"/>
                <a:ea typeface="Arial"/>
                <a:cs typeface="Arial"/>
              </a:defRPr>
            </a:pPr>
            <a:r>
              <a:rPr sz="4275" b="1">
                <a:solidFill>
                  <a:srgbClr val="FFFFFF"/>
                </a:solidFill>
                <a:latin typeface="Arial"/>
                <a:ea typeface="Arial"/>
                <a:cs typeface="Arial"/>
              </a:rPr>
              <a:t>Fitness Center</a:t>
            </a:r>
          </a:p>
        </p:txBody>
      </p:sp>
      <p:sp>
        <p:nvSpPr>
          <p:cNvPr id="2" name="">
            <a:extLst xmlns:a="http://schemas.openxmlformats.org/drawingml/2006/main">
              <a:ext uri="{FF2B5EF4-FFF2-40B4-BE49-F238E27FC236}">
                <a16:creationId xmlns:a16="http://schemas.microsoft.com/office/drawing/2014/main" id="{19D8C846-A66F-44FF-966A-54136F25E586}"/>
              </a:ext>
            </a:extLst>
          </p:cNvPr>
          <p:cNvSpPr>
            <a:spLocks xmlns:a="http://schemas.openxmlformats.org/drawingml/2006/main" noGrp="1"/>
          </p:cNvSpPr>
          <p:nvPr/>
        </p:nvSpPr>
        <p:spPr>
          <a:xfrm xmlns:a="http://schemas.openxmlformats.org/drawingml/2006/main">
            <a:off x="723900" y="3038475"/>
            <a:ext cx="885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D9EDF3"/>
                </a:solidFill>
                <a:latin typeface="Arial"/>
                <a:ea typeface="Arial"/>
                <a:cs typeface="Arial"/>
              </a:defRPr>
            </a:pPr>
            <a:r>
              <a:rPr sz="1875" b="0">
                <a:solidFill>
                  <a:srgbClr val="D9EDF3"/>
                </a:solidFill>
                <a:latin typeface="Arial"/>
                <a:ea typeface="Arial"/>
                <a:cs typeface="Arial"/>
              </a:rPr>
              <a:t>Java prototype  |  CMP 7001 PRES1</a:t>
            </a:r>
          </a:p>
        </p:txBody>
      </p:sp>
      <p:sp>
        <p:nvSpPr>
          <p:cNvPr id="3" name="">
            <a:extLst xmlns:a="http://schemas.openxmlformats.org/drawingml/2006/main">
              <a:ext uri="{FF2B5EF4-FFF2-40B4-BE49-F238E27FC236}">
                <a16:creationId xmlns:a16="http://schemas.microsoft.com/office/drawing/2014/main" id="{080A8C17-D6D7-49CF-B133-FB08C62D25F8}"/>
              </a:ext>
            </a:extLst>
          </p:cNvPr>
          <p:cNvSpPr>
            <a:spLocks xmlns:a="http://schemas.openxmlformats.org/drawingml/2006/main" noGrp="1"/>
          </p:cNvSpPr>
          <p:nvPr/>
        </p:nvSpPr>
        <p:spPr>
          <a:xfrm xmlns:a="http://schemas.openxmlformats.org/drawingml/2006/main">
            <a:off x="723900" y="3790950"/>
            <a:ext cx="10563225" cy="0"/>
          </a:xfrm>
          <a:prstGeom xmlns:a="http://schemas.openxmlformats.org/drawingml/2006/main" prst="line">
            <a:avLst/>
          </a:prstGeom>
          <a:noFill xmlns:a="http://schemas.openxmlformats.org/drawingml/2006/main"/>
          <a:ln xmlns:a="http://schemas.openxmlformats.org/drawingml/2006/main" w="38100">
            <a:solidFill>
              <a:srgbClr val="68C7C4"/>
            </a:solidFill>
          </a:ln>
        </p:spPr>
      </p:sp>
      <p:sp>
        <p:nvSpPr>
          <p:cNvPr id="4" name="">
            <a:extLst xmlns:a="http://schemas.openxmlformats.org/drawingml/2006/main">
              <a:ext uri="{FF2B5EF4-FFF2-40B4-BE49-F238E27FC236}">
                <a16:creationId xmlns:a16="http://schemas.microsoft.com/office/drawing/2014/main" id="{5C418582-BA70-4141-9637-A8649E8986F0}"/>
              </a:ext>
            </a:extLst>
          </p:cNvPr>
          <p:cNvSpPr>
            <a:spLocks xmlns:a="http://schemas.openxmlformats.org/drawingml/2006/main" noGrp="1"/>
          </p:cNvSpPr>
          <p:nvPr/>
        </p:nvSpPr>
        <p:spPr>
          <a:xfrm xmlns:a="http://schemas.openxmlformats.org/drawingml/2006/main">
            <a:off x="723900" y="4124325"/>
            <a:ext cx="5905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Mohamed Rifad</a:t>
            </a:r>
          </a:p>
        </p:txBody>
      </p:sp>
      <p:sp>
        <p:nvSpPr>
          <p:cNvPr id="5" name="">
            <a:extLst xmlns:a="http://schemas.openxmlformats.org/drawingml/2006/main">
              <a:ext uri="{FF2B5EF4-FFF2-40B4-BE49-F238E27FC236}">
                <a16:creationId xmlns:a16="http://schemas.microsoft.com/office/drawing/2014/main" id="{3D9B676E-C85B-4975-8126-320B0569388B}"/>
              </a:ext>
            </a:extLst>
          </p:cNvPr>
          <p:cNvSpPr>
            <a:spLocks xmlns:a="http://schemas.openxmlformats.org/drawingml/2006/main" noGrp="1"/>
          </p:cNvSpPr>
          <p:nvPr/>
        </p:nvSpPr>
        <p:spPr>
          <a:xfrm xmlns:a="http://schemas.openxmlformats.org/drawingml/2006/main">
            <a:off x="723900" y="479107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FFFFFF"/>
                </a:solidFill>
                <a:latin typeface="Arial"/>
                <a:ea typeface="Arial"/>
                <a:cs typeface="Arial"/>
              </a:defRPr>
            </a:pPr>
            <a:r>
              <a:rPr sz="1350" b="0">
                <a:solidFill>
                  <a:srgbClr val="FFFFFF"/>
                </a:solidFill>
                <a:latin typeface="Arial"/>
                <a:ea typeface="Arial"/>
                <a:cs typeface="Arial"/>
              </a:rPr>
              <a:t>Repository: https://github.com/MohamedRifad/intelligent-wellness-and-fitness-center</a:t>
            </a:r>
          </a:p>
        </p:txBody>
      </p:sp>
      <p:sp>
        <p:nvSpPr>
          <p:cNvPr id="6" name="">
            <a:extLst xmlns:a="http://schemas.openxmlformats.org/drawingml/2006/main">
              <a:ext uri="{FF2B5EF4-FFF2-40B4-BE49-F238E27FC236}">
                <a16:creationId xmlns:a16="http://schemas.microsoft.com/office/drawing/2014/main" id="{134BAC1C-1B5B-4F96-95F5-C5532BBD5214}"/>
              </a:ext>
            </a:extLst>
          </p:cNvPr>
          <p:cNvSpPr>
            <a:spLocks xmlns:a="http://schemas.openxmlformats.org/drawingml/2006/main" noGrp="1"/>
          </p:cNvSpPr>
          <p:nvPr/>
        </p:nvSpPr>
        <p:spPr>
          <a:xfrm xmlns:a="http://schemas.openxmlformats.org/drawingml/2006/main">
            <a:off x="723900" y="53530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F5D69A"/>
                </a:solidFill>
                <a:latin typeface="Arial"/>
                <a:ea typeface="Arial"/>
                <a:cs typeface="Arial"/>
              </a:defRPr>
            </a:pPr>
            <a:r>
              <a:rPr sz="1575" b="1">
                <a:solidFill>
                  <a:srgbClr val="F5D69A"/>
                </a:solidFill>
                <a:latin typeface="Arial"/>
                <a:ea typeface="Arial"/>
                <a:cs typeface="Arial"/>
              </a:rPr>
              <a:t>Video link: ADD AFTER RECORDING (YouTube or accessible OneDrive)</a:t>
            </a:r>
          </a:p>
        </p:txBody>
      </p:sp>
    </p:spTree>
    <p:extLst>
      <p:ext uri="{BB962C8B-B14F-4D97-AF65-F5344CB8AC3E}">
        <p14:creationId xmlns:p14="http://schemas.microsoft.com/office/powerpoint/2010/main" val="7849280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5A9B54-F4FD-4FA4-951E-8DF076051F41}"/>
              </a:ext>
            </a:extLst>
          </p:cNvPr>
          <p:cNvSpPr>
            <a:spLocks xmlns:a="http://schemas.openxmlformats.org/drawingml/2006/main" noGrp="1"/>
          </p:cNvSpPr>
          <p:nvPr/>
        </p:nvSpPr>
        <p:spPr>
          <a:xfrm xmlns:a="http://schemas.openxmlformats.org/drawingml/2006/main">
            <a:off x="609600" y="419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24C"/>
                </a:solidFill>
                <a:latin typeface="Arial"/>
                <a:ea typeface="Arial"/>
                <a:cs typeface="Arial"/>
              </a:defRPr>
            </a:pPr>
            <a:r>
              <a:rPr sz="2700" b="1">
                <a:solidFill>
                  <a:srgbClr val="16324C"/>
                </a:solidFill>
                <a:latin typeface="Arial"/>
                <a:ea typeface="Arial"/>
                <a:cs typeface="Arial"/>
              </a:rPr>
              <a:t>Problem and objective</a:t>
            </a:r>
          </a:p>
        </p:txBody>
      </p:sp>
      <p:sp>
        <p:nvSpPr>
          <p:cNvPr id="2" name="">
            <a:extLst xmlns:a="http://schemas.openxmlformats.org/drawingml/2006/main">
              <a:ext uri="{FF2B5EF4-FFF2-40B4-BE49-F238E27FC236}">
                <a16:creationId xmlns:a16="http://schemas.microsoft.com/office/drawing/2014/main" id="{A9266804-3BE1-4F48-A59E-0C2F7E44914F}"/>
              </a:ext>
            </a:extLst>
          </p:cNvPr>
          <p:cNvSpPr>
            <a:spLocks xmlns:a="http://schemas.openxmlformats.org/drawingml/2006/main" noGrp="1"/>
          </p:cNvSpPr>
          <p:nvPr/>
        </p:nvSpPr>
        <p:spPr>
          <a:xfrm xmlns:a="http://schemas.openxmlformats.org/drawingml/2006/main">
            <a:off x="609600" y="1104900"/>
            <a:ext cx="10972800" cy="0"/>
          </a:xfrm>
          <a:prstGeom xmlns:a="http://schemas.openxmlformats.org/drawingml/2006/main" prst="line">
            <a:avLst/>
          </a:prstGeom>
          <a:noFill xmlns:a="http://schemas.openxmlformats.org/drawingml/2006/main"/>
          <a:ln xmlns:a="http://schemas.openxmlformats.org/drawingml/2006/main" w="38100">
            <a:solidFill>
              <a:srgbClr val="167D86"/>
            </a:solidFill>
          </a:ln>
        </p:spPr>
      </p:sp>
      <p:sp>
        <p:nvSpPr>
          <p:cNvPr id="3" name="">
            <a:extLst xmlns:a="http://schemas.openxmlformats.org/drawingml/2006/main">
              <a:ext uri="{FF2B5EF4-FFF2-40B4-BE49-F238E27FC236}">
                <a16:creationId xmlns:a16="http://schemas.microsoft.com/office/drawing/2014/main" id="{C3F9E2DB-1EFE-4FCC-8076-9623DC9EA26A}"/>
              </a:ext>
            </a:extLst>
          </p:cNvPr>
          <p:cNvSpPr>
            <a:spLocks xmlns:a="http://schemas.openxmlformats.org/drawingml/2006/main" noGrp="1"/>
          </p:cNvSpPr>
          <p:nvPr/>
        </p:nvSpPr>
        <p:spPr>
          <a:xfrm xmlns:a="http://schemas.openxmlformats.org/drawingml/2006/main">
            <a:off x="609600" y="6448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IWFC  /  CMP 7001 PRES1</a:t>
            </a:r>
          </a:p>
        </p:txBody>
      </p:sp>
      <p:sp>
        <p:nvSpPr>
          <p:cNvPr id="4" name="">
            <a:extLst xmlns:a="http://schemas.openxmlformats.org/drawingml/2006/main">
              <a:ext uri="{FF2B5EF4-FFF2-40B4-BE49-F238E27FC236}">
                <a16:creationId xmlns:a16="http://schemas.microsoft.com/office/drawing/2014/main" id="{F8124B68-325C-4260-9654-661550875F78}"/>
              </a:ext>
            </a:extLst>
          </p:cNvPr>
          <p:cNvSpPr>
            <a:spLocks xmlns:a="http://schemas.openxmlformats.org/drawingml/2006/main" noGrp="1"/>
          </p:cNvSpPr>
          <p:nvPr/>
        </p:nvSpPr>
        <p:spPr>
          <a:xfrm xmlns:a="http://schemas.openxmlformats.org/drawingml/2006/main">
            <a:off x="11068050" y="642937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5F6C76"/>
                </a:solidFill>
                <a:latin typeface="Arial"/>
                <a:ea typeface="Arial"/>
                <a:cs typeface="Arial"/>
              </a:defRPr>
            </a:pPr>
            <a:r>
              <a:rPr sz="975" b="1">
                <a:solidFill>
                  <a:srgbClr val="5F6C76"/>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11CD84B2-8181-46E1-88D4-84E306BF8C0B}"/>
              </a:ext>
            </a:extLst>
          </p:cNvPr>
          <p:cNvSpPr>
            <a:spLocks xmlns:a="http://schemas.openxmlformats.org/drawingml/2006/main" noGrp="1"/>
          </p:cNvSpPr>
          <p:nvPr/>
        </p:nvSpPr>
        <p:spPr>
          <a:xfrm xmlns:a="http://schemas.openxmlformats.org/drawingml/2006/main">
            <a:off x="714375" y="17716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6324C"/>
                </a:solidFill>
                <a:latin typeface="Arial"/>
                <a:ea typeface="Arial"/>
                <a:cs typeface="Arial"/>
              </a:defRPr>
            </a:pPr>
            <a:r>
              <a:rPr sz="1950" b="1">
                <a:solidFill>
                  <a:srgbClr val="16324C"/>
                </a:solidFill>
                <a:latin typeface="Arial"/>
                <a:ea typeface="Arial"/>
                <a:cs typeface="Arial"/>
              </a:rPr>
              <a:t>Problem</a:t>
            </a:r>
          </a:p>
        </p:txBody>
      </p:sp>
      <p:sp>
        <p:nvSpPr>
          <p:cNvPr id="6" name="">
            <a:extLst xmlns:a="http://schemas.openxmlformats.org/drawingml/2006/main">
              <a:ext uri="{FF2B5EF4-FFF2-40B4-BE49-F238E27FC236}">
                <a16:creationId xmlns:a16="http://schemas.microsoft.com/office/drawing/2014/main" id="{FF303626-D7AA-4BAF-91ED-8DA0FB28CB7F}"/>
              </a:ext>
            </a:extLst>
          </p:cNvPr>
          <p:cNvSpPr>
            <a:spLocks xmlns:a="http://schemas.openxmlformats.org/drawingml/2006/main" noGrp="1"/>
          </p:cNvSpPr>
          <p:nvPr/>
        </p:nvSpPr>
        <p:spPr>
          <a:xfrm xmlns:a="http://schemas.openxmlformats.org/drawingml/2006/main">
            <a:off x="714375" y="2266950"/>
            <a:ext cx="476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C2933"/>
                </a:solidFill>
                <a:latin typeface="Arial"/>
                <a:ea typeface="Arial"/>
                <a:cs typeface="Arial"/>
              </a:defRPr>
            </a:pPr>
            <a:r>
              <a:rPr sz="1575" b="0">
                <a:solidFill>
                  <a:srgbClr val="1C2933"/>
                </a:solidFill>
                <a:latin typeface="Arial"/>
                <a:ea typeface="Arial"/>
                <a:cs typeface="Arial"/>
              </a:rPr>
              <a:t>Separate records make resource clashes and fault follow-up hard to control.</a:t>
            </a:r>
          </a:p>
        </p:txBody>
      </p:sp>
      <p:sp>
        <p:nvSpPr>
          <p:cNvPr id="7" name="">
            <a:extLst xmlns:a="http://schemas.openxmlformats.org/drawingml/2006/main">
              <a:ext uri="{FF2B5EF4-FFF2-40B4-BE49-F238E27FC236}">
                <a16:creationId xmlns:a16="http://schemas.microsoft.com/office/drawing/2014/main" id="{F03BF470-61AA-4F96-8737-470B8E38BFAF}"/>
              </a:ext>
            </a:extLst>
          </p:cNvPr>
          <p:cNvSpPr>
            <a:spLocks xmlns:a="http://schemas.openxmlformats.org/drawingml/2006/main" noGrp="1"/>
          </p:cNvSpPr>
          <p:nvPr/>
        </p:nvSpPr>
        <p:spPr>
          <a:xfrm xmlns:a="http://schemas.openxmlformats.org/drawingml/2006/main">
            <a:off x="6429375" y="17716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6324C"/>
                </a:solidFill>
                <a:latin typeface="Arial"/>
                <a:ea typeface="Arial"/>
                <a:cs typeface="Arial"/>
              </a:defRPr>
            </a:pPr>
            <a:r>
              <a:rPr sz="1950" b="1">
                <a:solidFill>
                  <a:srgbClr val="16324C"/>
                </a:solidFill>
                <a:latin typeface="Arial"/>
                <a:ea typeface="Arial"/>
                <a:cs typeface="Arial"/>
              </a:rPr>
              <a:t>Objective</a:t>
            </a:r>
          </a:p>
        </p:txBody>
      </p:sp>
      <p:sp>
        <p:nvSpPr>
          <p:cNvPr id="8" name="">
            <a:extLst xmlns:a="http://schemas.openxmlformats.org/drawingml/2006/main">
              <a:ext uri="{FF2B5EF4-FFF2-40B4-BE49-F238E27FC236}">
                <a16:creationId xmlns:a16="http://schemas.microsoft.com/office/drawing/2014/main" id="{49032B4C-DF51-4510-A826-CB38BD117881}"/>
              </a:ext>
            </a:extLst>
          </p:cNvPr>
          <p:cNvSpPr>
            <a:spLocks xmlns:a="http://schemas.openxmlformats.org/drawingml/2006/main" noGrp="1"/>
          </p:cNvSpPr>
          <p:nvPr/>
        </p:nvSpPr>
        <p:spPr>
          <a:xfrm xmlns:a="http://schemas.openxmlformats.org/drawingml/2006/main">
            <a:off x="6429375" y="2266950"/>
            <a:ext cx="476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C2933"/>
                </a:solidFill>
                <a:latin typeface="Arial"/>
                <a:ea typeface="Arial"/>
                <a:cs typeface="Arial"/>
              </a:defRPr>
            </a:pPr>
            <a:r>
              <a:rPr sz="1575" b="0">
                <a:solidFill>
                  <a:srgbClr val="1C2933"/>
                </a:solidFill>
                <a:latin typeface="Arial"/>
                <a:ea typeface="Arial"/>
                <a:cs typeface="Arial"/>
              </a:rPr>
              <a:t>One use-case boundary connects equipment, sessions, bookings and maintenance.</a:t>
            </a:r>
          </a:p>
        </p:txBody>
      </p:sp>
      <p:sp>
        <p:nvSpPr>
          <p:cNvPr id="9" name="">
            <a:extLst xmlns:a="http://schemas.openxmlformats.org/drawingml/2006/main">
              <a:ext uri="{FF2B5EF4-FFF2-40B4-BE49-F238E27FC236}">
                <a16:creationId xmlns:a16="http://schemas.microsoft.com/office/drawing/2014/main" id="{AB58A0F1-12F8-4BDE-B0BB-6E0F1AD7CC76}"/>
              </a:ext>
            </a:extLst>
          </p:cNvPr>
          <p:cNvSpPr>
            <a:spLocks xmlns:a="http://schemas.openxmlformats.org/drawingml/2006/main" noGrp="1"/>
          </p:cNvSpPr>
          <p:nvPr/>
        </p:nvSpPr>
        <p:spPr>
          <a:xfrm xmlns:a="http://schemas.openxmlformats.org/drawingml/2006/main">
            <a:off x="714375" y="42862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167D86"/>
                </a:solidFill>
                <a:latin typeface="Arial"/>
                <a:ea typeface="Arial"/>
                <a:cs typeface="Arial"/>
              </a:defRPr>
            </a:pPr>
            <a:r>
              <a:rPr sz="1200" b="1">
                <a:solidFill>
                  <a:srgbClr val="167D86"/>
                </a:solidFill>
                <a:latin typeface="Arial"/>
                <a:ea typeface="Arial"/>
                <a:cs typeface="Arial"/>
              </a:rPr>
              <a:t>PROTOTYPE SCOPE</a:t>
            </a:r>
          </a:p>
        </p:txBody>
      </p:sp>
      <p:sp>
        <p:nvSpPr>
          <p:cNvPr id="10" name="">
            <a:extLst xmlns:a="http://schemas.openxmlformats.org/drawingml/2006/main">
              <a:ext uri="{FF2B5EF4-FFF2-40B4-BE49-F238E27FC236}">
                <a16:creationId xmlns:a16="http://schemas.microsoft.com/office/drawing/2014/main" id="{A9C97FDB-DA16-4262-AF9C-FDE7BE49F05B}"/>
              </a:ext>
            </a:extLst>
          </p:cNvPr>
          <p:cNvSpPr>
            <a:spLocks xmlns:a="http://schemas.openxmlformats.org/drawingml/2006/main" noGrp="1"/>
          </p:cNvSpPr>
          <p:nvPr/>
        </p:nvSpPr>
        <p:spPr>
          <a:xfrm xmlns:a="http://schemas.openxmlformats.org/drawingml/2006/main">
            <a:off x="714375" y="4695825"/>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C2933"/>
                </a:solidFill>
                <a:latin typeface="Arial"/>
                <a:ea typeface="Arial"/>
                <a:cs typeface="Arial"/>
              </a:defRPr>
            </a:pPr>
            <a:r>
              <a:rPr sz="2025" b="1">
                <a:solidFill>
                  <a:srgbClr val="1C2933"/>
                </a:solidFill>
                <a:latin typeface="Arial"/>
                <a:ea typeface="Arial"/>
                <a:cs typeface="Arial"/>
              </a:rPr>
              <a:t>15 Java source files     Java 21     Console demo     No database required</a:t>
            </a:r>
          </a:p>
        </p:txBody>
      </p:sp>
    </p:spTree>
    <p:extLst>
      <p:ext uri="{BB962C8B-B14F-4D97-AF65-F5344CB8AC3E}">
        <p14:creationId xmlns:p14="http://schemas.microsoft.com/office/powerpoint/2010/main" val="18076408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09F95F0-5155-459F-9EB1-9321DB512493}"/>
              </a:ext>
            </a:extLst>
          </p:cNvPr>
          <p:cNvSpPr>
            <a:spLocks xmlns:a="http://schemas.openxmlformats.org/drawingml/2006/main" noGrp="1"/>
          </p:cNvSpPr>
          <p:nvPr/>
        </p:nvSpPr>
        <p:spPr>
          <a:xfrm xmlns:a="http://schemas.openxmlformats.org/drawingml/2006/main">
            <a:off x="609600" y="419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24C"/>
                </a:solidFill>
                <a:latin typeface="Arial"/>
                <a:ea typeface="Arial"/>
                <a:cs typeface="Arial"/>
              </a:defRPr>
            </a:pPr>
            <a:r>
              <a:rPr sz="2700" b="1">
                <a:solidFill>
                  <a:srgbClr val="16324C"/>
                </a:solidFill>
                <a:latin typeface="Arial"/>
                <a:ea typeface="Arial"/>
                <a:cs typeface="Arial"/>
              </a:rPr>
              <a:t>Core workflows</a:t>
            </a:r>
          </a:p>
        </p:txBody>
      </p:sp>
      <p:sp>
        <p:nvSpPr>
          <p:cNvPr id="2" name="">
            <a:extLst xmlns:a="http://schemas.openxmlformats.org/drawingml/2006/main">
              <a:ext uri="{FF2B5EF4-FFF2-40B4-BE49-F238E27FC236}">
                <a16:creationId xmlns:a16="http://schemas.microsoft.com/office/drawing/2014/main" id="{0A0661BD-E834-4D58-BBE6-1174DC4BEAF7}"/>
              </a:ext>
            </a:extLst>
          </p:cNvPr>
          <p:cNvSpPr>
            <a:spLocks xmlns:a="http://schemas.openxmlformats.org/drawingml/2006/main" noGrp="1"/>
          </p:cNvSpPr>
          <p:nvPr/>
        </p:nvSpPr>
        <p:spPr>
          <a:xfrm xmlns:a="http://schemas.openxmlformats.org/drawingml/2006/main">
            <a:off x="609600" y="1104900"/>
            <a:ext cx="10972800" cy="0"/>
          </a:xfrm>
          <a:prstGeom xmlns:a="http://schemas.openxmlformats.org/drawingml/2006/main" prst="line">
            <a:avLst/>
          </a:prstGeom>
          <a:noFill xmlns:a="http://schemas.openxmlformats.org/drawingml/2006/main"/>
          <a:ln xmlns:a="http://schemas.openxmlformats.org/drawingml/2006/main" w="38100">
            <a:solidFill>
              <a:srgbClr val="167D86"/>
            </a:solidFill>
          </a:ln>
        </p:spPr>
      </p:sp>
      <p:sp>
        <p:nvSpPr>
          <p:cNvPr id="3" name="">
            <a:extLst xmlns:a="http://schemas.openxmlformats.org/drawingml/2006/main">
              <a:ext uri="{FF2B5EF4-FFF2-40B4-BE49-F238E27FC236}">
                <a16:creationId xmlns:a16="http://schemas.microsoft.com/office/drawing/2014/main" id="{6F50E224-6CA9-4B7D-B45B-9DE90D2AD100}"/>
              </a:ext>
            </a:extLst>
          </p:cNvPr>
          <p:cNvSpPr>
            <a:spLocks xmlns:a="http://schemas.openxmlformats.org/drawingml/2006/main" noGrp="1"/>
          </p:cNvSpPr>
          <p:nvPr/>
        </p:nvSpPr>
        <p:spPr>
          <a:xfrm xmlns:a="http://schemas.openxmlformats.org/drawingml/2006/main">
            <a:off x="609600" y="6448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IWFC  /  CMP 7001 PRES1</a:t>
            </a:r>
          </a:p>
        </p:txBody>
      </p:sp>
      <p:sp>
        <p:nvSpPr>
          <p:cNvPr id="4" name="">
            <a:extLst xmlns:a="http://schemas.openxmlformats.org/drawingml/2006/main">
              <a:ext uri="{FF2B5EF4-FFF2-40B4-BE49-F238E27FC236}">
                <a16:creationId xmlns:a16="http://schemas.microsoft.com/office/drawing/2014/main" id="{E31CB56E-B1DB-4396-AD5C-92A3D53C86B1}"/>
              </a:ext>
            </a:extLst>
          </p:cNvPr>
          <p:cNvSpPr>
            <a:spLocks xmlns:a="http://schemas.openxmlformats.org/drawingml/2006/main" noGrp="1"/>
          </p:cNvSpPr>
          <p:nvPr/>
        </p:nvSpPr>
        <p:spPr>
          <a:xfrm xmlns:a="http://schemas.openxmlformats.org/drawingml/2006/main">
            <a:off x="11068050" y="642937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5F6C76"/>
                </a:solidFill>
                <a:latin typeface="Arial"/>
                <a:ea typeface="Arial"/>
                <a:cs typeface="Arial"/>
              </a:defRPr>
            </a:pPr>
            <a:r>
              <a:rPr sz="975" b="1">
                <a:solidFill>
                  <a:srgbClr val="5F6C76"/>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DEC938B8-EABD-4980-8535-25F394761072}"/>
              </a:ext>
            </a:extLst>
          </p:cNvPr>
          <p:cNvSpPr>
            <a:spLocks xmlns:a="http://schemas.openxmlformats.org/drawingml/2006/main" noGrp="1"/>
          </p:cNvSpPr>
          <p:nvPr/>
        </p:nvSpPr>
        <p:spPr>
          <a:xfrm xmlns:a="http://schemas.openxmlformats.org/drawingml/2006/main">
            <a:off x="723900" y="17526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167D86"/>
                </a:solidFill>
                <a:latin typeface="Arial"/>
                <a:ea typeface="Arial"/>
                <a:cs typeface="Arial"/>
              </a:defRPr>
            </a:pPr>
            <a:r>
              <a:rPr sz="1200" b="1">
                <a:solidFill>
                  <a:srgbClr val="167D86"/>
                </a:solidFill>
                <a:latin typeface="Arial"/>
                <a:ea typeface="Arial"/>
                <a:cs typeface="Arial"/>
              </a:rPr>
              <a:t>ADMINISTRATOR</a:t>
            </a:r>
          </a:p>
        </p:txBody>
      </p:sp>
      <p:sp>
        <p:nvSpPr>
          <p:cNvPr id="6" name="">
            <a:extLst xmlns:a="http://schemas.openxmlformats.org/drawingml/2006/main">
              <a:ext uri="{FF2B5EF4-FFF2-40B4-BE49-F238E27FC236}">
                <a16:creationId xmlns:a16="http://schemas.microsoft.com/office/drawing/2014/main" id="{1C5CA055-9236-4610-AC03-551A122ACA07}"/>
              </a:ext>
            </a:extLst>
          </p:cNvPr>
          <p:cNvSpPr>
            <a:spLocks xmlns:a="http://schemas.openxmlformats.org/drawingml/2006/main" noGrp="1"/>
          </p:cNvSpPr>
          <p:nvPr/>
        </p:nvSpPr>
        <p:spPr>
          <a:xfrm xmlns:a="http://schemas.openxmlformats.org/drawingml/2006/main">
            <a:off x="3086100" y="1733550"/>
            <a:ext cx="7715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2933"/>
                </a:solidFill>
                <a:latin typeface="Arial"/>
                <a:ea typeface="Arial"/>
                <a:cs typeface="Arial"/>
              </a:defRPr>
            </a:pPr>
            <a:r>
              <a:rPr sz="1800" b="0">
                <a:solidFill>
                  <a:srgbClr val="1C2933"/>
                </a:solidFill>
                <a:latin typeface="Arial"/>
                <a:ea typeface="Arial"/>
                <a:cs typeface="Arial"/>
              </a:rPr>
              <a:t>Registers users; adds and updates equipment; assigns maintenance.</a:t>
            </a:r>
          </a:p>
        </p:txBody>
      </p:sp>
      <p:sp>
        <p:nvSpPr>
          <p:cNvPr id="7" name="">
            <a:extLst xmlns:a="http://schemas.openxmlformats.org/drawingml/2006/main">
              <a:ext uri="{FF2B5EF4-FFF2-40B4-BE49-F238E27FC236}">
                <a16:creationId xmlns:a16="http://schemas.microsoft.com/office/drawing/2014/main" id="{E9C992B2-B419-45D1-A5FA-6B9DDB672ED5}"/>
              </a:ext>
            </a:extLst>
          </p:cNvPr>
          <p:cNvSpPr>
            <a:spLocks xmlns:a="http://schemas.openxmlformats.org/drawingml/2006/main" noGrp="1"/>
          </p:cNvSpPr>
          <p:nvPr/>
        </p:nvSpPr>
        <p:spPr>
          <a:xfrm xmlns:a="http://schemas.openxmlformats.org/drawingml/2006/main">
            <a:off x="723900" y="2590800"/>
            <a:ext cx="10563225" cy="0"/>
          </a:xfrm>
          <a:prstGeom xmlns:a="http://schemas.openxmlformats.org/drawingml/2006/main" prst="line">
            <a:avLst/>
          </a:prstGeom>
          <a:noFill xmlns:a="http://schemas.openxmlformats.org/drawingml/2006/main"/>
          <a:ln xmlns:a="http://schemas.openxmlformats.org/drawingml/2006/main" w="19050">
            <a:solidFill>
              <a:srgbClr val="C7D5DE"/>
            </a:solidFill>
          </a:ln>
        </p:spPr>
      </p:sp>
      <p:sp>
        <p:nvSpPr>
          <p:cNvPr id="8" name="">
            <a:extLst xmlns:a="http://schemas.openxmlformats.org/drawingml/2006/main">
              <a:ext uri="{FF2B5EF4-FFF2-40B4-BE49-F238E27FC236}">
                <a16:creationId xmlns:a16="http://schemas.microsoft.com/office/drawing/2014/main" id="{4A049A58-690D-469E-9547-35172FA56D7E}"/>
              </a:ext>
            </a:extLst>
          </p:cNvPr>
          <p:cNvSpPr>
            <a:spLocks xmlns:a="http://schemas.openxmlformats.org/drawingml/2006/main" noGrp="1"/>
          </p:cNvSpPr>
          <p:nvPr/>
        </p:nvSpPr>
        <p:spPr>
          <a:xfrm xmlns:a="http://schemas.openxmlformats.org/drawingml/2006/main">
            <a:off x="723900" y="298132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167D86"/>
                </a:solidFill>
                <a:latin typeface="Arial"/>
                <a:ea typeface="Arial"/>
                <a:cs typeface="Arial"/>
              </a:defRPr>
            </a:pPr>
            <a:r>
              <a:rPr sz="1200" b="1">
                <a:solidFill>
                  <a:srgbClr val="167D86"/>
                </a:solidFill>
                <a:latin typeface="Arial"/>
                <a:ea typeface="Arial"/>
                <a:cs typeface="Arial"/>
              </a:rPr>
              <a:t>INSTRUCTOR</a:t>
            </a:r>
          </a:p>
        </p:txBody>
      </p:sp>
      <p:sp>
        <p:nvSpPr>
          <p:cNvPr id="9" name="">
            <a:extLst xmlns:a="http://schemas.openxmlformats.org/drawingml/2006/main">
              <a:ext uri="{FF2B5EF4-FFF2-40B4-BE49-F238E27FC236}">
                <a16:creationId xmlns:a16="http://schemas.microsoft.com/office/drawing/2014/main" id="{C3DA6BC6-D109-4701-A5EC-8464480F3A50}"/>
              </a:ext>
            </a:extLst>
          </p:cNvPr>
          <p:cNvSpPr>
            <a:spLocks xmlns:a="http://schemas.openxmlformats.org/drawingml/2006/main" noGrp="1"/>
          </p:cNvSpPr>
          <p:nvPr/>
        </p:nvSpPr>
        <p:spPr>
          <a:xfrm xmlns:a="http://schemas.openxmlformats.org/drawingml/2006/main">
            <a:off x="3086100" y="2962275"/>
            <a:ext cx="7715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2933"/>
                </a:solidFill>
                <a:latin typeface="Arial"/>
                <a:ea typeface="Arial"/>
                <a:cs typeface="Arial"/>
              </a:defRPr>
            </a:pPr>
            <a:r>
              <a:rPr sz="1800" b="0">
                <a:solidFill>
                  <a:srgbClr val="1C2933"/>
                </a:solidFill>
                <a:latin typeface="Arial"/>
                <a:ea typeface="Arial"/>
                <a:cs typeface="Arial"/>
              </a:rPr>
              <a:t>Schedules single or weekly sessions; records usage; reports faults.</a:t>
            </a:r>
          </a:p>
        </p:txBody>
      </p:sp>
      <p:sp>
        <p:nvSpPr>
          <p:cNvPr id="10" name="">
            <a:extLst xmlns:a="http://schemas.openxmlformats.org/drawingml/2006/main">
              <a:ext uri="{FF2B5EF4-FFF2-40B4-BE49-F238E27FC236}">
                <a16:creationId xmlns:a16="http://schemas.microsoft.com/office/drawing/2014/main" id="{594CB28A-FA61-409F-9F20-38C5720E0817}"/>
              </a:ext>
            </a:extLst>
          </p:cNvPr>
          <p:cNvSpPr>
            <a:spLocks xmlns:a="http://schemas.openxmlformats.org/drawingml/2006/main" noGrp="1"/>
          </p:cNvSpPr>
          <p:nvPr/>
        </p:nvSpPr>
        <p:spPr>
          <a:xfrm xmlns:a="http://schemas.openxmlformats.org/drawingml/2006/main">
            <a:off x="723900" y="3819525"/>
            <a:ext cx="10563225" cy="0"/>
          </a:xfrm>
          <a:prstGeom xmlns:a="http://schemas.openxmlformats.org/drawingml/2006/main" prst="line">
            <a:avLst/>
          </a:prstGeom>
          <a:noFill xmlns:a="http://schemas.openxmlformats.org/drawingml/2006/main"/>
          <a:ln xmlns:a="http://schemas.openxmlformats.org/drawingml/2006/main" w="19050">
            <a:solidFill>
              <a:srgbClr val="C7D5DE"/>
            </a:solidFill>
          </a:ln>
        </p:spPr>
      </p:sp>
      <p:sp>
        <p:nvSpPr>
          <p:cNvPr id="11" name="">
            <a:extLst xmlns:a="http://schemas.openxmlformats.org/drawingml/2006/main">
              <a:ext uri="{FF2B5EF4-FFF2-40B4-BE49-F238E27FC236}">
                <a16:creationId xmlns:a16="http://schemas.microsoft.com/office/drawing/2014/main" id="{F682BA31-6238-4C8C-8335-B83CCA53EAE9}"/>
              </a:ext>
            </a:extLst>
          </p:cNvPr>
          <p:cNvSpPr>
            <a:spLocks xmlns:a="http://schemas.openxmlformats.org/drawingml/2006/main" noGrp="1"/>
          </p:cNvSpPr>
          <p:nvPr/>
        </p:nvSpPr>
        <p:spPr>
          <a:xfrm xmlns:a="http://schemas.openxmlformats.org/drawingml/2006/main">
            <a:off x="723900" y="421005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167D86"/>
                </a:solidFill>
                <a:latin typeface="Arial"/>
                <a:ea typeface="Arial"/>
                <a:cs typeface="Arial"/>
              </a:defRPr>
            </a:pPr>
            <a:r>
              <a:rPr sz="1200" b="1">
                <a:solidFill>
                  <a:srgbClr val="167D86"/>
                </a:solidFill>
                <a:latin typeface="Arial"/>
                <a:ea typeface="Arial"/>
                <a:cs typeface="Arial"/>
              </a:rPr>
              <a:t>MEMBER</a:t>
            </a:r>
          </a:p>
        </p:txBody>
      </p:sp>
      <p:sp>
        <p:nvSpPr>
          <p:cNvPr id="12" name="">
            <a:extLst xmlns:a="http://schemas.openxmlformats.org/drawingml/2006/main">
              <a:ext uri="{FF2B5EF4-FFF2-40B4-BE49-F238E27FC236}">
                <a16:creationId xmlns:a16="http://schemas.microsoft.com/office/drawing/2014/main" id="{1436FCA8-AF39-4265-814E-7E4A3688A45C}"/>
              </a:ext>
            </a:extLst>
          </p:cNvPr>
          <p:cNvSpPr>
            <a:spLocks xmlns:a="http://schemas.openxmlformats.org/drawingml/2006/main" noGrp="1"/>
          </p:cNvSpPr>
          <p:nvPr/>
        </p:nvSpPr>
        <p:spPr>
          <a:xfrm xmlns:a="http://schemas.openxmlformats.org/drawingml/2006/main">
            <a:off x="3086100" y="4191000"/>
            <a:ext cx="7715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2933"/>
                </a:solidFill>
                <a:latin typeface="Arial"/>
                <a:ea typeface="Arial"/>
                <a:cs typeface="Arial"/>
              </a:defRPr>
            </a:pPr>
            <a:r>
              <a:rPr sz="1800" b="0">
                <a:solidFill>
                  <a:srgbClr val="1C2933"/>
                </a:solidFill>
                <a:latin typeface="Arial"/>
                <a:ea typeface="Arial"/>
                <a:cs typeface="Arial"/>
              </a:rPr>
              <a:t>Books an open place and receives relevant notifications.</a:t>
            </a:r>
          </a:p>
        </p:txBody>
      </p:sp>
      <p:sp>
        <p:nvSpPr>
          <p:cNvPr id="13" name="">
            <a:extLst xmlns:a="http://schemas.openxmlformats.org/drawingml/2006/main">
              <a:ext uri="{FF2B5EF4-FFF2-40B4-BE49-F238E27FC236}">
                <a16:creationId xmlns:a16="http://schemas.microsoft.com/office/drawing/2014/main" id="{A560FF19-797E-4DD9-9B43-212DAED10529}"/>
              </a:ext>
            </a:extLst>
          </p:cNvPr>
          <p:cNvSpPr>
            <a:spLocks xmlns:a="http://schemas.openxmlformats.org/drawingml/2006/main" noGrp="1"/>
          </p:cNvSpPr>
          <p:nvPr/>
        </p:nvSpPr>
        <p:spPr>
          <a:xfrm xmlns:a="http://schemas.openxmlformats.org/drawingml/2006/main">
            <a:off x="723900" y="5048250"/>
            <a:ext cx="10563225" cy="0"/>
          </a:xfrm>
          <a:prstGeom xmlns:a="http://schemas.openxmlformats.org/drawingml/2006/main" prst="line">
            <a:avLst/>
          </a:prstGeom>
          <a:noFill xmlns:a="http://schemas.openxmlformats.org/drawingml/2006/main"/>
          <a:ln xmlns:a="http://schemas.openxmlformats.org/drawingml/2006/main" w="19050">
            <a:solidFill>
              <a:srgbClr val="C7D5DE"/>
            </a:solidFill>
          </a:ln>
        </p:spPr>
      </p:sp>
      <p:sp>
        <p:nvSpPr>
          <p:cNvPr id="14" name="">
            <a:extLst xmlns:a="http://schemas.openxmlformats.org/drawingml/2006/main">
              <a:ext uri="{FF2B5EF4-FFF2-40B4-BE49-F238E27FC236}">
                <a16:creationId xmlns:a16="http://schemas.microsoft.com/office/drawing/2014/main" id="{652C932A-7E42-45BB-A723-051E8DE9EDA2}"/>
              </a:ext>
            </a:extLst>
          </p:cNvPr>
          <p:cNvSpPr>
            <a:spLocks xmlns:a="http://schemas.openxmlformats.org/drawingml/2006/main" noGrp="1"/>
          </p:cNvSpPr>
          <p:nvPr/>
        </p:nvSpPr>
        <p:spPr>
          <a:xfrm xmlns:a="http://schemas.openxmlformats.org/drawingml/2006/main">
            <a:off x="723900" y="5657850"/>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6324C"/>
                </a:solidFill>
                <a:latin typeface="Arial"/>
                <a:ea typeface="Arial"/>
                <a:cs typeface="Arial"/>
              </a:defRPr>
            </a:pPr>
            <a:r>
              <a:rPr sz="1800" b="1">
                <a:solidFill>
                  <a:srgbClr val="16324C"/>
                </a:solidFill>
                <a:latin typeface="Arial"/>
                <a:ea typeface="Arial"/>
                <a:cs typeface="Arial"/>
              </a:rPr>
              <a:t>Maintenance status:  PENDING     ASSIGNED     COMPLETED</a:t>
            </a:r>
          </a:p>
        </p:txBody>
      </p:sp>
    </p:spTree>
    <p:extLst>
      <p:ext uri="{BB962C8B-B14F-4D97-AF65-F5344CB8AC3E}">
        <p14:creationId xmlns:p14="http://schemas.microsoft.com/office/powerpoint/2010/main" val="155201688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85AF0A29-9D79-46EE-ABF2-48046B66F38A}"/>
              </a:ext>
            </a:extLst>
          </p:cNvPr>
          <p:cNvSpPr>
            <a:spLocks xmlns:a="http://schemas.openxmlformats.org/drawingml/2006/main" noGrp="1"/>
          </p:cNvSpPr>
          <p:nvPr/>
        </p:nvSpPr>
        <p:spPr>
          <a:xfrm xmlns:a="http://schemas.openxmlformats.org/drawingml/2006/main">
            <a:off x="609600" y="419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24C"/>
                </a:solidFill>
                <a:latin typeface="Arial"/>
                <a:ea typeface="Arial"/>
                <a:cs typeface="Arial"/>
              </a:defRPr>
            </a:pPr>
            <a:r>
              <a:rPr sz="2700" b="1">
                <a:solidFill>
                  <a:srgbClr val="16324C"/>
                </a:solidFill>
                <a:latin typeface="Arial"/>
                <a:ea typeface="Arial"/>
                <a:cs typeface="Arial"/>
              </a:rPr>
              <a:t>Implemented class diagram</a:t>
            </a:r>
          </a:p>
        </p:txBody>
      </p:sp>
      <p:sp>
        <p:nvSpPr>
          <p:cNvPr id="2" name="">
            <a:extLst xmlns:a="http://schemas.openxmlformats.org/drawingml/2006/main">
              <a:ext uri="{FF2B5EF4-FFF2-40B4-BE49-F238E27FC236}">
                <a16:creationId xmlns:a16="http://schemas.microsoft.com/office/drawing/2014/main" id="{1074129B-F082-4AFC-BD19-8E1D4BAE0982}"/>
              </a:ext>
            </a:extLst>
          </p:cNvPr>
          <p:cNvSpPr>
            <a:spLocks xmlns:a="http://schemas.openxmlformats.org/drawingml/2006/main" noGrp="1"/>
          </p:cNvSpPr>
          <p:nvPr/>
        </p:nvSpPr>
        <p:spPr>
          <a:xfrm xmlns:a="http://schemas.openxmlformats.org/drawingml/2006/main">
            <a:off x="609600" y="1104900"/>
            <a:ext cx="10972800" cy="0"/>
          </a:xfrm>
          <a:prstGeom xmlns:a="http://schemas.openxmlformats.org/drawingml/2006/main" prst="line">
            <a:avLst/>
          </a:prstGeom>
          <a:noFill xmlns:a="http://schemas.openxmlformats.org/drawingml/2006/main"/>
          <a:ln xmlns:a="http://schemas.openxmlformats.org/drawingml/2006/main" w="38100">
            <a:solidFill>
              <a:srgbClr val="167D86"/>
            </a:solidFill>
          </a:ln>
        </p:spPr>
      </p:sp>
      <p:sp>
        <p:nvSpPr>
          <p:cNvPr id="3" name="">
            <a:extLst xmlns:a="http://schemas.openxmlformats.org/drawingml/2006/main">
              <a:ext uri="{FF2B5EF4-FFF2-40B4-BE49-F238E27FC236}">
                <a16:creationId xmlns:a16="http://schemas.microsoft.com/office/drawing/2014/main" id="{2C5FAF4D-9103-4E55-8FFF-0067D44253D0}"/>
              </a:ext>
            </a:extLst>
          </p:cNvPr>
          <p:cNvSpPr>
            <a:spLocks xmlns:a="http://schemas.openxmlformats.org/drawingml/2006/main" noGrp="1"/>
          </p:cNvSpPr>
          <p:nvPr/>
        </p:nvSpPr>
        <p:spPr>
          <a:xfrm xmlns:a="http://schemas.openxmlformats.org/drawingml/2006/main">
            <a:off x="609600" y="6448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IWFC  /  CMP 7001 PRES1</a:t>
            </a:r>
          </a:p>
        </p:txBody>
      </p:sp>
      <p:sp>
        <p:nvSpPr>
          <p:cNvPr id="4" name="">
            <a:extLst xmlns:a="http://schemas.openxmlformats.org/drawingml/2006/main">
              <a:ext uri="{FF2B5EF4-FFF2-40B4-BE49-F238E27FC236}">
                <a16:creationId xmlns:a16="http://schemas.microsoft.com/office/drawing/2014/main" id="{E46964DD-A75A-4F3C-8AB8-C3604DC4964C}"/>
              </a:ext>
            </a:extLst>
          </p:cNvPr>
          <p:cNvSpPr>
            <a:spLocks xmlns:a="http://schemas.openxmlformats.org/drawingml/2006/main" noGrp="1"/>
          </p:cNvSpPr>
          <p:nvPr/>
        </p:nvSpPr>
        <p:spPr>
          <a:xfrm xmlns:a="http://schemas.openxmlformats.org/drawingml/2006/main">
            <a:off x="11068050" y="642937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5F6C76"/>
                </a:solidFill>
                <a:latin typeface="Arial"/>
                <a:ea typeface="Arial"/>
                <a:cs typeface="Arial"/>
              </a:defRPr>
            </a:pPr>
            <a:r>
              <a:rPr sz="975" b="1">
                <a:solidFill>
                  <a:srgbClr val="5F6C76"/>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BBD9B6EF-BA10-4061-B6C3-005A73A22AC9}"/>
              </a:ext>
            </a:extLst>
          </p:cNvPr>
          <p:cNvSpPr>
            <a:spLocks xmlns:a="http://schemas.openxmlformats.org/drawingml/2006/main" noGrp="1"/>
          </p:cNvSpPr>
          <p:nvPr/>
        </p:nvSpPr>
        <p:spPr>
          <a:xfrm xmlns:a="http://schemas.openxmlformats.org/drawingml/2006/main">
            <a:off x="4962525" y="1438275"/>
            <a:ext cx="2266950" cy="56197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6" name="">
            <a:extLst xmlns:a="http://schemas.openxmlformats.org/drawingml/2006/main">
              <a:ext uri="{FF2B5EF4-FFF2-40B4-BE49-F238E27FC236}">
                <a16:creationId xmlns:a16="http://schemas.microsoft.com/office/drawing/2014/main" id="{840D9582-004B-4929-9DB2-E3ED94F9C3F7}"/>
              </a:ext>
            </a:extLst>
          </p:cNvPr>
          <p:cNvSpPr>
            <a:spLocks xmlns:a="http://schemas.openxmlformats.org/drawingml/2006/main" noGrp="1"/>
          </p:cNvSpPr>
          <p:nvPr/>
        </p:nvSpPr>
        <p:spPr>
          <a:xfrm xmlns:a="http://schemas.openxmlformats.org/drawingml/2006/main">
            <a:off x="5038725" y="1495425"/>
            <a:ext cx="2114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6324C"/>
                </a:solidFill>
                <a:latin typeface="Arial"/>
                <a:ea typeface="Arial"/>
                <a:cs typeface="Arial"/>
              </a:defRPr>
            </a:pPr>
            <a:r>
              <a:rPr sz="1275" b="1">
                <a:solidFill>
                  <a:srgbClr val="16324C"/>
                </a:solidFill>
                <a:latin typeface="Arial"/>
                <a:ea typeface="Arial"/>
                <a:cs typeface="Arial"/>
              </a:rPr>
              <a:t>User  «abstract»</a:t>
            </a:r>
          </a:p>
        </p:txBody>
      </p:sp>
      <p:sp>
        <p:nvSpPr>
          <p:cNvPr id="7" name="">
            <a:extLst xmlns:a="http://schemas.openxmlformats.org/drawingml/2006/main">
              <a:ext uri="{FF2B5EF4-FFF2-40B4-BE49-F238E27FC236}">
                <a16:creationId xmlns:a16="http://schemas.microsoft.com/office/drawing/2014/main" id="{BC87376B-E6DF-4CCD-9B32-BF0627E52BDF}"/>
              </a:ext>
            </a:extLst>
          </p:cNvPr>
          <p:cNvSpPr>
            <a:spLocks xmlns:a="http://schemas.openxmlformats.org/drawingml/2006/main" noGrp="1"/>
          </p:cNvSpPr>
          <p:nvPr/>
        </p:nvSpPr>
        <p:spPr>
          <a:xfrm xmlns:a="http://schemas.openxmlformats.org/drawingml/2006/main">
            <a:off x="4962525" y="1733550"/>
            <a:ext cx="2266950"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8" name="">
            <a:extLst xmlns:a="http://schemas.openxmlformats.org/drawingml/2006/main">
              <a:ext uri="{FF2B5EF4-FFF2-40B4-BE49-F238E27FC236}">
                <a16:creationId xmlns:a16="http://schemas.microsoft.com/office/drawing/2014/main" id="{A9B7B6DB-F732-402D-8190-C8A263C95EA3}"/>
              </a:ext>
            </a:extLst>
          </p:cNvPr>
          <p:cNvSpPr>
            <a:spLocks xmlns:a="http://schemas.openxmlformats.org/drawingml/2006/main" noGrp="1"/>
          </p:cNvSpPr>
          <p:nvPr/>
        </p:nvSpPr>
        <p:spPr>
          <a:xfrm xmlns:a="http://schemas.openxmlformats.org/drawingml/2006/main">
            <a:off x="5038725" y="1781175"/>
            <a:ext cx="2114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getRoleDescription()</a:t>
            </a:r>
          </a:p>
        </p:txBody>
      </p:sp>
      <p:sp>
        <p:nvSpPr>
          <p:cNvPr id="9" name="">
            <a:extLst xmlns:a="http://schemas.openxmlformats.org/drawingml/2006/main">
              <a:ext uri="{FF2B5EF4-FFF2-40B4-BE49-F238E27FC236}">
                <a16:creationId xmlns:a16="http://schemas.microsoft.com/office/drawing/2014/main" id="{7F68895A-7AE2-476A-BF11-3495CF298AC0}"/>
              </a:ext>
            </a:extLst>
          </p:cNvPr>
          <p:cNvSpPr>
            <a:spLocks xmlns:a="http://schemas.openxmlformats.org/drawingml/2006/main" noGrp="1"/>
          </p:cNvSpPr>
          <p:nvPr/>
        </p:nvSpPr>
        <p:spPr>
          <a:xfrm xmlns:a="http://schemas.openxmlformats.org/drawingml/2006/main">
            <a:off x="2057400" y="2333625"/>
            <a:ext cx="1809750" cy="50482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10" name="">
            <a:extLst xmlns:a="http://schemas.openxmlformats.org/drawingml/2006/main">
              <a:ext uri="{FF2B5EF4-FFF2-40B4-BE49-F238E27FC236}">
                <a16:creationId xmlns:a16="http://schemas.microsoft.com/office/drawing/2014/main" id="{53426241-8982-4C52-9060-941BD59D15F8}"/>
              </a:ext>
            </a:extLst>
          </p:cNvPr>
          <p:cNvSpPr>
            <a:spLocks xmlns:a="http://schemas.openxmlformats.org/drawingml/2006/main" noGrp="1"/>
          </p:cNvSpPr>
          <p:nvPr/>
        </p:nvSpPr>
        <p:spPr>
          <a:xfrm xmlns:a="http://schemas.openxmlformats.org/drawingml/2006/main">
            <a:off x="2133600" y="2390775"/>
            <a:ext cx="1657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6324C"/>
                </a:solidFill>
                <a:latin typeface="Arial"/>
                <a:ea typeface="Arial"/>
                <a:cs typeface="Arial"/>
              </a:defRPr>
            </a:pPr>
            <a:r>
              <a:rPr sz="1275" b="1">
                <a:solidFill>
                  <a:srgbClr val="16324C"/>
                </a:solidFill>
                <a:latin typeface="Arial"/>
                <a:ea typeface="Arial"/>
                <a:cs typeface="Arial"/>
              </a:rPr>
              <a:t>Administrator</a:t>
            </a:r>
          </a:p>
        </p:txBody>
      </p:sp>
      <p:sp>
        <p:nvSpPr>
          <p:cNvPr id="11" name="">
            <a:extLst xmlns:a="http://schemas.openxmlformats.org/drawingml/2006/main">
              <a:ext uri="{FF2B5EF4-FFF2-40B4-BE49-F238E27FC236}">
                <a16:creationId xmlns:a16="http://schemas.microsoft.com/office/drawing/2014/main" id="{E49EFDA4-0505-4E52-BBD5-B33C6144DF28}"/>
              </a:ext>
            </a:extLst>
          </p:cNvPr>
          <p:cNvSpPr>
            <a:spLocks xmlns:a="http://schemas.openxmlformats.org/drawingml/2006/main" noGrp="1"/>
          </p:cNvSpPr>
          <p:nvPr/>
        </p:nvSpPr>
        <p:spPr>
          <a:xfrm xmlns:a="http://schemas.openxmlformats.org/drawingml/2006/main">
            <a:off x="5191125" y="2333625"/>
            <a:ext cx="1809750" cy="50482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12" name="">
            <a:extLst xmlns:a="http://schemas.openxmlformats.org/drawingml/2006/main">
              <a:ext uri="{FF2B5EF4-FFF2-40B4-BE49-F238E27FC236}">
                <a16:creationId xmlns:a16="http://schemas.microsoft.com/office/drawing/2014/main" id="{41C169B9-7A1B-40D3-A9F0-717F7B04D79E}"/>
              </a:ext>
            </a:extLst>
          </p:cNvPr>
          <p:cNvSpPr>
            <a:spLocks xmlns:a="http://schemas.openxmlformats.org/drawingml/2006/main" noGrp="1"/>
          </p:cNvSpPr>
          <p:nvPr/>
        </p:nvSpPr>
        <p:spPr>
          <a:xfrm xmlns:a="http://schemas.openxmlformats.org/drawingml/2006/main">
            <a:off x="5267325" y="2390775"/>
            <a:ext cx="1657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6324C"/>
                </a:solidFill>
                <a:latin typeface="Arial"/>
                <a:ea typeface="Arial"/>
                <a:cs typeface="Arial"/>
              </a:defRPr>
            </a:pPr>
            <a:r>
              <a:rPr sz="1275" b="1">
                <a:solidFill>
                  <a:srgbClr val="16324C"/>
                </a:solidFill>
                <a:latin typeface="Arial"/>
                <a:ea typeface="Arial"/>
                <a:cs typeface="Arial"/>
              </a:rPr>
              <a:t>Instructor</a:t>
            </a:r>
          </a:p>
        </p:txBody>
      </p:sp>
      <p:sp>
        <p:nvSpPr>
          <p:cNvPr id="13" name="">
            <a:extLst xmlns:a="http://schemas.openxmlformats.org/drawingml/2006/main">
              <a:ext uri="{FF2B5EF4-FFF2-40B4-BE49-F238E27FC236}">
                <a16:creationId xmlns:a16="http://schemas.microsoft.com/office/drawing/2014/main" id="{2A8E7064-6E3B-492F-8518-14244ECCE116}"/>
              </a:ext>
            </a:extLst>
          </p:cNvPr>
          <p:cNvSpPr>
            <a:spLocks xmlns:a="http://schemas.openxmlformats.org/drawingml/2006/main" noGrp="1"/>
          </p:cNvSpPr>
          <p:nvPr/>
        </p:nvSpPr>
        <p:spPr>
          <a:xfrm xmlns:a="http://schemas.openxmlformats.org/drawingml/2006/main">
            <a:off x="8324850" y="2333625"/>
            <a:ext cx="1809750" cy="50482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14" name="">
            <a:extLst xmlns:a="http://schemas.openxmlformats.org/drawingml/2006/main">
              <a:ext uri="{FF2B5EF4-FFF2-40B4-BE49-F238E27FC236}">
                <a16:creationId xmlns:a16="http://schemas.microsoft.com/office/drawing/2014/main" id="{7A0F9823-E44D-4C66-95EE-C5EAF5D166B2}"/>
              </a:ext>
            </a:extLst>
          </p:cNvPr>
          <p:cNvSpPr>
            <a:spLocks xmlns:a="http://schemas.openxmlformats.org/drawingml/2006/main" noGrp="1"/>
          </p:cNvSpPr>
          <p:nvPr/>
        </p:nvSpPr>
        <p:spPr>
          <a:xfrm xmlns:a="http://schemas.openxmlformats.org/drawingml/2006/main">
            <a:off x="8401050" y="2390775"/>
            <a:ext cx="1657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6324C"/>
                </a:solidFill>
                <a:latin typeface="Arial"/>
                <a:ea typeface="Arial"/>
                <a:cs typeface="Arial"/>
              </a:defRPr>
            </a:pPr>
            <a:r>
              <a:rPr sz="1275" b="1">
                <a:solidFill>
                  <a:srgbClr val="16324C"/>
                </a:solidFill>
                <a:latin typeface="Arial"/>
                <a:ea typeface="Arial"/>
                <a:cs typeface="Arial"/>
              </a:rPr>
              <a:t>Member</a:t>
            </a:r>
          </a:p>
        </p:txBody>
      </p:sp>
      <p:sp>
        <p:nvSpPr>
          <p:cNvPr id="15" name="">
            <a:extLst xmlns:a="http://schemas.openxmlformats.org/drawingml/2006/main">
              <a:ext uri="{FF2B5EF4-FFF2-40B4-BE49-F238E27FC236}">
                <a16:creationId xmlns:a16="http://schemas.microsoft.com/office/drawing/2014/main" id="{989684C3-013B-49A3-9020-4A85D3AA5707}"/>
              </a:ext>
            </a:extLst>
          </p:cNvPr>
          <p:cNvSpPr>
            <a:spLocks xmlns:a="http://schemas.openxmlformats.org/drawingml/2006/main" noGrp="1"/>
          </p:cNvSpPr>
          <p:nvPr/>
        </p:nvSpPr>
        <p:spPr>
          <a:xfrm xmlns:a="http://schemas.openxmlformats.org/drawingml/2006/main">
            <a:off x="2962275" y="2095500"/>
            <a:ext cx="0" cy="238125"/>
          </a:xfrm>
          <a:prstGeom xmlns:a="http://schemas.openxmlformats.org/drawingml/2006/main" prst="line">
            <a:avLst/>
          </a:prstGeom>
          <a:noFill xmlns:a="http://schemas.openxmlformats.org/drawingml/2006/main"/>
          <a:ln xmlns:a="http://schemas.openxmlformats.org/drawingml/2006/main" w="19050">
            <a:solidFill>
              <a:srgbClr val="167D86"/>
            </a:solidFill>
          </a:ln>
        </p:spPr>
      </p:sp>
      <p:sp>
        <p:nvSpPr>
          <p:cNvPr id="16" name="">
            <a:extLst xmlns:a="http://schemas.openxmlformats.org/drawingml/2006/main">
              <a:ext uri="{FF2B5EF4-FFF2-40B4-BE49-F238E27FC236}">
                <a16:creationId xmlns:a16="http://schemas.microsoft.com/office/drawing/2014/main" id="{05F74CED-84F2-4111-995E-A8A6693D2F4F}"/>
              </a:ext>
            </a:extLst>
          </p:cNvPr>
          <p:cNvSpPr>
            <a:spLocks xmlns:a="http://schemas.openxmlformats.org/drawingml/2006/main" noGrp="1"/>
          </p:cNvSpPr>
          <p:nvPr/>
        </p:nvSpPr>
        <p:spPr>
          <a:xfrm xmlns:a="http://schemas.openxmlformats.org/drawingml/2006/main">
            <a:off x="6096000" y="2095500"/>
            <a:ext cx="0" cy="238125"/>
          </a:xfrm>
          <a:prstGeom xmlns:a="http://schemas.openxmlformats.org/drawingml/2006/main" prst="line">
            <a:avLst/>
          </a:prstGeom>
          <a:noFill xmlns:a="http://schemas.openxmlformats.org/drawingml/2006/main"/>
          <a:ln xmlns:a="http://schemas.openxmlformats.org/drawingml/2006/main" w="19050">
            <a:solidFill>
              <a:srgbClr val="167D86"/>
            </a:solidFill>
          </a:ln>
        </p:spPr>
      </p:sp>
      <p:sp>
        <p:nvSpPr>
          <p:cNvPr id="17" name="">
            <a:extLst xmlns:a="http://schemas.openxmlformats.org/drawingml/2006/main">
              <a:ext uri="{FF2B5EF4-FFF2-40B4-BE49-F238E27FC236}">
                <a16:creationId xmlns:a16="http://schemas.microsoft.com/office/drawing/2014/main" id="{0D9FE274-E40D-4583-AD41-8BA39CA122E0}"/>
              </a:ext>
            </a:extLst>
          </p:cNvPr>
          <p:cNvSpPr>
            <a:spLocks xmlns:a="http://schemas.openxmlformats.org/drawingml/2006/main" noGrp="1"/>
          </p:cNvSpPr>
          <p:nvPr/>
        </p:nvSpPr>
        <p:spPr>
          <a:xfrm xmlns:a="http://schemas.openxmlformats.org/drawingml/2006/main">
            <a:off x="9229725" y="2095500"/>
            <a:ext cx="0" cy="238125"/>
          </a:xfrm>
          <a:prstGeom xmlns:a="http://schemas.openxmlformats.org/drawingml/2006/main" prst="line">
            <a:avLst/>
          </a:prstGeom>
          <a:noFill xmlns:a="http://schemas.openxmlformats.org/drawingml/2006/main"/>
          <a:ln xmlns:a="http://schemas.openxmlformats.org/drawingml/2006/main" w="19050">
            <a:solidFill>
              <a:srgbClr val="167D86"/>
            </a:solidFill>
          </a:ln>
        </p:spPr>
      </p:sp>
      <p:sp>
        <p:nvSpPr>
          <p:cNvPr id="18" name="">
            <a:extLst xmlns:a="http://schemas.openxmlformats.org/drawingml/2006/main">
              <a:ext uri="{FF2B5EF4-FFF2-40B4-BE49-F238E27FC236}">
                <a16:creationId xmlns:a16="http://schemas.microsoft.com/office/drawing/2014/main" id="{BE74A98A-163B-42C7-AF87-E4CBA9FCC048}"/>
              </a:ext>
            </a:extLst>
          </p:cNvPr>
          <p:cNvSpPr>
            <a:spLocks xmlns:a="http://schemas.openxmlformats.org/drawingml/2006/main" noGrp="1"/>
          </p:cNvSpPr>
          <p:nvPr/>
        </p:nvSpPr>
        <p:spPr>
          <a:xfrm xmlns:a="http://schemas.openxmlformats.org/drawingml/2006/main">
            <a:off x="2962275" y="2095500"/>
            <a:ext cx="6267450" cy="0"/>
          </a:xfrm>
          <a:prstGeom xmlns:a="http://schemas.openxmlformats.org/drawingml/2006/main" prst="line">
            <a:avLst/>
          </a:prstGeom>
          <a:noFill xmlns:a="http://schemas.openxmlformats.org/drawingml/2006/main"/>
          <a:ln xmlns:a="http://schemas.openxmlformats.org/drawingml/2006/main" w="19050">
            <a:solidFill>
              <a:srgbClr val="167D86"/>
            </a:solidFill>
          </a:ln>
        </p:spPr>
      </p:sp>
      <p:sp>
        <p:nvSpPr>
          <p:cNvPr id="19" name="">
            <a:extLst xmlns:a="http://schemas.openxmlformats.org/drawingml/2006/main">
              <a:ext uri="{FF2B5EF4-FFF2-40B4-BE49-F238E27FC236}">
                <a16:creationId xmlns:a16="http://schemas.microsoft.com/office/drawing/2014/main" id="{14178EC5-9DA6-4F8E-9DAE-D42FE8C076EE}"/>
              </a:ext>
            </a:extLst>
          </p:cNvPr>
          <p:cNvSpPr>
            <a:spLocks xmlns:a="http://schemas.openxmlformats.org/drawingml/2006/main" noGrp="1"/>
          </p:cNvSpPr>
          <p:nvPr/>
        </p:nvSpPr>
        <p:spPr>
          <a:xfrm xmlns:a="http://schemas.openxmlformats.org/drawingml/2006/main">
            <a:off x="6096000" y="2000250"/>
            <a:ext cx="0" cy="95250"/>
          </a:xfrm>
          <a:prstGeom xmlns:a="http://schemas.openxmlformats.org/drawingml/2006/main" prst="line">
            <a:avLst/>
          </a:prstGeom>
          <a:noFill xmlns:a="http://schemas.openxmlformats.org/drawingml/2006/main"/>
          <a:ln xmlns:a="http://schemas.openxmlformats.org/drawingml/2006/main" w="19050">
            <a:solidFill>
              <a:srgbClr val="167D86"/>
            </a:solidFill>
          </a:ln>
        </p:spPr>
      </p:sp>
      <p:sp>
        <p:nvSpPr>
          <p:cNvPr id="20" name="">
            <a:extLst xmlns:a="http://schemas.openxmlformats.org/drawingml/2006/main">
              <a:ext uri="{FF2B5EF4-FFF2-40B4-BE49-F238E27FC236}">
                <a16:creationId xmlns:a16="http://schemas.microsoft.com/office/drawing/2014/main" id="{A9F21C5D-4E45-4FA2-9D2A-3815A7C144FF}"/>
              </a:ext>
            </a:extLst>
          </p:cNvPr>
          <p:cNvSpPr>
            <a:spLocks xmlns:a="http://schemas.openxmlformats.org/drawingml/2006/main" noGrp="1"/>
          </p:cNvSpPr>
          <p:nvPr/>
        </p:nvSpPr>
        <p:spPr>
          <a:xfrm xmlns:a="http://schemas.openxmlformats.org/drawingml/2006/main">
            <a:off x="695325" y="3209925"/>
            <a:ext cx="1809750" cy="52387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21" name="">
            <a:extLst xmlns:a="http://schemas.openxmlformats.org/drawingml/2006/main">
              <a:ext uri="{FF2B5EF4-FFF2-40B4-BE49-F238E27FC236}">
                <a16:creationId xmlns:a16="http://schemas.microsoft.com/office/drawing/2014/main" id="{DAE4E791-5BE1-4830-88D3-067E93633B88}"/>
              </a:ext>
            </a:extLst>
          </p:cNvPr>
          <p:cNvSpPr>
            <a:spLocks xmlns:a="http://schemas.openxmlformats.org/drawingml/2006/main" noGrp="1"/>
          </p:cNvSpPr>
          <p:nvPr/>
        </p:nvSpPr>
        <p:spPr>
          <a:xfrm xmlns:a="http://schemas.openxmlformats.org/drawingml/2006/main">
            <a:off x="771525" y="3267075"/>
            <a:ext cx="1657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6324C"/>
                </a:solidFill>
                <a:latin typeface="Arial"/>
                <a:ea typeface="Arial"/>
                <a:cs typeface="Arial"/>
              </a:defRPr>
            </a:pPr>
            <a:r>
              <a:rPr sz="1275" b="1">
                <a:solidFill>
                  <a:srgbClr val="16324C"/>
                </a:solidFill>
                <a:latin typeface="Arial"/>
                <a:ea typeface="Arial"/>
                <a:cs typeface="Arial"/>
              </a:rPr>
              <a:t>Equipment</a:t>
            </a:r>
          </a:p>
        </p:txBody>
      </p:sp>
      <p:sp>
        <p:nvSpPr>
          <p:cNvPr id="22" name="">
            <a:extLst xmlns:a="http://schemas.openxmlformats.org/drawingml/2006/main">
              <a:ext uri="{FF2B5EF4-FFF2-40B4-BE49-F238E27FC236}">
                <a16:creationId xmlns:a16="http://schemas.microsoft.com/office/drawing/2014/main" id="{08990E8F-0A7F-4588-BC77-AFBFE06C75AB}"/>
              </a:ext>
            </a:extLst>
          </p:cNvPr>
          <p:cNvSpPr>
            <a:spLocks xmlns:a="http://schemas.openxmlformats.org/drawingml/2006/main" noGrp="1"/>
          </p:cNvSpPr>
          <p:nvPr/>
        </p:nvSpPr>
        <p:spPr>
          <a:xfrm xmlns:a="http://schemas.openxmlformats.org/drawingml/2006/main">
            <a:off x="695325" y="3505200"/>
            <a:ext cx="1809750"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23" name="">
            <a:extLst xmlns:a="http://schemas.openxmlformats.org/drawingml/2006/main">
              <a:ext uri="{FF2B5EF4-FFF2-40B4-BE49-F238E27FC236}">
                <a16:creationId xmlns:a16="http://schemas.microsoft.com/office/drawing/2014/main" id="{FCFB515A-ADBD-481D-B31E-0ADCDC1345A7}"/>
              </a:ext>
            </a:extLst>
          </p:cNvPr>
          <p:cNvSpPr>
            <a:spLocks xmlns:a="http://schemas.openxmlformats.org/drawingml/2006/main" noGrp="1"/>
          </p:cNvSpPr>
          <p:nvPr/>
        </p:nvSpPr>
        <p:spPr>
          <a:xfrm xmlns:a="http://schemas.openxmlformats.org/drawingml/2006/main">
            <a:off x="771525" y="3552825"/>
            <a:ext cx="16573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status; usageHours</a:t>
            </a:r>
          </a:p>
        </p:txBody>
      </p:sp>
      <p:sp>
        <p:nvSpPr>
          <p:cNvPr id="24" name="">
            <a:extLst xmlns:a="http://schemas.openxmlformats.org/drawingml/2006/main">
              <a:ext uri="{FF2B5EF4-FFF2-40B4-BE49-F238E27FC236}">
                <a16:creationId xmlns:a16="http://schemas.microsoft.com/office/drawing/2014/main" id="{C1464A71-2A1C-4C60-A27B-C4BC61E9AF4F}"/>
              </a:ext>
            </a:extLst>
          </p:cNvPr>
          <p:cNvSpPr>
            <a:spLocks xmlns:a="http://schemas.openxmlformats.org/drawingml/2006/main" noGrp="1"/>
          </p:cNvSpPr>
          <p:nvPr/>
        </p:nvSpPr>
        <p:spPr>
          <a:xfrm xmlns:a="http://schemas.openxmlformats.org/drawingml/2006/main">
            <a:off x="2733675" y="3209925"/>
            <a:ext cx="1809750" cy="52387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25" name="">
            <a:extLst xmlns:a="http://schemas.openxmlformats.org/drawingml/2006/main">
              <a:ext uri="{FF2B5EF4-FFF2-40B4-BE49-F238E27FC236}">
                <a16:creationId xmlns:a16="http://schemas.microsoft.com/office/drawing/2014/main" id="{15C7C269-1250-4E3B-936E-6A0B929D2F93}"/>
              </a:ext>
            </a:extLst>
          </p:cNvPr>
          <p:cNvSpPr>
            <a:spLocks xmlns:a="http://schemas.openxmlformats.org/drawingml/2006/main" noGrp="1"/>
          </p:cNvSpPr>
          <p:nvPr/>
        </p:nvSpPr>
        <p:spPr>
          <a:xfrm xmlns:a="http://schemas.openxmlformats.org/drawingml/2006/main">
            <a:off x="2809875" y="3267075"/>
            <a:ext cx="1657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6324C"/>
                </a:solidFill>
                <a:latin typeface="Arial"/>
                <a:ea typeface="Arial"/>
                <a:cs typeface="Arial"/>
              </a:defRPr>
            </a:pPr>
            <a:r>
              <a:rPr sz="1275" b="1">
                <a:solidFill>
                  <a:srgbClr val="16324C"/>
                </a:solidFill>
                <a:latin typeface="Arial"/>
                <a:ea typeface="Arial"/>
                <a:cs typeface="Arial"/>
              </a:rPr>
              <a:t>FitnessSession</a:t>
            </a:r>
          </a:p>
        </p:txBody>
      </p:sp>
      <p:sp>
        <p:nvSpPr>
          <p:cNvPr id="26" name="">
            <a:extLst xmlns:a="http://schemas.openxmlformats.org/drawingml/2006/main">
              <a:ext uri="{FF2B5EF4-FFF2-40B4-BE49-F238E27FC236}">
                <a16:creationId xmlns:a16="http://schemas.microsoft.com/office/drawing/2014/main" id="{8922C9F1-74C4-4B19-83E0-02CD354B2C63}"/>
              </a:ext>
            </a:extLst>
          </p:cNvPr>
          <p:cNvSpPr>
            <a:spLocks xmlns:a="http://schemas.openxmlformats.org/drawingml/2006/main" noGrp="1"/>
          </p:cNvSpPr>
          <p:nvPr/>
        </p:nvSpPr>
        <p:spPr>
          <a:xfrm xmlns:a="http://schemas.openxmlformats.org/drawingml/2006/main">
            <a:off x="2733675" y="3505200"/>
            <a:ext cx="1809750"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27" name="">
            <a:extLst xmlns:a="http://schemas.openxmlformats.org/drawingml/2006/main">
              <a:ext uri="{FF2B5EF4-FFF2-40B4-BE49-F238E27FC236}">
                <a16:creationId xmlns:a16="http://schemas.microsoft.com/office/drawing/2014/main" id="{CB03A78B-C547-4ED9-A4DE-25B78934AE04}"/>
              </a:ext>
            </a:extLst>
          </p:cNvPr>
          <p:cNvSpPr>
            <a:spLocks xmlns:a="http://schemas.openxmlformats.org/drawingml/2006/main" noGrp="1"/>
          </p:cNvSpPr>
          <p:nvPr/>
        </p:nvSpPr>
        <p:spPr>
          <a:xfrm xmlns:a="http://schemas.openxmlformats.org/drawingml/2006/main">
            <a:off x="2809875" y="3552825"/>
            <a:ext cx="16573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capacity; bookings</a:t>
            </a:r>
          </a:p>
        </p:txBody>
      </p:sp>
      <p:sp>
        <p:nvSpPr>
          <p:cNvPr id="28" name="">
            <a:extLst xmlns:a="http://schemas.openxmlformats.org/drawingml/2006/main">
              <a:ext uri="{FF2B5EF4-FFF2-40B4-BE49-F238E27FC236}">
                <a16:creationId xmlns:a16="http://schemas.microsoft.com/office/drawing/2014/main" id="{E1074072-F73F-4960-8770-4C48ED5742F9}"/>
              </a:ext>
            </a:extLst>
          </p:cNvPr>
          <p:cNvSpPr>
            <a:spLocks xmlns:a="http://schemas.openxmlformats.org/drawingml/2006/main" noGrp="1"/>
          </p:cNvSpPr>
          <p:nvPr/>
        </p:nvSpPr>
        <p:spPr>
          <a:xfrm xmlns:a="http://schemas.openxmlformats.org/drawingml/2006/main">
            <a:off x="4772025" y="3209925"/>
            <a:ext cx="2066925" cy="52387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29" name="">
            <a:extLst xmlns:a="http://schemas.openxmlformats.org/drawingml/2006/main">
              <a:ext uri="{FF2B5EF4-FFF2-40B4-BE49-F238E27FC236}">
                <a16:creationId xmlns:a16="http://schemas.microsoft.com/office/drawing/2014/main" id="{6BCE6F8E-C6D4-4D8A-A138-7C3FF925A532}"/>
              </a:ext>
            </a:extLst>
          </p:cNvPr>
          <p:cNvSpPr>
            <a:spLocks xmlns:a="http://schemas.openxmlformats.org/drawingml/2006/main" noGrp="1"/>
          </p:cNvSpPr>
          <p:nvPr/>
        </p:nvSpPr>
        <p:spPr>
          <a:xfrm xmlns:a="http://schemas.openxmlformats.org/drawingml/2006/main">
            <a:off x="4848225" y="3267075"/>
            <a:ext cx="19145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6324C"/>
                </a:solidFill>
                <a:latin typeface="Arial"/>
                <a:ea typeface="Arial"/>
                <a:cs typeface="Arial"/>
              </a:defRPr>
            </a:pPr>
            <a:r>
              <a:rPr sz="1275" b="1">
                <a:solidFill>
                  <a:srgbClr val="16324C"/>
                </a:solidFill>
                <a:latin typeface="Arial"/>
                <a:ea typeface="Arial"/>
                <a:cs typeface="Arial"/>
              </a:rPr>
              <a:t>MaintenanceRequest</a:t>
            </a:r>
          </a:p>
        </p:txBody>
      </p:sp>
      <p:sp>
        <p:nvSpPr>
          <p:cNvPr id="30" name="">
            <a:extLst xmlns:a="http://schemas.openxmlformats.org/drawingml/2006/main">
              <a:ext uri="{FF2B5EF4-FFF2-40B4-BE49-F238E27FC236}">
                <a16:creationId xmlns:a16="http://schemas.microsoft.com/office/drawing/2014/main" id="{50AA7BBB-0F9D-4A1E-A8C3-87CD8113E6F7}"/>
              </a:ext>
            </a:extLst>
          </p:cNvPr>
          <p:cNvSpPr>
            <a:spLocks xmlns:a="http://schemas.openxmlformats.org/drawingml/2006/main" noGrp="1"/>
          </p:cNvSpPr>
          <p:nvPr/>
        </p:nvSpPr>
        <p:spPr>
          <a:xfrm xmlns:a="http://schemas.openxmlformats.org/drawingml/2006/main">
            <a:off x="4772025" y="3505200"/>
            <a:ext cx="2066925"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31" name="">
            <a:extLst xmlns:a="http://schemas.openxmlformats.org/drawingml/2006/main">
              <a:ext uri="{FF2B5EF4-FFF2-40B4-BE49-F238E27FC236}">
                <a16:creationId xmlns:a16="http://schemas.microsoft.com/office/drawing/2014/main" id="{71045F40-7CC1-4DAF-A430-895AF5288055}"/>
              </a:ext>
            </a:extLst>
          </p:cNvPr>
          <p:cNvSpPr>
            <a:spLocks xmlns:a="http://schemas.openxmlformats.org/drawingml/2006/main" noGrp="1"/>
          </p:cNvSpPr>
          <p:nvPr/>
        </p:nvSpPr>
        <p:spPr>
          <a:xfrm xmlns:a="http://schemas.openxmlformats.org/drawingml/2006/main">
            <a:off x="4848225" y="3552825"/>
            <a:ext cx="19145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PENDING / ASSIGNED</a:t>
            </a:r>
          </a:p>
        </p:txBody>
      </p:sp>
      <p:sp>
        <p:nvSpPr>
          <p:cNvPr id="32" name="">
            <a:extLst xmlns:a="http://schemas.openxmlformats.org/drawingml/2006/main">
              <a:ext uri="{FF2B5EF4-FFF2-40B4-BE49-F238E27FC236}">
                <a16:creationId xmlns:a16="http://schemas.microsoft.com/office/drawing/2014/main" id="{E56FF4EE-0A39-4B6E-AF25-2F9A6592B242}"/>
              </a:ext>
            </a:extLst>
          </p:cNvPr>
          <p:cNvSpPr>
            <a:spLocks xmlns:a="http://schemas.openxmlformats.org/drawingml/2006/main" noGrp="1"/>
          </p:cNvSpPr>
          <p:nvPr/>
        </p:nvSpPr>
        <p:spPr>
          <a:xfrm xmlns:a="http://schemas.openxmlformats.org/drawingml/2006/main">
            <a:off x="7077075" y="3209925"/>
            <a:ext cx="1962150" cy="52387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33" name="">
            <a:extLst xmlns:a="http://schemas.openxmlformats.org/drawingml/2006/main">
              <a:ext uri="{FF2B5EF4-FFF2-40B4-BE49-F238E27FC236}">
                <a16:creationId xmlns:a16="http://schemas.microsoft.com/office/drawing/2014/main" id="{3E784F60-7061-49B1-854A-F3BCAC22189E}"/>
              </a:ext>
            </a:extLst>
          </p:cNvPr>
          <p:cNvSpPr>
            <a:spLocks xmlns:a="http://schemas.openxmlformats.org/drawingml/2006/main" noGrp="1"/>
          </p:cNvSpPr>
          <p:nvPr/>
        </p:nvSpPr>
        <p:spPr>
          <a:xfrm xmlns:a="http://schemas.openxmlformats.org/drawingml/2006/main">
            <a:off x="7153275" y="3267075"/>
            <a:ext cx="1809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6324C"/>
                </a:solidFill>
                <a:latin typeface="Arial"/>
                <a:ea typeface="Arial"/>
                <a:cs typeface="Arial"/>
              </a:defRPr>
            </a:pPr>
            <a:r>
              <a:rPr sz="1275" b="1">
                <a:solidFill>
                  <a:srgbClr val="16324C"/>
                </a:solidFill>
                <a:latin typeface="Arial"/>
                <a:ea typeface="Arial"/>
                <a:cs typeface="Arial"/>
              </a:rPr>
              <a:t>BookingService</a:t>
            </a:r>
          </a:p>
        </p:txBody>
      </p:sp>
      <p:sp>
        <p:nvSpPr>
          <p:cNvPr id="34" name="">
            <a:extLst xmlns:a="http://schemas.openxmlformats.org/drawingml/2006/main">
              <a:ext uri="{FF2B5EF4-FFF2-40B4-BE49-F238E27FC236}">
                <a16:creationId xmlns:a16="http://schemas.microsoft.com/office/drawing/2014/main" id="{4B84E4C3-A6E8-4290-90D0-A24968ECEF10}"/>
              </a:ext>
            </a:extLst>
          </p:cNvPr>
          <p:cNvSpPr>
            <a:spLocks xmlns:a="http://schemas.openxmlformats.org/drawingml/2006/main" noGrp="1"/>
          </p:cNvSpPr>
          <p:nvPr/>
        </p:nvSpPr>
        <p:spPr>
          <a:xfrm xmlns:a="http://schemas.openxmlformats.org/drawingml/2006/main">
            <a:off x="7077075" y="3505200"/>
            <a:ext cx="1962150"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35" name="">
            <a:extLst xmlns:a="http://schemas.openxmlformats.org/drawingml/2006/main">
              <a:ext uri="{FF2B5EF4-FFF2-40B4-BE49-F238E27FC236}">
                <a16:creationId xmlns:a16="http://schemas.microsoft.com/office/drawing/2014/main" id="{F90B0255-1258-4D18-BF10-6A79CA6BA3EF}"/>
              </a:ext>
            </a:extLst>
          </p:cNvPr>
          <p:cNvSpPr>
            <a:spLocks xmlns:a="http://schemas.openxmlformats.org/drawingml/2006/main" noGrp="1"/>
          </p:cNvSpPr>
          <p:nvPr/>
        </p:nvSpPr>
        <p:spPr>
          <a:xfrm xmlns:a="http://schemas.openxmlformats.org/drawingml/2006/main">
            <a:off x="7153275" y="3552825"/>
            <a:ext cx="18097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scheduleWeeklySessions</a:t>
            </a:r>
          </a:p>
        </p:txBody>
      </p:sp>
      <p:sp>
        <p:nvSpPr>
          <p:cNvPr id="36" name="">
            <a:extLst xmlns:a="http://schemas.openxmlformats.org/drawingml/2006/main">
              <a:ext uri="{FF2B5EF4-FFF2-40B4-BE49-F238E27FC236}">
                <a16:creationId xmlns:a16="http://schemas.microsoft.com/office/drawing/2014/main" id="{3F49594E-71F9-40B0-AC1C-88685EBA4FA3}"/>
              </a:ext>
            </a:extLst>
          </p:cNvPr>
          <p:cNvSpPr>
            <a:spLocks xmlns:a="http://schemas.openxmlformats.org/drawingml/2006/main" noGrp="1"/>
          </p:cNvSpPr>
          <p:nvPr/>
        </p:nvSpPr>
        <p:spPr>
          <a:xfrm xmlns:a="http://schemas.openxmlformats.org/drawingml/2006/main">
            <a:off x="9267825" y="3209925"/>
            <a:ext cx="2133600" cy="52387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37" name="">
            <a:extLst xmlns:a="http://schemas.openxmlformats.org/drawingml/2006/main">
              <a:ext uri="{FF2B5EF4-FFF2-40B4-BE49-F238E27FC236}">
                <a16:creationId xmlns:a16="http://schemas.microsoft.com/office/drawing/2014/main" id="{77AE0FFE-08D9-4888-87E8-652EFC3AEE16}"/>
              </a:ext>
            </a:extLst>
          </p:cNvPr>
          <p:cNvSpPr>
            <a:spLocks xmlns:a="http://schemas.openxmlformats.org/drawingml/2006/main" noGrp="1"/>
          </p:cNvSpPr>
          <p:nvPr/>
        </p:nvSpPr>
        <p:spPr>
          <a:xfrm xmlns:a="http://schemas.openxmlformats.org/drawingml/2006/main">
            <a:off x="9344025" y="3267075"/>
            <a:ext cx="1981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6324C"/>
                </a:solidFill>
                <a:latin typeface="Arial"/>
                <a:ea typeface="Arial"/>
                <a:cs typeface="Arial"/>
              </a:defRPr>
            </a:pPr>
            <a:r>
              <a:rPr sz="1275" b="1">
                <a:solidFill>
                  <a:srgbClr val="16324C"/>
                </a:solidFill>
                <a:latin typeface="Arial"/>
                <a:ea typeface="Arial"/>
                <a:cs typeface="Arial"/>
              </a:rPr>
              <a:t>MaintenanceService</a:t>
            </a:r>
          </a:p>
        </p:txBody>
      </p:sp>
      <p:sp>
        <p:nvSpPr>
          <p:cNvPr id="38" name="">
            <a:extLst xmlns:a="http://schemas.openxmlformats.org/drawingml/2006/main">
              <a:ext uri="{FF2B5EF4-FFF2-40B4-BE49-F238E27FC236}">
                <a16:creationId xmlns:a16="http://schemas.microsoft.com/office/drawing/2014/main" id="{F8497462-952D-49E3-869A-4BC8ABF02A9E}"/>
              </a:ext>
            </a:extLst>
          </p:cNvPr>
          <p:cNvSpPr>
            <a:spLocks xmlns:a="http://schemas.openxmlformats.org/drawingml/2006/main" noGrp="1"/>
          </p:cNvSpPr>
          <p:nvPr/>
        </p:nvSpPr>
        <p:spPr>
          <a:xfrm xmlns:a="http://schemas.openxmlformats.org/drawingml/2006/main">
            <a:off x="9267825" y="3505200"/>
            <a:ext cx="2133600"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39" name="">
            <a:extLst xmlns:a="http://schemas.openxmlformats.org/drawingml/2006/main">
              <a:ext uri="{FF2B5EF4-FFF2-40B4-BE49-F238E27FC236}">
                <a16:creationId xmlns:a16="http://schemas.microsoft.com/office/drawing/2014/main" id="{D0A35F55-F68D-4CAB-B2CE-ACCCDFDC9C2A}"/>
              </a:ext>
            </a:extLst>
          </p:cNvPr>
          <p:cNvSpPr>
            <a:spLocks xmlns:a="http://schemas.openxmlformats.org/drawingml/2006/main" noGrp="1"/>
          </p:cNvSpPr>
          <p:nvPr/>
        </p:nvSpPr>
        <p:spPr>
          <a:xfrm xmlns:a="http://schemas.openxmlformats.org/drawingml/2006/main">
            <a:off x="9344025" y="3552825"/>
            <a:ext cx="19812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multi-request state</a:t>
            </a:r>
          </a:p>
        </p:txBody>
      </p:sp>
      <p:sp>
        <p:nvSpPr>
          <p:cNvPr id="40" name="">
            <a:extLst xmlns:a="http://schemas.openxmlformats.org/drawingml/2006/main">
              <a:ext uri="{FF2B5EF4-FFF2-40B4-BE49-F238E27FC236}">
                <a16:creationId xmlns:a16="http://schemas.microsoft.com/office/drawing/2014/main" id="{93367A3E-A3F1-4766-BA27-B5238BC7DC0D}"/>
              </a:ext>
            </a:extLst>
          </p:cNvPr>
          <p:cNvSpPr>
            <a:spLocks xmlns:a="http://schemas.openxmlformats.org/drawingml/2006/main" noGrp="1"/>
          </p:cNvSpPr>
          <p:nvPr/>
        </p:nvSpPr>
        <p:spPr>
          <a:xfrm xmlns:a="http://schemas.openxmlformats.org/drawingml/2006/main">
            <a:off x="3800475" y="4467225"/>
            <a:ext cx="2676525" cy="590550"/>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41" name="">
            <a:extLst xmlns:a="http://schemas.openxmlformats.org/drawingml/2006/main">
              <a:ext uri="{FF2B5EF4-FFF2-40B4-BE49-F238E27FC236}">
                <a16:creationId xmlns:a16="http://schemas.microsoft.com/office/drawing/2014/main" id="{1AD57C3C-781E-4B14-9624-1E927E289353}"/>
              </a:ext>
            </a:extLst>
          </p:cNvPr>
          <p:cNvSpPr>
            <a:spLocks xmlns:a="http://schemas.openxmlformats.org/drawingml/2006/main" noGrp="1"/>
          </p:cNvSpPr>
          <p:nvPr/>
        </p:nvSpPr>
        <p:spPr>
          <a:xfrm xmlns:a="http://schemas.openxmlformats.org/drawingml/2006/main">
            <a:off x="3876675" y="4524375"/>
            <a:ext cx="2524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6324C"/>
                </a:solidFill>
                <a:latin typeface="Arial"/>
                <a:ea typeface="Arial"/>
                <a:cs typeface="Arial"/>
              </a:defRPr>
            </a:pPr>
            <a:r>
              <a:rPr sz="1275" b="1">
                <a:solidFill>
                  <a:srgbClr val="16324C"/>
                </a:solidFill>
                <a:latin typeface="Arial"/>
                <a:ea typeface="Arial"/>
                <a:cs typeface="Arial"/>
              </a:rPr>
              <a:t>IWFCFacade  «Facade»</a:t>
            </a:r>
          </a:p>
        </p:txBody>
      </p:sp>
      <p:sp>
        <p:nvSpPr>
          <p:cNvPr id="42" name="">
            <a:extLst xmlns:a="http://schemas.openxmlformats.org/drawingml/2006/main">
              <a:ext uri="{FF2B5EF4-FFF2-40B4-BE49-F238E27FC236}">
                <a16:creationId xmlns:a16="http://schemas.microsoft.com/office/drawing/2014/main" id="{492AA43C-76AD-4F63-A80A-13671AC8E788}"/>
              </a:ext>
            </a:extLst>
          </p:cNvPr>
          <p:cNvSpPr>
            <a:spLocks xmlns:a="http://schemas.openxmlformats.org/drawingml/2006/main" noGrp="1"/>
          </p:cNvSpPr>
          <p:nvPr/>
        </p:nvSpPr>
        <p:spPr>
          <a:xfrm xmlns:a="http://schemas.openxmlformats.org/drawingml/2006/main">
            <a:off x="3800475" y="4762500"/>
            <a:ext cx="2676525"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43" name="">
            <a:extLst xmlns:a="http://schemas.openxmlformats.org/drawingml/2006/main">
              <a:ext uri="{FF2B5EF4-FFF2-40B4-BE49-F238E27FC236}">
                <a16:creationId xmlns:a16="http://schemas.microsoft.com/office/drawing/2014/main" id="{D0A5D3B2-BE60-4728-B432-BB301B219D2F}"/>
              </a:ext>
            </a:extLst>
          </p:cNvPr>
          <p:cNvSpPr>
            <a:spLocks xmlns:a="http://schemas.openxmlformats.org/drawingml/2006/main" noGrp="1"/>
          </p:cNvSpPr>
          <p:nvPr/>
        </p:nvSpPr>
        <p:spPr>
          <a:xfrm xmlns:a="http://schemas.openxmlformats.org/drawingml/2006/main">
            <a:off x="3876675" y="4810125"/>
            <a:ext cx="2524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viewAllSessions; sample data</a:t>
            </a:r>
          </a:p>
        </p:txBody>
      </p:sp>
      <p:sp>
        <p:nvSpPr>
          <p:cNvPr id="44" name="">
            <a:extLst xmlns:a="http://schemas.openxmlformats.org/drawingml/2006/main">
              <a:ext uri="{FF2B5EF4-FFF2-40B4-BE49-F238E27FC236}">
                <a16:creationId xmlns:a16="http://schemas.microsoft.com/office/drawing/2014/main" id="{BCB0AD9C-1460-443D-AC63-DC04F75003BA}"/>
              </a:ext>
            </a:extLst>
          </p:cNvPr>
          <p:cNvSpPr>
            <a:spLocks xmlns:a="http://schemas.openxmlformats.org/drawingml/2006/main" noGrp="1"/>
          </p:cNvSpPr>
          <p:nvPr/>
        </p:nvSpPr>
        <p:spPr>
          <a:xfrm xmlns:a="http://schemas.openxmlformats.org/drawingml/2006/main">
            <a:off x="733425" y="5353050"/>
            <a:ext cx="2600325" cy="54292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45" name="">
            <a:extLst xmlns:a="http://schemas.openxmlformats.org/drawingml/2006/main">
              <a:ext uri="{FF2B5EF4-FFF2-40B4-BE49-F238E27FC236}">
                <a16:creationId xmlns:a16="http://schemas.microsoft.com/office/drawing/2014/main" id="{C6766D97-43E8-4FCF-B64E-F67617676D42}"/>
              </a:ext>
            </a:extLst>
          </p:cNvPr>
          <p:cNvSpPr>
            <a:spLocks xmlns:a="http://schemas.openxmlformats.org/drawingml/2006/main" noGrp="1"/>
          </p:cNvSpPr>
          <p:nvPr/>
        </p:nvSpPr>
        <p:spPr>
          <a:xfrm xmlns:a="http://schemas.openxmlformats.org/drawingml/2006/main">
            <a:off x="809625" y="5410200"/>
            <a:ext cx="24479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16324C"/>
                </a:solidFill>
                <a:latin typeface="Arial"/>
                <a:ea typeface="Arial"/>
                <a:cs typeface="Arial"/>
              </a:defRPr>
            </a:pPr>
            <a:r>
              <a:rPr sz="1050" b="1">
                <a:solidFill>
                  <a:srgbClr val="16324C"/>
                </a:solidFill>
                <a:latin typeface="Arial"/>
                <a:ea typeface="Arial"/>
                <a:cs typeface="Arial"/>
              </a:rPr>
              <a:t>EntityFactory  «Factory»</a:t>
            </a:r>
          </a:p>
        </p:txBody>
      </p:sp>
      <p:sp>
        <p:nvSpPr>
          <p:cNvPr id="46" name="">
            <a:extLst xmlns:a="http://schemas.openxmlformats.org/drawingml/2006/main">
              <a:ext uri="{FF2B5EF4-FFF2-40B4-BE49-F238E27FC236}">
                <a16:creationId xmlns:a16="http://schemas.microsoft.com/office/drawing/2014/main" id="{1AA47E8F-E70E-4A8A-9EB6-FA7F1FE249DA}"/>
              </a:ext>
            </a:extLst>
          </p:cNvPr>
          <p:cNvSpPr>
            <a:spLocks xmlns:a="http://schemas.openxmlformats.org/drawingml/2006/main" noGrp="1"/>
          </p:cNvSpPr>
          <p:nvPr/>
        </p:nvSpPr>
        <p:spPr>
          <a:xfrm xmlns:a="http://schemas.openxmlformats.org/drawingml/2006/main">
            <a:off x="733425" y="5648325"/>
            <a:ext cx="2600325"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47" name="">
            <a:extLst xmlns:a="http://schemas.openxmlformats.org/drawingml/2006/main">
              <a:ext uri="{FF2B5EF4-FFF2-40B4-BE49-F238E27FC236}">
                <a16:creationId xmlns:a16="http://schemas.microsoft.com/office/drawing/2014/main" id="{0DB2FCFC-2052-4084-848F-505AFE3E3E21}"/>
              </a:ext>
            </a:extLst>
          </p:cNvPr>
          <p:cNvSpPr>
            <a:spLocks xmlns:a="http://schemas.openxmlformats.org/drawingml/2006/main" noGrp="1"/>
          </p:cNvSpPr>
          <p:nvPr/>
        </p:nvSpPr>
        <p:spPr>
          <a:xfrm xmlns:a="http://schemas.openxmlformats.org/drawingml/2006/main">
            <a:off x="809625" y="5695950"/>
            <a:ext cx="2447925"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creates users; equipment</a:t>
            </a:r>
          </a:p>
        </p:txBody>
      </p:sp>
      <p:sp>
        <p:nvSpPr>
          <p:cNvPr id="48" name="">
            <a:extLst xmlns:a="http://schemas.openxmlformats.org/drawingml/2006/main">
              <a:ext uri="{FF2B5EF4-FFF2-40B4-BE49-F238E27FC236}">
                <a16:creationId xmlns:a16="http://schemas.microsoft.com/office/drawing/2014/main" id="{BE8B1D5D-2E0E-4877-969F-68283201879F}"/>
              </a:ext>
            </a:extLst>
          </p:cNvPr>
          <p:cNvSpPr>
            <a:spLocks xmlns:a="http://schemas.openxmlformats.org/drawingml/2006/main" noGrp="1"/>
          </p:cNvSpPr>
          <p:nvPr/>
        </p:nvSpPr>
        <p:spPr>
          <a:xfrm xmlns:a="http://schemas.openxmlformats.org/drawingml/2006/main">
            <a:off x="3733800" y="5353050"/>
            <a:ext cx="2400300" cy="54292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49" name="">
            <a:extLst xmlns:a="http://schemas.openxmlformats.org/drawingml/2006/main">
              <a:ext uri="{FF2B5EF4-FFF2-40B4-BE49-F238E27FC236}">
                <a16:creationId xmlns:a16="http://schemas.microsoft.com/office/drawing/2014/main" id="{5531D67E-598E-4B94-8B1D-55DE37BF1F54}"/>
              </a:ext>
            </a:extLst>
          </p:cNvPr>
          <p:cNvSpPr>
            <a:spLocks xmlns:a="http://schemas.openxmlformats.org/drawingml/2006/main" noGrp="1"/>
          </p:cNvSpPr>
          <p:nvPr/>
        </p:nvSpPr>
        <p:spPr>
          <a:xfrm xmlns:a="http://schemas.openxmlformats.org/drawingml/2006/main">
            <a:off x="3810000" y="5410200"/>
            <a:ext cx="22479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6324C"/>
                </a:solidFill>
                <a:latin typeface="Arial"/>
                <a:ea typeface="Arial"/>
                <a:cs typeface="Arial"/>
              </a:defRPr>
            </a:pPr>
            <a:r>
              <a:rPr sz="1275" b="1">
                <a:solidFill>
                  <a:srgbClr val="16324C"/>
                </a:solidFill>
                <a:latin typeface="Arial"/>
                <a:ea typeface="Arial"/>
                <a:cs typeface="Arial"/>
              </a:rPr>
              <a:t>GenericRepository&lt;T&gt;</a:t>
            </a:r>
          </a:p>
        </p:txBody>
      </p:sp>
      <p:sp>
        <p:nvSpPr>
          <p:cNvPr id="50" name="">
            <a:extLst xmlns:a="http://schemas.openxmlformats.org/drawingml/2006/main">
              <a:ext uri="{FF2B5EF4-FFF2-40B4-BE49-F238E27FC236}">
                <a16:creationId xmlns:a16="http://schemas.microsoft.com/office/drawing/2014/main" id="{7431050B-B87D-4151-A77D-B2CBEC048097}"/>
              </a:ext>
            </a:extLst>
          </p:cNvPr>
          <p:cNvSpPr>
            <a:spLocks xmlns:a="http://schemas.openxmlformats.org/drawingml/2006/main" noGrp="1"/>
          </p:cNvSpPr>
          <p:nvPr/>
        </p:nvSpPr>
        <p:spPr>
          <a:xfrm xmlns:a="http://schemas.openxmlformats.org/drawingml/2006/main">
            <a:off x="3733800" y="5648325"/>
            <a:ext cx="2400300"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51" name="">
            <a:extLst xmlns:a="http://schemas.openxmlformats.org/drawingml/2006/main">
              <a:ext uri="{FF2B5EF4-FFF2-40B4-BE49-F238E27FC236}">
                <a16:creationId xmlns:a16="http://schemas.microsoft.com/office/drawing/2014/main" id="{F258CADE-1DCC-4BA9-9ECB-94321C07A8CE}"/>
              </a:ext>
            </a:extLst>
          </p:cNvPr>
          <p:cNvSpPr>
            <a:spLocks xmlns:a="http://schemas.openxmlformats.org/drawingml/2006/main" noGrp="1"/>
          </p:cNvSpPr>
          <p:nvPr/>
        </p:nvSpPr>
        <p:spPr>
          <a:xfrm xmlns:a="http://schemas.openxmlformats.org/drawingml/2006/main">
            <a:off x="3810000" y="5695950"/>
            <a:ext cx="22479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typed in-memory IDs</a:t>
            </a:r>
          </a:p>
        </p:txBody>
      </p:sp>
      <p:sp>
        <p:nvSpPr>
          <p:cNvPr id="52" name="">
            <a:extLst xmlns:a="http://schemas.openxmlformats.org/drawingml/2006/main">
              <a:ext uri="{FF2B5EF4-FFF2-40B4-BE49-F238E27FC236}">
                <a16:creationId xmlns:a16="http://schemas.microsoft.com/office/drawing/2014/main" id="{8A3690D2-DEC2-443C-96C0-54BC140CD70A}"/>
              </a:ext>
            </a:extLst>
          </p:cNvPr>
          <p:cNvSpPr>
            <a:spLocks xmlns:a="http://schemas.openxmlformats.org/drawingml/2006/main" noGrp="1"/>
          </p:cNvSpPr>
          <p:nvPr/>
        </p:nvSpPr>
        <p:spPr>
          <a:xfrm xmlns:a="http://schemas.openxmlformats.org/drawingml/2006/main">
            <a:off x="6581775" y="5353050"/>
            <a:ext cx="2190750" cy="54292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53" name="">
            <a:extLst xmlns:a="http://schemas.openxmlformats.org/drawingml/2006/main">
              <a:ext uri="{FF2B5EF4-FFF2-40B4-BE49-F238E27FC236}">
                <a16:creationId xmlns:a16="http://schemas.microsoft.com/office/drawing/2014/main" id="{0E9E637A-A039-4DF3-9F2B-8AE20C2822F3}"/>
              </a:ext>
            </a:extLst>
          </p:cNvPr>
          <p:cNvSpPr>
            <a:spLocks xmlns:a="http://schemas.openxmlformats.org/drawingml/2006/main" noGrp="1"/>
          </p:cNvSpPr>
          <p:nvPr/>
        </p:nvSpPr>
        <p:spPr>
          <a:xfrm xmlns:a="http://schemas.openxmlformats.org/drawingml/2006/main">
            <a:off x="6657975" y="5410200"/>
            <a:ext cx="2038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16324C"/>
                </a:solidFill>
                <a:latin typeface="Arial"/>
                <a:ea typeface="Arial"/>
                <a:cs typeface="Arial"/>
              </a:defRPr>
            </a:pPr>
            <a:r>
              <a:rPr sz="1050" b="1">
                <a:solidFill>
                  <a:srgbClr val="16324C"/>
                </a:solidFill>
                <a:latin typeface="Arial"/>
                <a:ea typeface="Arial"/>
                <a:cs typeface="Arial"/>
              </a:rPr>
              <a:t>InvalidBookingException</a:t>
            </a:r>
          </a:p>
        </p:txBody>
      </p:sp>
      <p:sp>
        <p:nvSpPr>
          <p:cNvPr id="54" name="">
            <a:extLst xmlns:a="http://schemas.openxmlformats.org/drawingml/2006/main">
              <a:ext uri="{FF2B5EF4-FFF2-40B4-BE49-F238E27FC236}">
                <a16:creationId xmlns:a16="http://schemas.microsoft.com/office/drawing/2014/main" id="{4640255E-CEC9-469C-9531-2556243B7B1B}"/>
              </a:ext>
            </a:extLst>
          </p:cNvPr>
          <p:cNvSpPr>
            <a:spLocks xmlns:a="http://schemas.openxmlformats.org/drawingml/2006/main" noGrp="1"/>
          </p:cNvSpPr>
          <p:nvPr/>
        </p:nvSpPr>
        <p:spPr>
          <a:xfrm xmlns:a="http://schemas.openxmlformats.org/drawingml/2006/main">
            <a:off x="8915400" y="5353050"/>
            <a:ext cx="2619375" cy="54292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55" name="">
            <a:extLst xmlns:a="http://schemas.openxmlformats.org/drawingml/2006/main">
              <a:ext uri="{FF2B5EF4-FFF2-40B4-BE49-F238E27FC236}">
                <a16:creationId xmlns:a16="http://schemas.microsoft.com/office/drawing/2014/main" id="{AF937A3C-E7C9-48A0-BF51-4540133F4CAD}"/>
              </a:ext>
            </a:extLst>
          </p:cNvPr>
          <p:cNvSpPr>
            <a:spLocks xmlns:a="http://schemas.openxmlformats.org/drawingml/2006/main" noGrp="1"/>
          </p:cNvSpPr>
          <p:nvPr/>
        </p:nvSpPr>
        <p:spPr>
          <a:xfrm xmlns:a="http://schemas.openxmlformats.org/drawingml/2006/main">
            <a:off x="8991600" y="5410200"/>
            <a:ext cx="24669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16324C"/>
                </a:solidFill>
                <a:latin typeface="Arial"/>
                <a:ea typeface="Arial"/>
                <a:cs typeface="Arial"/>
              </a:defRPr>
            </a:pPr>
            <a:r>
              <a:rPr sz="1050" b="1">
                <a:solidFill>
                  <a:srgbClr val="16324C"/>
                </a:solidFill>
                <a:latin typeface="Arial"/>
                <a:ea typeface="Arial"/>
                <a:cs typeface="Arial"/>
              </a:rPr>
              <a:t>UnauthorizedAccessException</a:t>
            </a:r>
          </a:p>
        </p:txBody>
      </p:sp>
      <p:sp>
        <p:nvSpPr>
          <p:cNvPr id="56" name="">
            <a:extLst xmlns:a="http://schemas.openxmlformats.org/drawingml/2006/main">
              <a:ext uri="{FF2B5EF4-FFF2-40B4-BE49-F238E27FC236}">
                <a16:creationId xmlns:a16="http://schemas.microsoft.com/office/drawing/2014/main" id="{DFB49467-4991-473F-A30B-0B7F019DCB46}"/>
              </a:ext>
            </a:extLst>
          </p:cNvPr>
          <p:cNvSpPr>
            <a:spLocks xmlns:a="http://schemas.openxmlformats.org/drawingml/2006/main" noGrp="1"/>
          </p:cNvSpPr>
          <p:nvPr/>
        </p:nvSpPr>
        <p:spPr>
          <a:xfrm xmlns:a="http://schemas.openxmlformats.org/drawingml/2006/main">
            <a:off x="6657975" y="6048375"/>
            <a:ext cx="2200275" cy="466725"/>
          </a:xfrm>
          <a:prstGeom xmlns:a="http://schemas.openxmlformats.org/drawingml/2006/main" prst="rect">
            <a:avLst/>
          </a:prstGeom>
          <a:solidFill xmlns:a="http://schemas.openxmlformats.org/drawingml/2006/main">
            <a:srgbClr val="FFFFFF"/>
          </a:solidFill>
          <a:ln xmlns:a="http://schemas.openxmlformats.org/drawingml/2006/main" w="15240">
            <a:solidFill>
              <a:srgbClr val="16324C"/>
            </a:solidFill>
          </a:ln>
        </p:spPr>
      </p:sp>
      <p:sp>
        <p:nvSpPr>
          <p:cNvPr id="57" name="">
            <a:extLst xmlns:a="http://schemas.openxmlformats.org/drawingml/2006/main">
              <a:ext uri="{FF2B5EF4-FFF2-40B4-BE49-F238E27FC236}">
                <a16:creationId xmlns:a16="http://schemas.microsoft.com/office/drawing/2014/main" id="{FCC60987-B6A2-4B49-B65A-C8399B2B8774}"/>
              </a:ext>
            </a:extLst>
          </p:cNvPr>
          <p:cNvSpPr>
            <a:spLocks xmlns:a="http://schemas.openxmlformats.org/drawingml/2006/main" noGrp="1"/>
          </p:cNvSpPr>
          <p:nvPr/>
        </p:nvSpPr>
        <p:spPr>
          <a:xfrm xmlns:a="http://schemas.openxmlformats.org/drawingml/2006/main">
            <a:off x="6734175" y="6105525"/>
            <a:ext cx="2047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16324C"/>
                </a:solidFill>
                <a:latin typeface="Arial"/>
                <a:ea typeface="Arial"/>
                <a:cs typeface="Arial"/>
              </a:defRPr>
            </a:pPr>
            <a:r>
              <a:rPr sz="1050" b="1">
                <a:solidFill>
                  <a:srgbClr val="16324C"/>
                </a:solidFill>
                <a:latin typeface="Arial"/>
                <a:ea typeface="Arial"/>
                <a:cs typeface="Arial"/>
              </a:rPr>
              <a:t>DuplicateDataException</a:t>
            </a:r>
          </a:p>
        </p:txBody>
      </p:sp>
      <p:sp>
        <p:nvSpPr>
          <p:cNvPr id="58" name="">
            <a:extLst xmlns:a="http://schemas.openxmlformats.org/drawingml/2006/main">
              <a:ext uri="{FF2B5EF4-FFF2-40B4-BE49-F238E27FC236}">
                <a16:creationId xmlns:a16="http://schemas.microsoft.com/office/drawing/2014/main" id="{8ED9B47E-49C6-47F3-AD15-CB40AAF73E09}"/>
              </a:ext>
            </a:extLst>
          </p:cNvPr>
          <p:cNvSpPr>
            <a:spLocks xmlns:a="http://schemas.openxmlformats.org/drawingml/2006/main" noGrp="1"/>
          </p:cNvSpPr>
          <p:nvPr/>
        </p:nvSpPr>
        <p:spPr>
          <a:xfrm xmlns:a="http://schemas.openxmlformats.org/drawingml/2006/main">
            <a:off x="5133975" y="3857625"/>
            <a:ext cx="0" cy="609600"/>
          </a:xfrm>
          <a:prstGeom xmlns:a="http://schemas.openxmlformats.org/drawingml/2006/main" prst="line">
            <a:avLst/>
          </a:prstGeom>
          <a:noFill xmlns:a="http://schemas.openxmlformats.org/drawingml/2006/main"/>
          <a:ln xmlns:a="http://schemas.openxmlformats.org/drawingml/2006/main" w="19050">
            <a:solidFill>
              <a:srgbClr val="167D86"/>
            </a:solidFill>
          </a:ln>
        </p:spPr>
      </p:sp>
      <p:sp>
        <p:nvSpPr>
          <p:cNvPr id="59" name="">
            <a:extLst xmlns:a="http://schemas.openxmlformats.org/drawingml/2006/main">
              <a:ext uri="{FF2B5EF4-FFF2-40B4-BE49-F238E27FC236}">
                <a16:creationId xmlns:a16="http://schemas.microsoft.com/office/drawing/2014/main" id="{176FD82C-EE24-4146-80D4-18568FE347DB}"/>
              </a:ext>
            </a:extLst>
          </p:cNvPr>
          <p:cNvSpPr>
            <a:spLocks xmlns:a="http://schemas.openxmlformats.org/drawingml/2006/main" noGrp="1"/>
          </p:cNvSpPr>
          <p:nvPr/>
        </p:nvSpPr>
        <p:spPr>
          <a:xfrm xmlns:a="http://schemas.openxmlformats.org/drawingml/2006/main">
            <a:off x="5133975" y="5057775"/>
            <a:ext cx="0" cy="295275"/>
          </a:xfrm>
          <a:prstGeom xmlns:a="http://schemas.openxmlformats.org/drawingml/2006/main" prst="line">
            <a:avLst/>
          </a:prstGeom>
          <a:noFill xmlns:a="http://schemas.openxmlformats.org/drawingml/2006/main"/>
          <a:ln xmlns:a="http://schemas.openxmlformats.org/drawingml/2006/main" w="19050">
            <a:solidFill>
              <a:srgbClr val="167D86"/>
            </a:solidFill>
          </a:ln>
        </p:spPr>
      </p:sp>
      <p:sp>
        <p:nvSpPr>
          <p:cNvPr id="60" name="">
            <a:extLst xmlns:a="http://schemas.openxmlformats.org/drawingml/2006/main">
              <a:ext uri="{FF2B5EF4-FFF2-40B4-BE49-F238E27FC236}">
                <a16:creationId xmlns:a16="http://schemas.microsoft.com/office/drawing/2014/main" id="{EE6DB458-CF63-4A99-9BC4-4F94FEE6B647}"/>
              </a:ext>
            </a:extLst>
          </p:cNvPr>
          <p:cNvSpPr>
            <a:spLocks xmlns:a="http://schemas.openxmlformats.org/drawingml/2006/main" noGrp="1"/>
          </p:cNvSpPr>
          <p:nvPr/>
        </p:nvSpPr>
        <p:spPr>
          <a:xfrm xmlns:a="http://schemas.openxmlformats.org/drawingml/2006/main">
            <a:off x="704850" y="6191250"/>
            <a:ext cx="581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5F6C76"/>
                </a:solidFill>
                <a:latin typeface="Arial"/>
                <a:ea typeface="Arial"/>
                <a:cs typeface="Arial"/>
              </a:defRPr>
            </a:pPr>
            <a:r>
              <a:rPr sz="1275" b="0">
                <a:solidFill>
                  <a:srgbClr val="5F6C76"/>
                </a:solidFill>
                <a:latin typeface="Arial"/>
                <a:ea typeface="Arial"/>
                <a:cs typeface="Arial"/>
              </a:rPr>
              <a:t>15 top-level production files across 6 packages</a:t>
            </a:r>
          </a:p>
        </p:txBody>
      </p:sp>
    </p:spTree>
    <p:extLst>
      <p:ext uri="{BB962C8B-B14F-4D97-AF65-F5344CB8AC3E}">
        <p14:creationId xmlns:p14="http://schemas.microsoft.com/office/powerpoint/2010/main" val="10594382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65121D-BDFE-4619-9761-BAC1404AA604}"/>
              </a:ext>
            </a:extLst>
          </p:cNvPr>
          <p:cNvSpPr>
            <a:spLocks xmlns:a="http://schemas.openxmlformats.org/drawingml/2006/main" noGrp="1"/>
          </p:cNvSpPr>
          <p:nvPr/>
        </p:nvSpPr>
        <p:spPr>
          <a:xfrm xmlns:a="http://schemas.openxmlformats.org/drawingml/2006/main">
            <a:off x="609600" y="419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24C"/>
                </a:solidFill>
                <a:latin typeface="Arial"/>
                <a:ea typeface="Arial"/>
                <a:cs typeface="Arial"/>
              </a:defRPr>
            </a:pPr>
            <a:r>
              <a:rPr sz="2700" b="1">
                <a:solidFill>
                  <a:srgbClr val="16324C"/>
                </a:solidFill>
                <a:latin typeface="Arial"/>
                <a:ea typeface="Arial"/>
                <a:cs typeface="Arial"/>
              </a:rPr>
              <a:t>Factory, Facade and Observer</a:t>
            </a:r>
          </a:p>
        </p:txBody>
      </p:sp>
      <p:sp>
        <p:nvSpPr>
          <p:cNvPr id="2" name="">
            <a:extLst xmlns:a="http://schemas.openxmlformats.org/drawingml/2006/main">
              <a:ext uri="{FF2B5EF4-FFF2-40B4-BE49-F238E27FC236}">
                <a16:creationId xmlns:a16="http://schemas.microsoft.com/office/drawing/2014/main" id="{D5C2DF20-2F3F-461B-8AF8-57252D9BFA32}"/>
              </a:ext>
            </a:extLst>
          </p:cNvPr>
          <p:cNvSpPr>
            <a:spLocks xmlns:a="http://schemas.openxmlformats.org/drawingml/2006/main" noGrp="1"/>
          </p:cNvSpPr>
          <p:nvPr/>
        </p:nvSpPr>
        <p:spPr>
          <a:xfrm xmlns:a="http://schemas.openxmlformats.org/drawingml/2006/main">
            <a:off x="609600" y="1104900"/>
            <a:ext cx="10972800" cy="0"/>
          </a:xfrm>
          <a:prstGeom xmlns:a="http://schemas.openxmlformats.org/drawingml/2006/main" prst="line">
            <a:avLst/>
          </a:prstGeom>
          <a:noFill xmlns:a="http://schemas.openxmlformats.org/drawingml/2006/main"/>
          <a:ln xmlns:a="http://schemas.openxmlformats.org/drawingml/2006/main" w="38100">
            <a:solidFill>
              <a:srgbClr val="167D86"/>
            </a:solidFill>
          </a:ln>
        </p:spPr>
      </p:sp>
      <p:sp>
        <p:nvSpPr>
          <p:cNvPr id="3" name="">
            <a:extLst xmlns:a="http://schemas.openxmlformats.org/drawingml/2006/main">
              <a:ext uri="{FF2B5EF4-FFF2-40B4-BE49-F238E27FC236}">
                <a16:creationId xmlns:a16="http://schemas.microsoft.com/office/drawing/2014/main" id="{318E3264-C0E8-489C-9465-4D1C4CFC82D0}"/>
              </a:ext>
            </a:extLst>
          </p:cNvPr>
          <p:cNvSpPr>
            <a:spLocks xmlns:a="http://schemas.openxmlformats.org/drawingml/2006/main" noGrp="1"/>
          </p:cNvSpPr>
          <p:nvPr/>
        </p:nvSpPr>
        <p:spPr>
          <a:xfrm xmlns:a="http://schemas.openxmlformats.org/drawingml/2006/main">
            <a:off x="609600" y="6448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IWFC  /  CMP 7001 PRES1</a:t>
            </a:r>
          </a:p>
        </p:txBody>
      </p:sp>
      <p:sp>
        <p:nvSpPr>
          <p:cNvPr id="4" name="">
            <a:extLst xmlns:a="http://schemas.openxmlformats.org/drawingml/2006/main">
              <a:ext uri="{FF2B5EF4-FFF2-40B4-BE49-F238E27FC236}">
                <a16:creationId xmlns:a16="http://schemas.microsoft.com/office/drawing/2014/main" id="{D194F278-5A7A-4566-A7E0-EB3DA570E90B}"/>
              </a:ext>
            </a:extLst>
          </p:cNvPr>
          <p:cNvSpPr>
            <a:spLocks xmlns:a="http://schemas.openxmlformats.org/drawingml/2006/main" noGrp="1"/>
          </p:cNvSpPr>
          <p:nvPr/>
        </p:nvSpPr>
        <p:spPr>
          <a:xfrm xmlns:a="http://schemas.openxmlformats.org/drawingml/2006/main">
            <a:off x="11068050" y="642937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5F6C76"/>
                </a:solidFill>
                <a:latin typeface="Arial"/>
                <a:ea typeface="Arial"/>
                <a:cs typeface="Arial"/>
              </a:defRPr>
            </a:pPr>
            <a:r>
              <a:rPr sz="975" b="1">
                <a:solidFill>
                  <a:srgbClr val="5F6C76"/>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8EC347B8-0E74-43C0-B9E2-E39AC86EB113}"/>
              </a:ext>
            </a:extLst>
          </p:cNvPr>
          <p:cNvSpPr>
            <a:spLocks xmlns:a="http://schemas.openxmlformats.org/drawingml/2006/main" noGrp="1"/>
          </p:cNvSpPr>
          <p:nvPr/>
        </p:nvSpPr>
        <p:spPr>
          <a:xfrm xmlns:a="http://schemas.openxmlformats.org/drawingml/2006/main">
            <a:off x="704850" y="1809750"/>
            <a:ext cx="3286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6324C"/>
                </a:solidFill>
                <a:latin typeface="Arial"/>
                <a:ea typeface="Arial"/>
                <a:cs typeface="Arial"/>
              </a:defRPr>
            </a:pPr>
            <a:r>
              <a:rPr sz="1950" b="1">
                <a:solidFill>
                  <a:srgbClr val="16324C"/>
                </a:solidFill>
                <a:latin typeface="Arial"/>
                <a:ea typeface="Arial"/>
                <a:cs typeface="Arial"/>
              </a:rPr>
              <a:t>Factory</a:t>
            </a:r>
          </a:p>
        </p:txBody>
      </p:sp>
      <p:sp>
        <p:nvSpPr>
          <p:cNvPr id="6" name="">
            <a:extLst xmlns:a="http://schemas.openxmlformats.org/drawingml/2006/main">
              <a:ext uri="{FF2B5EF4-FFF2-40B4-BE49-F238E27FC236}">
                <a16:creationId xmlns:a16="http://schemas.microsoft.com/office/drawing/2014/main" id="{B5224D56-8E58-44FA-8107-C6230346CE4B}"/>
              </a:ext>
            </a:extLst>
          </p:cNvPr>
          <p:cNvSpPr>
            <a:spLocks xmlns:a="http://schemas.openxmlformats.org/drawingml/2006/main" noGrp="1"/>
          </p:cNvSpPr>
          <p:nvPr/>
        </p:nvSpPr>
        <p:spPr>
          <a:xfrm xmlns:a="http://schemas.openxmlformats.org/drawingml/2006/main">
            <a:off x="704850" y="2305050"/>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C2933"/>
                </a:solidFill>
                <a:latin typeface="Arial"/>
                <a:ea typeface="Arial"/>
                <a:cs typeface="Arial"/>
              </a:defRPr>
            </a:pPr>
            <a:r>
              <a:rPr sz="1575" b="0">
                <a:solidFill>
                  <a:srgbClr val="1C2933"/>
                </a:solidFill>
                <a:latin typeface="Arial"/>
                <a:ea typeface="Arial"/>
                <a:cs typeface="Arial"/>
              </a:rPr>
              <a:t>EntityFactory creates validated roles and equipment.</a:t>
            </a:r>
          </a:p>
        </p:txBody>
      </p:sp>
      <p:sp>
        <p:nvSpPr>
          <p:cNvPr id="7" name="">
            <a:extLst xmlns:a="http://schemas.openxmlformats.org/drawingml/2006/main">
              <a:ext uri="{FF2B5EF4-FFF2-40B4-BE49-F238E27FC236}">
                <a16:creationId xmlns:a16="http://schemas.microsoft.com/office/drawing/2014/main" id="{585A878F-5D32-4EA9-8561-42DD82707A29}"/>
              </a:ext>
            </a:extLst>
          </p:cNvPr>
          <p:cNvSpPr>
            <a:spLocks xmlns:a="http://schemas.openxmlformats.org/drawingml/2006/main" noGrp="1"/>
          </p:cNvSpPr>
          <p:nvPr/>
        </p:nvSpPr>
        <p:spPr>
          <a:xfrm xmlns:a="http://schemas.openxmlformats.org/drawingml/2006/main">
            <a:off x="4457700" y="1809750"/>
            <a:ext cx="3286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6324C"/>
                </a:solidFill>
                <a:latin typeface="Arial"/>
                <a:ea typeface="Arial"/>
                <a:cs typeface="Arial"/>
              </a:defRPr>
            </a:pPr>
            <a:r>
              <a:rPr sz="1950" b="1">
                <a:solidFill>
                  <a:srgbClr val="16324C"/>
                </a:solidFill>
                <a:latin typeface="Arial"/>
                <a:ea typeface="Arial"/>
                <a:cs typeface="Arial"/>
              </a:rPr>
              <a:t>Facade</a:t>
            </a:r>
          </a:p>
        </p:txBody>
      </p:sp>
      <p:sp>
        <p:nvSpPr>
          <p:cNvPr id="8" name="">
            <a:extLst xmlns:a="http://schemas.openxmlformats.org/drawingml/2006/main">
              <a:ext uri="{FF2B5EF4-FFF2-40B4-BE49-F238E27FC236}">
                <a16:creationId xmlns:a16="http://schemas.microsoft.com/office/drawing/2014/main" id="{BDA64C2E-D877-40B6-B6B6-D1E296184C3B}"/>
              </a:ext>
            </a:extLst>
          </p:cNvPr>
          <p:cNvSpPr>
            <a:spLocks xmlns:a="http://schemas.openxmlformats.org/drawingml/2006/main" noGrp="1"/>
          </p:cNvSpPr>
          <p:nvPr/>
        </p:nvSpPr>
        <p:spPr>
          <a:xfrm xmlns:a="http://schemas.openxmlformats.org/drawingml/2006/main">
            <a:off x="4457700" y="2305050"/>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C2933"/>
                </a:solidFill>
                <a:latin typeface="Arial"/>
                <a:ea typeface="Arial"/>
                <a:cs typeface="Arial"/>
              </a:defRPr>
            </a:pPr>
            <a:r>
              <a:rPr sz="1575" b="0">
                <a:solidFill>
                  <a:srgbClr val="1C2933"/>
                </a:solidFill>
                <a:latin typeface="Arial"/>
                <a:ea typeface="Arial"/>
                <a:cs typeface="Arial"/>
              </a:rPr>
              <a:t>IWFCFacade checks the actor and coordinates each use case.</a:t>
            </a:r>
          </a:p>
        </p:txBody>
      </p:sp>
      <p:sp>
        <p:nvSpPr>
          <p:cNvPr id="9" name="">
            <a:extLst xmlns:a="http://schemas.openxmlformats.org/drawingml/2006/main">
              <a:ext uri="{FF2B5EF4-FFF2-40B4-BE49-F238E27FC236}">
                <a16:creationId xmlns:a16="http://schemas.microsoft.com/office/drawing/2014/main" id="{E8A76095-9327-40BB-8409-303DE7BA6B85}"/>
              </a:ext>
            </a:extLst>
          </p:cNvPr>
          <p:cNvSpPr>
            <a:spLocks xmlns:a="http://schemas.openxmlformats.org/drawingml/2006/main" noGrp="1"/>
          </p:cNvSpPr>
          <p:nvPr/>
        </p:nvSpPr>
        <p:spPr>
          <a:xfrm xmlns:a="http://schemas.openxmlformats.org/drawingml/2006/main">
            <a:off x="8210550" y="1809750"/>
            <a:ext cx="323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6324C"/>
                </a:solidFill>
                <a:latin typeface="Arial"/>
                <a:ea typeface="Arial"/>
                <a:cs typeface="Arial"/>
              </a:defRPr>
            </a:pPr>
            <a:r>
              <a:rPr sz="1950" b="1">
                <a:solidFill>
                  <a:srgbClr val="16324C"/>
                </a:solidFill>
                <a:latin typeface="Arial"/>
                <a:ea typeface="Arial"/>
                <a:cs typeface="Arial"/>
              </a:rPr>
              <a:t>Observer</a:t>
            </a:r>
          </a:p>
        </p:txBody>
      </p:sp>
      <p:sp>
        <p:nvSpPr>
          <p:cNvPr id="10" name="">
            <a:extLst xmlns:a="http://schemas.openxmlformats.org/drawingml/2006/main">
              <a:ext uri="{FF2B5EF4-FFF2-40B4-BE49-F238E27FC236}">
                <a16:creationId xmlns:a16="http://schemas.microsoft.com/office/drawing/2014/main" id="{D092E42D-9304-4E4C-AEA8-AB4A40A1A3A4}"/>
              </a:ext>
            </a:extLst>
          </p:cNvPr>
          <p:cNvSpPr>
            <a:spLocks xmlns:a="http://schemas.openxmlformats.org/drawingml/2006/main" noGrp="1"/>
          </p:cNvSpPr>
          <p:nvPr/>
        </p:nvSpPr>
        <p:spPr>
          <a:xfrm xmlns:a="http://schemas.openxmlformats.org/drawingml/2006/main">
            <a:off x="8210550" y="2305050"/>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C2933"/>
                </a:solidFill>
                <a:latin typeface="Arial"/>
                <a:ea typeface="Arial"/>
                <a:cs typeface="Arial"/>
              </a:defRPr>
            </a:pPr>
            <a:r>
              <a:rPr sz="1575" b="0">
                <a:solidFill>
                  <a:srgbClr val="1C2933"/>
                </a:solidFill>
                <a:latin typeface="Arial"/>
                <a:ea typeface="Arial"/>
                <a:cs typeface="Arial"/>
              </a:rPr>
              <a:t>MaintenanceService routes relevant events to active users.</a:t>
            </a:r>
          </a:p>
        </p:txBody>
      </p:sp>
      <p:sp>
        <p:nvSpPr>
          <p:cNvPr id="11" name="">
            <a:extLst xmlns:a="http://schemas.openxmlformats.org/drawingml/2006/main">
              <a:ext uri="{FF2B5EF4-FFF2-40B4-BE49-F238E27FC236}">
                <a16:creationId xmlns:a16="http://schemas.microsoft.com/office/drawing/2014/main" id="{A33ACFA5-1523-41CF-87C0-D1107E17CB13}"/>
              </a:ext>
            </a:extLst>
          </p:cNvPr>
          <p:cNvSpPr>
            <a:spLocks xmlns:a="http://schemas.openxmlformats.org/drawingml/2006/main" noGrp="1"/>
          </p:cNvSpPr>
          <p:nvPr/>
        </p:nvSpPr>
        <p:spPr>
          <a:xfrm xmlns:a="http://schemas.openxmlformats.org/drawingml/2006/main">
            <a:off x="704850" y="4429125"/>
            <a:ext cx="10725150" cy="0"/>
          </a:xfrm>
          <a:prstGeom xmlns:a="http://schemas.openxmlformats.org/drawingml/2006/main" prst="line">
            <a:avLst/>
          </a:prstGeom>
          <a:noFill xmlns:a="http://schemas.openxmlformats.org/drawingml/2006/main"/>
          <a:ln xmlns:a="http://schemas.openxmlformats.org/drawingml/2006/main" w="19050">
            <a:solidFill>
              <a:srgbClr val="C7D5DE"/>
            </a:solidFill>
          </a:ln>
        </p:spPr>
      </p:sp>
      <p:sp>
        <p:nvSpPr>
          <p:cNvPr id="12" name="">
            <a:extLst xmlns:a="http://schemas.openxmlformats.org/drawingml/2006/main">
              <a:ext uri="{FF2B5EF4-FFF2-40B4-BE49-F238E27FC236}">
                <a16:creationId xmlns:a16="http://schemas.microsoft.com/office/drawing/2014/main" id="{374F2BBF-D7F7-4D44-A44A-EC0D72DEA5F9}"/>
              </a:ext>
            </a:extLst>
          </p:cNvPr>
          <p:cNvSpPr>
            <a:spLocks xmlns:a="http://schemas.openxmlformats.org/drawingml/2006/main" noGrp="1"/>
          </p:cNvSpPr>
          <p:nvPr/>
        </p:nvSpPr>
        <p:spPr>
          <a:xfrm xmlns:a="http://schemas.openxmlformats.org/drawingml/2006/main">
            <a:off x="704850" y="47815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324C"/>
                </a:solidFill>
                <a:latin typeface="Arial"/>
                <a:ea typeface="Arial"/>
                <a:cs typeface="Arial"/>
              </a:defRPr>
            </a:pPr>
            <a:r>
              <a:rPr sz="1725" b="1">
                <a:solidFill>
                  <a:srgbClr val="16324C"/>
                </a:solidFill>
                <a:latin typeface="Arial"/>
                <a:ea typeface="Arial"/>
                <a:cs typeface="Arial"/>
              </a:rPr>
              <a:t>Fault event: Administrators alerted, affected Members warned, reporting Instructor updated</a:t>
            </a:r>
          </a:p>
        </p:txBody>
      </p:sp>
    </p:spTree>
    <p:extLst>
      <p:ext uri="{BB962C8B-B14F-4D97-AF65-F5344CB8AC3E}">
        <p14:creationId xmlns:p14="http://schemas.microsoft.com/office/powerpoint/2010/main" val="144634890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3D74A78-A7EF-4F75-8376-B2C9AE138082}"/>
              </a:ext>
            </a:extLst>
          </p:cNvPr>
          <p:cNvSpPr>
            <a:spLocks xmlns:a="http://schemas.openxmlformats.org/drawingml/2006/main" noGrp="1"/>
          </p:cNvSpPr>
          <p:nvPr/>
        </p:nvSpPr>
        <p:spPr>
          <a:xfrm xmlns:a="http://schemas.openxmlformats.org/drawingml/2006/main">
            <a:off x="609600" y="419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24C"/>
                </a:solidFill>
                <a:latin typeface="Arial"/>
                <a:ea typeface="Arial"/>
                <a:cs typeface="Arial"/>
              </a:defRPr>
            </a:pPr>
            <a:r>
              <a:rPr sz="2700" b="1">
                <a:solidFill>
                  <a:srgbClr val="16324C"/>
                </a:solidFill>
                <a:latin typeface="Arial"/>
                <a:ea typeface="Arial"/>
                <a:cs typeface="Arial"/>
              </a:rPr>
              <a:t>Object-oriented design choices</a:t>
            </a:r>
          </a:p>
        </p:txBody>
      </p:sp>
      <p:sp>
        <p:nvSpPr>
          <p:cNvPr id="2" name="">
            <a:extLst xmlns:a="http://schemas.openxmlformats.org/drawingml/2006/main">
              <a:ext uri="{FF2B5EF4-FFF2-40B4-BE49-F238E27FC236}">
                <a16:creationId xmlns:a16="http://schemas.microsoft.com/office/drawing/2014/main" id="{F7C00A6F-6D0B-4952-9045-357AB338E49F}"/>
              </a:ext>
            </a:extLst>
          </p:cNvPr>
          <p:cNvSpPr>
            <a:spLocks xmlns:a="http://schemas.openxmlformats.org/drawingml/2006/main" noGrp="1"/>
          </p:cNvSpPr>
          <p:nvPr/>
        </p:nvSpPr>
        <p:spPr>
          <a:xfrm xmlns:a="http://schemas.openxmlformats.org/drawingml/2006/main">
            <a:off x="609600" y="1104900"/>
            <a:ext cx="10972800" cy="0"/>
          </a:xfrm>
          <a:prstGeom xmlns:a="http://schemas.openxmlformats.org/drawingml/2006/main" prst="line">
            <a:avLst/>
          </a:prstGeom>
          <a:noFill xmlns:a="http://schemas.openxmlformats.org/drawingml/2006/main"/>
          <a:ln xmlns:a="http://schemas.openxmlformats.org/drawingml/2006/main" w="38100">
            <a:solidFill>
              <a:srgbClr val="167D86"/>
            </a:solidFill>
          </a:ln>
        </p:spPr>
      </p:sp>
      <p:sp>
        <p:nvSpPr>
          <p:cNvPr id="3" name="">
            <a:extLst xmlns:a="http://schemas.openxmlformats.org/drawingml/2006/main">
              <a:ext uri="{FF2B5EF4-FFF2-40B4-BE49-F238E27FC236}">
                <a16:creationId xmlns:a16="http://schemas.microsoft.com/office/drawing/2014/main" id="{AF5A5257-437C-4324-A778-7AF193D3BB93}"/>
              </a:ext>
            </a:extLst>
          </p:cNvPr>
          <p:cNvSpPr>
            <a:spLocks xmlns:a="http://schemas.openxmlformats.org/drawingml/2006/main" noGrp="1"/>
          </p:cNvSpPr>
          <p:nvPr/>
        </p:nvSpPr>
        <p:spPr>
          <a:xfrm xmlns:a="http://schemas.openxmlformats.org/drawingml/2006/main">
            <a:off x="609600" y="6448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IWFC  /  CMP 7001 PRES1</a:t>
            </a:r>
          </a:p>
        </p:txBody>
      </p:sp>
      <p:sp>
        <p:nvSpPr>
          <p:cNvPr id="4" name="">
            <a:extLst xmlns:a="http://schemas.openxmlformats.org/drawingml/2006/main">
              <a:ext uri="{FF2B5EF4-FFF2-40B4-BE49-F238E27FC236}">
                <a16:creationId xmlns:a16="http://schemas.microsoft.com/office/drawing/2014/main" id="{F460C380-59D0-4C4C-8D68-5924D60023AB}"/>
              </a:ext>
            </a:extLst>
          </p:cNvPr>
          <p:cNvSpPr>
            <a:spLocks xmlns:a="http://schemas.openxmlformats.org/drawingml/2006/main" noGrp="1"/>
          </p:cNvSpPr>
          <p:nvPr/>
        </p:nvSpPr>
        <p:spPr>
          <a:xfrm xmlns:a="http://schemas.openxmlformats.org/drawingml/2006/main">
            <a:off x="11068050" y="642937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5F6C76"/>
                </a:solidFill>
                <a:latin typeface="Arial"/>
                <a:ea typeface="Arial"/>
                <a:cs typeface="Arial"/>
              </a:defRPr>
            </a:pPr>
            <a:r>
              <a:rPr sz="975" b="1">
                <a:solidFill>
                  <a:srgbClr val="5F6C76"/>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C49FCFE9-D3D2-42BE-98A1-671D77BAD24D}"/>
              </a:ext>
            </a:extLst>
          </p:cNvPr>
          <p:cNvSpPr>
            <a:spLocks xmlns:a="http://schemas.openxmlformats.org/drawingml/2006/main" noGrp="1"/>
          </p:cNvSpPr>
          <p:nvPr/>
        </p:nvSpPr>
        <p:spPr>
          <a:xfrm xmlns:a="http://schemas.openxmlformats.org/drawingml/2006/main">
            <a:off x="714375" y="167640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167D86"/>
                </a:solidFill>
                <a:latin typeface="Arial"/>
                <a:ea typeface="Arial"/>
                <a:cs typeface="Arial"/>
              </a:defRPr>
            </a:pPr>
            <a:r>
              <a:rPr sz="1200" b="1">
                <a:solidFill>
                  <a:srgbClr val="167D86"/>
                </a:solidFill>
                <a:latin typeface="Arial"/>
                <a:ea typeface="Arial"/>
                <a:cs typeface="Arial"/>
              </a:rPr>
              <a:t>ABSTRACTION AND POLYMORPHISM</a:t>
            </a:r>
          </a:p>
        </p:txBody>
      </p:sp>
      <p:sp>
        <p:nvSpPr>
          <p:cNvPr id="6" name="">
            <a:extLst xmlns:a="http://schemas.openxmlformats.org/drawingml/2006/main">
              <a:ext uri="{FF2B5EF4-FFF2-40B4-BE49-F238E27FC236}">
                <a16:creationId xmlns:a16="http://schemas.microsoft.com/office/drawing/2014/main" id="{01C9664C-8246-4DC6-A94D-FE9B03692C7C}"/>
              </a:ext>
            </a:extLst>
          </p:cNvPr>
          <p:cNvSpPr>
            <a:spLocks xmlns:a="http://schemas.openxmlformats.org/drawingml/2006/main" noGrp="1"/>
          </p:cNvSpPr>
          <p:nvPr/>
        </p:nvSpPr>
        <p:spPr>
          <a:xfrm xmlns:a="http://schemas.openxmlformats.org/drawingml/2006/main">
            <a:off x="714375" y="20193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6324C"/>
                </a:solidFill>
                <a:latin typeface="Arial"/>
                <a:ea typeface="Arial"/>
                <a:cs typeface="Arial"/>
              </a:defRPr>
            </a:pPr>
            <a:r>
              <a:rPr sz="2250" b="1">
                <a:solidFill>
                  <a:srgbClr val="16324C"/>
                </a:solidFill>
                <a:latin typeface="Arial"/>
                <a:ea typeface="Arial"/>
                <a:cs typeface="Arial"/>
              </a:rPr>
              <a:t>User  →  Administrator / Instructor / Member</a:t>
            </a:r>
          </a:p>
        </p:txBody>
      </p:sp>
      <p:sp>
        <p:nvSpPr>
          <p:cNvPr id="7" name="">
            <a:extLst xmlns:a="http://schemas.openxmlformats.org/drawingml/2006/main">
              <a:ext uri="{FF2B5EF4-FFF2-40B4-BE49-F238E27FC236}">
                <a16:creationId xmlns:a16="http://schemas.microsoft.com/office/drawing/2014/main" id="{2BF840E2-CA33-42BB-BFB6-774ED862C801}"/>
              </a:ext>
            </a:extLst>
          </p:cNvPr>
          <p:cNvSpPr>
            <a:spLocks xmlns:a="http://schemas.openxmlformats.org/drawingml/2006/main" noGrp="1"/>
          </p:cNvSpPr>
          <p:nvPr/>
        </p:nvSpPr>
        <p:spPr>
          <a:xfrm xmlns:a="http://schemas.openxmlformats.org/drawingml/2006/main">
            <a:off x="714375" y="2952750"/>
            <a:ext cx="10525125" cy="0"/>
          </a:xfrm>
          <a:prstGeom xmlns:a="http://schemas.openxmlformats.org/drawingml/2006/main" prst="line">
            <a:avLst/>
          </a:prstGeom>
          <a:noFill xmlns:a="http://schemas.openxmlformats.org/drawingml/2006/main"/>
          <a:ln xmlns:a="http://schemas.openxmlformats.org/drawingml/2006/main" w="19050">
            <a:solidFill>
              <a:srgbClr val="C7D5DE"/>
            </a:solidFill>
          </a:ln>
        </p:spPr>
      </p:sp>
      <p:sp>
        <p:nvSpPr>
          <p:cNvPr id="8" name="">
            <a:extLst xmlns:a="http://schemas.openxmlformats.org/drawingml/2006/main">
              <a:ext uri="{FF2B5EF4-FFF2-40B4-BE49-F238E27FC236}">
                <a16:creationId xmlns:a16="http://schemas.microsoft.com/office/drawing/2014/main" id="{755E6AD1-4B5C-4DDB-80A4-98F74238C603}"/>
              </a:ext>
            </a:extLst>
          </p:cNvPr>
          <p:cNvSpPr>
            <a:spLocks xmlns:a="http://schemas.openxmlformats.org/drawingml/2006/main" noGrp="1"/>
          </p:cNvSpPr>
          <p:nvPr/>
        </p:nvSpPr>
        <p:spPr>
          <a:xfrm xmlns:a="http://schemas.openxmlformats.org/drawingml/2006/main">
            <a:off x="714375" y="3324225"/>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167D86"/>
                </a:solidFill>
                <a:latin typeface="Arial"/>
                <a:ea typeface="Arial"/>
                <a:cs typeface="Arial"/>
              </a:defRPr>
            </a:pPr>
            <a:r>
              <a:rPr sz="1200" b="1">
                <a:solidFill>
                  <a:srgbClr val="167D86"/>
                </a:solidFill>
                <a:latin typeface="Arial"/>
                <a:ea typeface="Arial"/>
                <a:cs typeface="Arial"/>
              </a:rPr>
              <a:t>GENERICS AND COLLECTIONS</a:t>
            </a:r>
          </a:p>
        </p:txBody>
      </p:sp>
      <p:sp>
        <p:nvSpPr>
          <p:cNvPr id="9" name="">
            <a:extLst xmlns:a="http://schemas.openxmlformats.org/drawingml/2006/main">
              <a:ext uri="{FF2B5EF4-FFF2-40B4-BE49-F238E27FC236}">
                <a16:creationId xmlns:a16="http://schemas.microsoft.com/office/drawing/2014/main" id="{98AF8602-684E-4AB1-885F-F44A42489013}"/>
              </a:ext>
            </a:extLst>
          </p:cNvPr>
          <p:cNvSpPr>
            <a:spLocks xmlns:a="http://schemas.openxmlformats.org/drawingml/2006/main" noGrp="1"/>
          </p:cNvSpPr>
          <p:nvPr/>
        </p:nvSpPr>
        <p:spPr>
          <a:xfrm xmlns:a="http://schemas.openxmlformats.org/drawingml/2006/main">
            <a:off x="714375" y="371475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2933"/>
                </a:solidFill>
                <a:latin typeface="Arial"/>
                <a:ea typeface="Arial"/>
                <a:cs typeface="Arial"/>
              </a:defRPr>
            </a:pPr>
            <a:r>
              <a:rPr sz="1800" b="0">
                <a:solidFill>
                  <a:srgbClr val="1C2933"/>
                </a:solidFill>
                <a:latin typeface="Arial"/>
                <a:ea typeface="Arial"/>
                <a:cs typeface="Arial"/>
              </a:rPr>
              <a:t>GenericRepository&lt;T&gt; serves User, Equipment, FitnessSession and MaintenanceRequest.</a:t>
            </a:r>
          </a:p>
        </p:txBody>
      </p:sp>
      <p:sp>
        <p:nvSpPr>
          <p:cNvPr id="10" name="">
            <a:extLst xmlns:a="http://schemas.openxmlformats.org/drawingml/2006/main">
              <a:ext uri="{FF2B5EF4-FFF2-40B4-BE49-F238E27FC236}">
                <a16:creationId xmlns:a16="http://schemas.microsoft.com/office/drawing/2014/main" id="{06C93DDC-4E3B-4245-93F3-E792BF8573C7}"/>
              </a:ext>
            </a:extLst>
          </p:cNvPr>
          <p:cNvSpPr>
            <a:spLocks xmlns:a="http://schemas.openxmlformats.org/drawingml/2006/main" noGrp="1"/>
          </p:cNvSpPr>
          <p:nvPr/>
        </p:nvSpPr>
        <p:spPr>
          <a:xfrm xmlns:a="http://schemas.openxmlformats.org/drawingml/2006/main">
            <a:off x="714375" y="4705350"/>
            <a:ext cx="10477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6324C"/>
                </a:solidFill>
                <a:latin typeface="Arial"/>
                <a:ea typeface="Arial"/>
                <a:cs typeface="Arial"/>
              </a:defRPr>
            </a:pPr>
            <a:r>
              <a:rPr sz="1875" b="1">
                <a:solidFill>
                  <a:srgbClr val="16324C"/>
                </a:solidFill>
                <a:latin typeface="Arial"/>
                <a:ea typeface="Arial"/>
                <a:cs typeface="Arial"/>
              </a:rPr>
              <a:t>Map: lookup     Set: uniqueness     List: ordered views</a:t>
            </a:r>
          </a:p>
        </p:txBody>
      </p:sp>
      <p:sp>
        <p:nvSpPr>
          <p:cNvPr id="11" name="">
            <a:extLst xmlns:a="http://schemas.openxmlformats.org/drawingml/2006/main">
              <a:ext uri="{FF2B5EF4-FFF2-40B4-BE49-F238E27FC236}">
                <a16:creationId xmlns:a16="http://schemas.microsoft.com/office/drawing/2014/main" id="{7126E554-53B4-42CC-82CB-1029D0DFFD87}"/>
              </a:ext>
            </a:extLst>
          </p:cNvPr>
          <p:cNvSpPr>
            <a:spLocks xmlns:a="http://schemas.openxmlformats.org/drawingml/2006/main" noGrp="1"/>
          </p:cNvSpPr>
          <p:nvPr/>
        </p:nvSpPr>
        <p:spPr>
          <a:xfrm xmlns:a="http://schemas.openxmlformats.org/drawingml/2006/main">
            <a:off x="714375" y="55245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F6C76"/>
                </a:solidFill>
                <a:latin typeface="Arial"/>
                <a:ea typeface="Arial"/>
                <a:cs typeface="Arial"/>
              </a:defRPr>
            </a:pPr>
            <a:r>
              <a:rPr sz="1575" b="0">
                <a:solidFill>
                  <a:srgbClr val="5F6C76"/>
                </a:solidFill>
                <a:latin typeface="Arial"/>
                <a:ea typeface="Arial"/>
                <a:cs typeface="Arial"/>
              </a:rPr>
              <a:t>Private fields and guarded methods protect entity state.</a:t>
            </a:r>
          </a:p>
        </p:txBody>
      </p:sp>
    </p:spTree>
    <p:extLst>
      <p:ext uri="{BB962C8B-B14F-4D97-AF65-F5344CB8AC3E}">
        <p14:creationId xmlns:p14="http://schemas.microsoft.com/office/powerpoint/2010/main" val="180748826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C260892-1E59-45E0-9ED4-0259F9428489}"/>
              </a:ext>
            </a:extLst>
          </p:cNvPr>
          <p:cNvSpPr>
            <a:spLocks xmlns:a="http://schemas.openxmlformats.org/drawingml/2006/main" noGrp="1"/>
          </p:cNvSpPr>
          <p:nvPr/>
        </p:nvSpPr>
        <p:spPr>
          <a:xfrm xmlns:a="http://schemas.openxmlformats.org/drawingml/2006/main">
            <a:off x="609600" y="419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24C"/>
                </a:solidFill>
                <a:latin typeface="Arial"/>
                <a:ea typeface="Arial"/>
                <a:cs typeface="Arial"/>
              </a:defRPr>
            </a:pPr>
            <a:r>
              <a:rPr sz="2700" b="1">
                <a:solidFill>
                  <a:srgbClr val="16324C"/>
                </a:solidFill>
                <a:latin typeface="Arial"/>
                <a:ea typeface="Arial"/>
                <a:cs typeface="Arial"/>
              </a:rPr>
              <a:t>Validation and exception paths</a:t>
            </a:r>
          </a:p>
        </p:txBody>
      </p:sp>
      <p:sp>
        <p:nvSpPr>
          <p:cNvPr id="2" name="">
            <a:extLst xmlns:a="http://schemas.openxmlformats.org/drawingml/2006/main">
              <a:ext uri="{FF2B5EF4-FFF2-40B4-BE49-F238E27FC236}">
                <a16:creationId xmlns:a16="http://schemas.microsoft.com/office/drawing/2014/main" id="{9F4B2A3C-7409-4FCD-A695-1C226EF6EB84}"/>
              </a:ext>
            </a:extLst>
          </p:cNvPr>
          <p:cNvSpPr>
            <a:spLocks xmlns:a="http://schemas.openxmlformats.org/drawingml/2006/main" noGrp="1"/>
          </p:cNvSpPr>
          <p:nvPr/>
        </p:nvSpPr>
        <p:spPr>
          <a:xfrm xmlns:a="http://schemas.openxmlformats.org/drawingml/2006/main">
            <a:off x="609600" y="1104900"/>
            <a:ext cx="10972800" cy="0"/>
          </a:xfrm>
          <a:prstGeom xmlns:a="http://schemas.openxmlformats.org/drawingml/2006/main" prst="line">
            <a:avLst/>
          </a:prstGeom>
          <a:noFill xmlns:a="http://schemas.openxmlformats.org/drawingml/2006/main"/>
          <a:ln xmlns:a="http://schemas.openxmlformats.org/drawingml/2006/main" w="38100">
            <a:solidFill>
              <a:srgbClr val="167D86"/>
            </a:solidFill>
          </a:ln>
        </p:spPr>
      </p:sp>
      <p:sp>
        <p:nvSpPr>
          <p:cNvPr id="3" name="">
            <a:extLst xmlns:a="http://schemas.openxmlformats.org/drawingml/2006/main">
              <a:ext uri="{FF2B5EF4-FFF2-40B4-BE49-F238E27FC236}">
                <a16:creationId xmlns:a16="http://schemas.microsoft.com/office/drawing/2014/main" id="{D3F95D60-3724-4005-B71C-58D1F23CF300}"/>
              </a:ext>
            </a:extLst>
          </p:cNvPr>
          <p:cNvSpPr>
            <a:spLocks xmlns:a="http://schemas.openxmlformats.org/drawingml/2006/main" noGrp="1"/>
          </p:cNvSpPr>
          <p:nvPr/>
        </p:nvSpPr>
        <p:spPr>
          <a:xfrm xmlns:a="http://schemas.openxmlformats.org/drawingml/2006/main">
            <a:off x="609600" y="6448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IWFC  /  CMP 7001 PRES1</a:t>
            </a:r>
          </a:p>
        </p:txBody>
      </p:sp>
      <p:sp>
        <p:nvSpPr>
          <p:cNvPr id="4" name="">
            <a:extLst xmlns:a="http://schemas.openxmlformats.org/drawingml/2006/main">
              <a:ext uri="{FF2B5EF4-FFF2-40B4-BE49-F238E27FC236}">
                <a16:creationId xmlns:a16="http://schemas.microsoft.com/office/drawing/2014/main" id="{F92645BB-A143-4540-833B-E7A2F8647B3D}"/>
              </a:ext>
            </a:extLst>
          </p:cNvPr>
          <p:cNvSpPr>
            <a:spLocks xmlns:a="http://schemas.openxmlformats.org/drawingml/2006/main" noGrp="1"/>
          </p:cNvSpPr>
          <p:nvPr/>
        </p:nvSpPr>
        <p:spPr>
          <a:xfrm xmlns:a="http://schemas.openxmlformats.org/drawingml/2006/main">
            <a:off x="11068050" y="642937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5F6C76"/>
                </a:solidFill>
                <a:latin typeface="Arial"/>
                <a:ea typeface="Arial"/>
                <a:cs typeface="Arial"/>
              </a:defRPr>
            </a:pPr>
            <a:r>
              <a:rPr sz="975" b="1">
                <a:solidFill>
                  <a:srgbClr val="5F6C76"/>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DE7BF776-3758-41A7-8722-80D87F48D586}"/>
              </a:ext>
            </a:extLst>
          </p:cNvPr>
          <p:cNvSpPr>
            <a:spLocks xmlns:a="http://schemas.openxmlformats.org/drawingml/2006/main" noGrp="1"/>
          </p:cNvSpPr>
          <p:nvPr/>
        </p:nvSpPr>
        <p:spPr>
          <a:xfrm xmlns:a="http://schemas.openxmlformats.org/drawingml/2006/main">
            <a:off x="714375" y="1666875"/>
            <a:ext cx="390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324C"/>
                </a:solidFill>
                <a:latin typeface="Arial"/>
                <a:ea typeface="Arial"/>
                <a:cs typeface="Arial"/>
              </a:defRPr>
            </a:pPr>
            <a:r>
              <a:rPr sz="1725" b="1">
                <a:solidFill>
                  <a:srgbClr val="16324C"/>
                </a:solidFill>
                <a:latin typeface="Arial"/>
                <a:ea typeface="Arial"/>
                <a:cs typeface="Arial"/>
              </a:rPr>
              <a:t>InvalidBookingException</a:t>
            </a:r>
          </a:p>
        </p:txBody>
      </p:sp>
      <p:sp>
        <p:nvSpPr>
          <p:cNvPr id="6" name="">
            <a:extLst xmlns:a="http://schemas.openxmlformats.org/drawingml/2006/main">
              <a:ext uri="{FF2B5EF4-FFF2-40B4-BE49-F238E27FC236}">
                <a16:creationId xmlns:a16="http://schemas.microsoft.com/office/drawing/2014/main" id="{120DC3B5-BD3A-48E7-A5BE-092E5DC3BFCE}"/>
              </a:ext>
            </a:extLst>
          </p:cNvPr>
          <p:cNvSpPr>
            <a:spLocks xmlns:a="http://schemas.openxmlformats.org/drawingml/2006/main" noGrp="1"/>
          </p:cNvSpPr>
          <p:nvPr/>
        </p:nvSpPr>
        <p:spPr>
          <a:xfrm xmlns:a="http://schemas.openxmlformats.org/drawingml/2006/main">
            <a:off x="4705350" y="1666875"/>
            <a:ext cx="666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C2933"/>
                </a:solidFill>
                <a:latin typeface="Arial"/>
                <a:ea typeface="Arial"/>
                <a:cs typeface="Arial"/>
              </a:defRPr>
            </a:pPr>
            <a:r>
              <a:rPr sz="1575" b="0">
                <a:solidFill>
                  <a:srgbClr val="1C2933"/>
                </a:solidFill>
                <a:latin typeface="Arial"/>
                <a:ea typeface="Arial"/>
                <a:cs typeface="Arial"/>
              </a:rPr>
              <a:t>Hours, conflicts, unavailable equipment, full or repeat booking</a:t>
            </a:r>
          </a:p>
        </p:txBody>
      </p:sp>
      <p:sp>
        <p:nvSpPr>
          <p:cNvPr id="7" name="">
            <a:extLst xmlns:a="http://schemas.openxmlformats.org/drawingml/2006/main">
              <a:ext uri="{FF2B5EF4-FFF2-40B4-BE49-F238E27FC236}">
                <a16:creationId xmlns:a16="http://schemas.microsoft.com/office/drawing/2014/main" id="{F63AD4BC-64BC-4D51-A07F-EB784CA67E11}"/>
              </a:ext>
            </a:extLst>
          </p:cNvPr>
          <p:cNvSpPr>
            <a:spLocks xmlns:a="http://schemas.openxmlformats.org/drawingml/2006/main" noGrp="1"/>
          </p:cNvSpPr>
          <p:nvPr/>
        </p:nvSpPr>
        <p:spPr>
          <a:xfrm xmlns:a="http://schemas.openxmlformats.org/drawingml/2006/main">
            <a:off x="714375" y="2438400"/>
            <a:ext cx="10668000"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8" name="">
            <a:extLst xmlns:a="http://schemas.openxmlformats.org/drawingml/2006/main">
              <a:ext uri="{FF2B5EF4-FFF2-40B4-BE49-F238E27FC236}">
                <a16:creationId xmlns:a16="http://schemas.microsoft.com/office/drawing/2014/main" id="{C47BB15F-7FFC-4B95-9AD6-ED15FEA78BD2}"/>
              </a:ext>
            </a:extLst>
          </p:cNvPr>
          <p:cNvSpPr>
            <a:spLocks xmlns:a="http://schemas.openxmlformats.org/drawingml/2006/main" noGrp="1"/>
          </p:cNvSpPr>
          <p:nvPr/>
        </p:nvSpPr>
        <p:spPr>
          <a:xfrm xmlns:a="http://schemas.openxmlformats.org/drawingml/2006/main">
            <a:off x="714375" y="2724150"/>
            <a:ext cx="390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324C"/>
                </a:solidFill>
                <a:latin typeface="Arial"/>
                <a:ea typeface="Arial"/>
                <a:cs typeface="Arial"/>
              </a:defRPr>
            </a:pPr>
            <a:r>
              <a:rPr sz="1725" b="1">
                <a:solidFill>
                  <a:srgbClr val="16324C"/>
                </a:solidFill>
                <a:latin typeface="Arial"/>
                <a:ea typeface="Arial"/>
                <a:cs typeface="Arial"/>
              </a:rPr>
              <a:t>UnauthorizedAccessException</a:t>
            </a:r>
          </a:p>
        </p:txBody>
      </p:sp>
      <p:sp>
        <p:nvSpPr>
          <p:cNvPr id="9" name="">
            <a:extLst xmlns:a="http://schemas.openxmlformats.org/drawingml/2006/main">
              <a:ext uri="{FF2B5EF4-FFF2-40B4-BE49-F238E27FC236}">
                <a16:creationId xmlns:a16="http://schemas.microsoft.com/office/drawing/2014/main" id="{862A3DCC-5275-473A-AFB1-0CF1AE0C1BD2}"/>
              </a:ext>
            </a:extLst>
          </p:cNvPr>
          <p:cNvSpPr>
            <a:spLocks xmlns:a="http://schemas.openxmlformats.org/drawingml/2006/main" noGrp="1"/>
          </p:cNvSpPr>
          <p:nvPr/>
        </p:nvSpPr>
        <p:spPr>
          <a:xfrm xmlns:a="http://schemas.openxmlformats.org/drawingml/2006/main">
            <a:off x="4705350" y="2724150"/>
            <a:ext cx="666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C2933"/>
                </a:solidFill>
                <a:latin typeface="Arial"/>
                <a:ea typeface="Arial"/>
                <a:cs typeface="Arial"/>
              </a:defRPr>
            </a:pPr>
            <a:r>
              <a:rPr sz="1575" b="0">
                <a:solidFill>
                  <a:srgbClr val="1C2933"/>
                </a:solidFill>
                <a:latin typeface="Arial"/>
                <a:ea typeface="Arial"/>
                <a:cs typeface="Arial"/>
              </a:rPr>
              <a:t>Wrong role, inactive or unregistered actor</a:t>
            </a:r>
          </a:p>
        </p:txBody>
      </p:sp>
      <p:sp>
        <p:nvSpPr>
          <p:cNvPr id="10" name="">
            <a:extLst xmlns:a="http://schemas.openxmlformats.org/drawingml/2006/main">
              <a:ext uri="{FF2B5EF4-FFF2-40B4-BE49-F238E27FC236}">
                <a16:creationId xmlns:a16="http://schemas.microsoft.com/office/drawing/2014/main" id="{C01E6B73-025C-453E-BBBC-32F4E3051F6D}"/>
              </a:ext>
            </a:extLst>
          </p:cNvPr>
          <p:cNvSpPr>
            <a:spLocks xmlns:a="http://schemas.openxmlformats.org/drawingml/2006/main" noGrp="1"/>
          </p:cNvSpPr>
          <p:nvPr/>
        </p:nvSpPr>
        <p:spPr>
          <a:xfrm xmlns:a="http://schemas.openxmlformats.org/drawingml/2006/main">
            <a:off x="714375" y="3495675"/>
            <a:ext cx="10668000"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11" name="">
            <a:extLst xmlns:a="http://schemas.openxmlformats.org/drawingml/2006/main">
              <a:ext uri="{FF2B5EF4-FFF2-40B4-BE49-F238E27FC236}">
                <a16:creationId xmlns:a16="http://schemas.microsoft.com/office/drawing/2014/main" id="{F3EDB591-32B9-44D7-A39B-E7773C381017}"/>
              </a:ext>
            </a:extLst>
          </p:cNvPr>
          <p:cNvSpPr>
            <a:spLocks xmlns:a="http://schemas.openxmlformats.org/drawingml/2006/main" noGrp="1"/>
          </p:cNvSpPr>
          <p:nvPr/>
        </p:nvSpPr>
        <p:spPr>
          <a:xfrm xmlns:a="http://schemas.openxmlformats.org/drawingml/2006/main">
            <a:off x="714375" y="3781425"/>
            <a:ext cx="390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324C"/>
                </a:solidFill>
                <a:latin typeface="Arial"/>
                <a:ea typeface="Arial"/>
                <a:cs typeface="Arial"/>
              </a:defRPr>
            </a:pPr>
            <a:r>
              <a:rPr sz="1725" b="1">
                <a:solidFill>
                  <a:srgbClr val="16324C"/>
                </a:solidFill>
                <a:latin typeface="Arial"/>
                <a:ea typeface="Arial"/>
                <a:cs typeface="Arial"/>
              </a:rPr>
              <a:t>DuplicateDataException</a:t>
            </a:r>
          </a:p>
        </p:txBody>
      </p:sp>
      <p:sp>
        <p:nvSpPr>
          <p:cNvPr id="12" name="">
            <a:extLst xmlns:a="http://schemas.openxmlformats.org/drawingml/2006/main">
              <a:ext uri="{FF2B5EF4-FFF2-40B4-BE49-F238E27FC236}">
                <a16:creationId xmlns:a16="http://schemas.microsoft.com/office/drawing/2014/main" id="{39C3BE96-26F9-45F7-9ACC-30744A8C1458}"/>
              </a:ext>
            </a:extLst>
          </p:cNvPr>
          <p:cNvSpPr>
            <a:spLocks xmlns:a="http://schemas.openxmlformats.org/drawingml/2006/main" noGrp="1"/>
          </p:cNvSpPr>
          <p:nvPr/>
        </p:nvSpPr>
        <p:spPr>
          <a:xfrm xmlns:a="http://schemas.openxmlformats.org/drawingml/2006/main">
            <a:off x="4705350" y="3781425"/>
            <a:ext cx="666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C2933"/>
                </a:solidFill>
                <a:latin typeface="Arial"/>
                <a:ea typeface="Arial"/>
                <a:cs typeface="Arial"/>
              </a:defRPr>
            </a:pPr>
            <a:r>
              <a:rPr sz="1575" b="0">
                <a:solidFill>
                  <a:srgbClr val="1C2933"/>
                </a:solidFill>
                <a:latin typeface="Arial"/>
                <a:ea typeface="Arial"/>
                <a:cs typeface="Arial"/>
              </a:rPr>
              <a:t>Repeated user, equipment, session or maintenance ID</a:t>
            </a:r>
          </a:p>
        </p:txBody>
      </p:sp>
      <p:sp>
        <p:nvSpPr>
          <p:cNvPr id="13" name="">
            <a:extLst xmlns:a="http://schemas.openxmlformats.org/drawingml/2006/main">
              <a:ext uri="{FF2B5EF4-FFF2-40B4-BE49-F238E27FC236}">
                <a16:creationId xmlns:a16="http://schemas.microsoft.com/office/drawing/2014/main" id="{8FDFB02F-47E3-4D6B-BE07-C48C44A027FE}"/>
              </a:ext>
            </a:extLst>
          </p:cNvPr>
          <p:cNvSpPr>
            <a:spLocks xmlns:a="http://schemas.openxmlformats.org/drawingml/2006/main" noGrp="1"/>
          </p:cNvSpPr>
          <p:nvPr/>
        </p:nvSpPr>
        <p:spPr>
          <a:xfrm xmlns:a="http://schemas.openxmlformats.org/drawingml/2006/main">
            <a:off x="714375" y="4552950"/>
            <a:ext cx="10668000" cy="0"/>
          </a:xfrm>
          <a:prstGeom xmlns:a="http://schemas.openxmlformats.org/drawingml/2006/main" prst="line">
            <a:avLst/>
          </a:prstGeom>
          <a:noFill xmlns:a="http://schemas.openxmlformats.org/drawingml/2006/main"/>
          <a:ln xmlns:a="http://schemas.openxmlformats.org/drawingml/2006/main" w="9525">
            <a:solidFill>
              <a:srgbClr val="C7D5DE"/>
            </a:solidFill>
          </a:ln>
        </p:spPr>
      </p:sp>
      <p:sp>
        <p:nvSpPr>
          <p:cNvPr id="14" name="">
            <a:extLst xmlns:a="http://schemas.openxmlformats.org/drawingml/2006/main">
              <a:ext uri="{FF2B5EF4-FFF2-40B4-BE49-F238E27FC236}">
                <a16:creationId xmlns:a16="http://schemas.microsoft.com/office/drawing/2014/main" id="{4DEAC58B-F6CE-4FFD-9BEB-C8C66AE7801F}"/>
              </a:ext>
            </a:extLst>
          </p:cNvPr>
          <p:cNvSpPr>
            <a:spLocks xmlns:a="http://schemas.openxmlformats.org/drawingml/2006/main" noGrp="1"/>
          </p:cNvSpPr>
          <p:nvPr/>
        </p:nvSpPr>
        <p:spPr>
          <a:xfrm xmlns:a="http://schemas.openxmlformats.org/drawingml/2006/main">
            <a:off x="714375" y="4838700"/>
            <a:ext cx="390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6324C"/>
                </a:solidFill>
                <a:latin typeface="Arial"/>
                <a:ea typeface="Arial"/>
                <a:cs typeface="Arial"/>
              </a:defRPr>
            </a:pPr>
            <a:r>
              <a:rPr sz="1725" b="1">
                <a:solidFill>
                  <a:srgbClr val="16324C"/>
                </a:solidFill>
                <a:latin typeface="Arial"/>
                <a:ea typeface="Arial"/>
                <a:cs typeface="Arial"/>
              </a:rPr>
              <a:t>IllegalStateException</a:t>
            </a:r>
          </a:p>
        </p:txBody>
      </p:sp>
      <p:sp>
        <p:nvSpPr>
          <p:cNvPr id="15" name="">
            <a:extLst xmlns:a="http://schemas.openxmlformats.org/drawingml/2006/main">
              <a:ext uri="{FF2B5EF4-FFF2-40B4-BE49-F238E27FC236}">
                <a16:creationId xmlns:a16="http://schemas.microsoft.com/office/drawing/2014/main" id="{1164BDA4-1279-4045-9EFA-A59F5CE7EACB}"/>
              </a:ext>
            </a:extLst>
          </p:cNvPr>
          <p:cNvSpPr>
            <a:spLocks xmlns:a="http://schemas.openxmlformats.org/drawingml/2006/main" noGrp="1"/>
          </p:cNvSpPr>
          <p:nvPr/>
        </p:nvSpPr>
        <p:spPr>
          <a:xfrm xmlns:a="http://schemas.openxmlformats.org/drawingml/2006/main">
            <a:off x="4705350" y="4838700"/>
            <a:ext cx="666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C2933"/>
                </a:solidFill>
                <a:latin typeface="Arial"/>
                <a:ea typeface="Arial"/>
                <a:cs typeface="Arial"/>
              </a:defRPr>
            </a:pPr>
            <a:r>
              <a:rPr sz="1575" b="0">
                <a:solidFill>
                  <a:srgbClr val="1C2933"/>
                </a:solidFill>
                <a:latin typeface="Arial"/>
                <a:ea typeface="Arial"/>
                <a:cs typeface="Arial"/>
              </a:rPr>
              <a:t>Invalid maintenance status transition</a:t>
            </a:r>
          </a:p>
        </p:txBody>
      </p:sp>
      <p:sp>
        <p:nvSpPr>
          <p:cNvPr id="16" name="">
            <a:extLst xmlns:a="http://schemas.openxmlformats.org/drawingml/2006/main">
              <a:ext uri="{FF2B5EF4-FFF2-40B4-BE49-F238E27FC236}">
                <a16:creationId xmlns:a16="http://schemas.microsoft.com/office/drawing/2014/main" id="{B9A6394A-7089-4433-884B-12820D3A8C61}"/>
              </a:ext>
            </a:extLst>
          </p:cNvPr>
          <p:cNvSpPr>
            <a:spLocks xmlns:a="http://schemas.openxmlformats.org/drawingml/2006/main" noGrp="1"/>
          </p:cNvSpPr>
          <p:nvPr/>
        </p:nvSpPr>
        <p:spPr>
          <a:xfrm xmlns:a="http://schemas.openxmlformats.org/drawingml/2006/main">
            <a:off x="714375" y="5610225"/>
            <a:ext cx="10668000" cy="0"/>
          </a:xfrm>
          <a:prstGeom xmlns:a="http://schemas.openxmlformats.org/drawingml/2006/main" prst="line">
            <a:avLst/>
          </a:prstGeom>
          <a:noFill xmlns:a="http://schemas.openxmlformats.org/drawingml/2006/main"/>
          <a:ln xmlns:a="http://schemas.openxmlformats.org/drawingml/2006/main" w="9525">
            <a:solidFill>
              <a:srgbClr val="C7D5DE"/>
            </a:solidFill>
          </a:ln>
        </p:spPr>
      </p:sp>
    </p:spTree>
    <p:extLst>
      <p:ext uri="{BB962C8B-B14F-4D97-AF65-F5344CB8AC3E}">
        <p14:creationId xmlns:p14="http://schemas.microsoft.com/office/powerpoint/2010/main" val="169939576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ACA20A5-7214-4CF6-92EA-F6FFDFB0C05B}"/>
              </a:ext>
            </a:extLst>
          </p:cNvPr>
          <p:cNvSpPr>
            <a:spLocks xmlns:a="http://schemas.openxmlformats.org/drawingml/2006/main" noGrp="1"/>
          </p:cNvSpPr>
          <p:nvPr/>
        </p:nvSpPr>
        <p:spPr>
          <a:xfrm xmlns:a="http://schemas.openxmlformats.org/drawingml/2006/main">
            <a:off x="609600" y="419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24C"/>
                </a:solidFill>
                <a:latin typeface="Arial"/>
                <a:ea typeface="Arial"/>
                <a:cs typeface="Arial"/>
              </a:defRPr>
            </a:pPr>
            <a:r>
              <a:rPr sz="2700" b="1">
                <a:solidFill>
                  <a:srgbClr val="16324C"/>
                </a:solidFill>
                <a:latin typeface="Arial"/>
                <a:ea typeface="Arial"/>
                <a:cs typeface="Arial"/>
              </a:rPr>
              <a:t>Verification with 142 passing tests</a:t>
            </a:r>
          </a:p>
        </p:txBody>
      </p:sp>
      <p:sp>
        <p:nvSpPr>
          <p:cNvPr id="2" name="">
            <a:extLst xmlns:a="http://schemas.openxmlformats.org/drawingml/2006/main">
              <a:ext uri="{FF2B5EF4-FFF2-40B4-BE49-F238E27FC236}">
                <a16:creationId xmlns:a16="http://schemas.microsoft.com/office/drawing/2014/main" id="{45F06045-E01F-4F06-8E4B-ED8477D748C3}"/>
              </a:ext>
            </a:extLst>
          </p:cNvPr>
          <p:cNvSpPr>
            <a:spLocks xmlns:a="http://schemas.openxmlformats.org/drawingml/2006/main" noGrp="1"/>
          </p:cNvSpPr>
          <p:nvPr/>
        </p:nvSpPr>
        <p:spPr>
          <a:xfrm xmlns:a="http://schemas.openxmlformats.org/drawingml/2006/main">
            <a:off x="609600" y="1104900"/>
            <a:ext cx="10972800" cy="0"/>
          </a:xfrm>
          <a:prstGeom xmlns:a="http://schemas.openxmlformats.org/drawingml/2006/main" prst="line">
            <a:avLst/>
          </a:prstGeom>
          <a:noFill xmlns:a="http://schemas.openxmlformats.org/drawingml/2006/main"/>
          <a:ln xmlns:a="http://schemas.openxmlformats.org/drawingml/2006/main" w="38100">
            <a:solidFill>
              <a:srgbClr val="167D86"/>
            </a:solidFill>
          </a:ln>
        </p:spPr>
      </p:sp>
      <p:sp>
        <p:nvSpPr>
          <p:cNvPr id="3" name="">
            <a:extLst xmlns:a="http://schemas.openxmlformats.org/drawingml/2006/main">
              <a:ext uri="{FF2B5EF4-FFF2-40B4-BE49-F238E27FC236}">
                <a16:creationId xmlns:a16="http://schemas.microsoft.com/office/drawing/2014/main" id="{ABB37F16-F630-478F-97B5-9C6159C2F398}"/>
              </a:ext>
            </a:extLst>
          </p:cNvPr>
          <p:cNvSpPr>
            <a:spLocks xmlns:a="http://schemas.openxmlformats.org/drawingml/2006/main" noGrp="1"/>
          </p:cNvSpPr>
          <p:nvPr/>
        </p:nvSpPr>
        <p:spPr>
          <a:xfrm xmlns:a="http://schemas.openxmlformats.org/drawingml/2006/main">
            <a:off x="609600" y="6448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IWFC  /  CMP 7001 PRES1</a:t>
            </a:r>
          </a:p>
        </p:txBody>
      </p:sp>
      <p:sp>
        <p:nvSpPr>
          <p:cNvPr id="4" name="">
            <a:extLst xmlns:a="http://schemas.openxmlformats.org/drawingml/2006/main">
              <a:ext uri="{FF2B5EF4-FFF2-40B4-BE49-F238E27FC236}">
                <a16:creationId xmlns:a16="http://schemas.microsoft.com/office/drawing/2014/main" id="{092292A6-012B-43E6-87E6-ACBA234323A7}"/>
              </a:ext>
            </a:extLst>
          </p:cNvPr>
          <p:cNvSpPr>
            <a:spLocks xmlns:a="http://schemas.openxmlformats.org/drawingml/2006/main" noGrp="1"/>
          </p:cNvSpPr>
          <p:nvPr/>
        </p:nvSpPr>
        <p:spPr>
          <a:xfrm xmlns:a="http://schemas.openxmlformats.org/drawingml/2006/main">
            <a:off x="11068050" y="642937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5F6C76"/>
                </a:solidFill>
                <a:latin typeface="Arial"/>
                <a:ea typeface="Arial"/>
                <a:cs typeface="Arial"/>
              </a:defRPr>
            </a:pPr>
            <a:r>
              <a:rPr sz="975" b="1">
                <a:solidFill>
                  <a:srgbClr val="5F6C76"/>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56A05EA9-740C-45CB-84DD-D3B0791ABBC2}"/>
              </a:ext>
            </a:extLst>
          </p:cNvPr>
          <p:cNvSpPr>
            <a:spLocks xmlns:a="http://schemas.openxmlformats.org/drawingml/2006/main" noGrp="1"/>
          </p:cNvSpPr>
          <p:nvPr/>
        </p:nvSpPr>
        <p:spPr>
          <a:xfrm xmlns:a="http://schemas.openxmlformats.org/drawingml/2006/main">
            <a:off x="733425" y="1657350"/>
            <a:ext cx="428625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875" b="1">
                <a:solidFill>
                  <a:srgbClr val="167D86"/>
                </a:solidFill>
                <a:latin typeface="Arial"/>
                <a:ea typeface="Arial"/>
                <a:cs typeface="Arial"/>
              </a:defRPr>
            </a:pPr>
            <a:r>
              <a:rPr sz="7875" b="1">
                <a:solidFill>
                  <a:srgbClr val="167D86"/>
                </a:solidFill>
                <a:latin typeface="Arial"/>
                <a:ea typeface="Arial"/>
                <a:cs typeface="Arial"/>
              </a:rPr>
              <a:t>142</a:t>
            </a:r>
          </a:p>
        </p:txBody>
      </p:sp>
      <p:sp>
        <p:nvSpPr>
          <p:cNvPr id="6" name="">
            <a:extLst xmlns:a="http://schemas.openxmlformats.org/drawingml/2006/main">
              <a:ext uri="{FF2B5EF4-FFF2-40B4-BE49-F238E27FC236}">
                <a16:creationId xmlns:a16="http://schemas.microsoft.com/office/drawing/2014/main" id="{BC6E6288-DF00-4DA5-8A34-D79AAF72DC55}"/>
              </a:ext>
            </a:extLst>
          </p:cNvPr>
          <p:cNvSpPr>
            <a:spLocks xmlns:a="http://schemas.openxmlformats.org/drawingml/2006/main" noGrp="1"/>
          </p:cNvSpPr>
          <p:nvPr/>
        </p:nvSpPr>
        <p:spPr>
          <a:xfrm xmlns:a="http://schemas.openxmlformats.org/drawingml/2006/main">
            <a:off x="714375" y="3305175"/>
            <a:ext cx="619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6324C"/>
                </a:solidFill>
                <a:latin typeface="Arial"/>
                <a:ea typeface="Arial"/>
                <a:cs typeface="Arial"/>
              </a:defRPr>
            </a:pPr>
            <a:r>
              <a:rPr sz="2550" b="1">
                <a:solidFill>
                  <a:srgbClr val="16324C"/>
                </a:solidFill>
                <a:latin typeface="Arial"/>
                <a:ea typeface="Arial"/>
                <a:cs typeface="Arial"/>
              </a:rPr>
              <a:t>passing JUnit tests</a:t>
            </a:r>
          </a:p>
        </p:txBody>
      </p:sp>
      <p:sp>
        <p:nvSpPr>
          <p:cNvPr id="7" name="">
            <a:extLst xmlns:a="http://schemas.openxmlformats.org/drawingml/2006/main">
              <a:ext uri="{FF2B5EF4-FFF2-40B4-BE49-F238E27FC236}">
                <a16:creationId xmlns:a16="http://schemas.microsoft.com/office/drawing/2014/main" id="{217873C2-80AA-4AD6-894B-110D768D3466}"/>
              </a:ext>
            </a:extLst>
          </p:cNvPr>
          <p:cNvSpPr>
            <a:spLocks xmlns:a="http://schemas.openxmlformats.org/drawingml/2006/main" noGrp="1"/>
          </p:cNvSpPr>
          <p:nvPr/>
        </p:nvSpPr>
        <p:spPr>
          <a:xfrm xmlns:a="http://schemas.openxmlformats.org/drawingml/2006/main">
            <a:off x="714375" y="40957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C2933"/>
                </a:solidFill>
                <a:latin typeface="Arial"/>
                <a:ea typeface="Arial"/>
                <a:cs typeface="Arial"/>
              </a:defRPr>
            </a:pPr>
            <a:r>
              <a:rPr sz="1950" b="0">
                <a:solidFill>
                  <a:srgbClr val="1C2933"/>
                </a:solidFill>
                <a:latin typeface="Arial"/>
                <a:ea typeface="Arial"/>
                <a:cs typeface="Arial"/>
              </a:rPr>
              <a:t>14 suites   /   0 failures   /   0 errors   /   0 skipped</a:t>
            </a:r>
          </a:p>
        </p:txBody>
      </p:sp>
      <p:sp>
        <p:nvSpPr>
          <p:cNvPr id="8" name="">
            <a:extLst xmlns:a="http://schemas.openxmlformats.org/drawingml/2006/main">
              <a:ext uri="{FF2B5EF4-FFF2-40B4-BE49-F238E27FC236}">
                <a16:creationId xmlns:a16="http://schemas.microsoft.com/office/drawing/2014/main" id="{87D6E3C6-42B0-40AA-BD7C-503173789C82}"/>
              </a:ext>
            </a:extLst>
          </p:cNvPr>
          <p:cNvSpPr>
            <a:spLocks xmlns:a="http://schemas.openxmlformats.org/drawingml/2006/main" noGrp="1"/>
          </p:cNvSpPr>
          <p:nvPr/>
        </p:nvSpPr>
        <p:spPr>
          <a:xfrm xmlns:a="http://schemas.openxmlformats.org/drawingml/2006/main">
            <a:off x="714375" y="5038725"/>
            <a:ext cx="10525125" cy="0"/>
          </a:xfrm>
          <a:prstGeom xmlns:a="http://schemas.openxmlformats.org/drawingml/2006/main" prst="line">
            <a:avLst/>
          </a:prstGeom>
          <a:noFill xmlns:a="http://schemas.openxmlformats.org/drawingml/2006/main"/>
          <a:ln xmlns:a="http://schemas.openxmlformats.org/drawingml/2006/main" w="19050">
            <a:solidFill>
              <a:srgbClr val="C7D5DE"/>
            </a:solidFill>
          </a:ln>
        </p:spPr>
      </p:sp>
      <p:sp>
        <p:nvSpPr>
          <p:cNvPr id="9" name="">
            <a:extLst xmlns:a="http://schemas.openxmlformats.org/drawingml/2006/main">
              <a:ext uri="{FF2B5EF4-FFF2-40B4-BE49-F238E27FC236}">
                <a16:creationId xmlns:a16="http://schemas.microsoft.com/office/drawing/2014/main" id="{1ED8CCFA-4948-4205-B87F-5989A2C966E5}"/>
              </a:ext>
            </a:extLst>
          </p:cNvPr>
          <p:cNvSpPr>
            <a:spLocks xmlns:a="http://schemas.openxmlformats.org/drawingml/2006/main" noGrp="1"/>
          </p:cNvSpPr>
          <p:nvPr/>
        </p:nvSpPr>
        <p:spPr>
          <a:xfrm xmlns:a="http://schemas.openxmlformats.org/drawingml/2006/main">
            <a:off x="714375" y="5381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C76"/>
                </a:solidFill>
                <a:latin typeface="Arial"/>
                <a:ea typeface="Arial"/>
                <a:cs typeface="Arial"/>
              </a:defRPr>
            </a:pPr>
            <a:r>
              <a:rPr sz="1650" b="0">
                <a:solidFill>
                  <a:srgbClr val="5F6C76"/>
                </a:solidFill>
                <a:latin typeface="Arial"/>
                <a:ea typeface="Arial"/>
                <a:cs typeface="Arial"/>
              </a:rPr>
              <a:t>Boundaries: 06:00 to 22:00     1 to 12 weeks     99.9 / 100 hours</a:t>
            </a:r>
          </a:p>
        </p:txBody>
      </p:sp>
    </p:spTree>
    <p:extLst>
      <p:ext uri="{BB962C8B-B14F-4D97-AF65-F5344CB8AC3E}">
        <p14:creationId xmlns:p14="http://schemas.microsoft.com/office/powerpoint/2010/main" val="63343931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714692-5EF6-446F-833C-00C9525AE72F}"/>
              </a:ext>
            </a:extLst>
          </p:cNvPr>
          <p:cNvSpPr>
            <a:spLocks xmlns:a="http://schemas.openxmlformats.org/drawingml/2006/main" noGrp="1"/>
          </p:cNvSpPr>
          <p:nvPr/>
        </p:nvSpPr>
        <p:spPr>
          <a:xfrm xmlns:a="http://schemas.openxmlformats.org/drawingml/2006/main">
            <a:off x="609600" y="419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24C"/>
                </a:solidFill>
                <a:latin typeface="Arial"/>
                <a:ea typeface="Arial"/>
                <a:cs typeface="Arial"/>
              </a:defRPr>
            </a:pPr>
            <a:r>
              <a:rPr sz="2700" b="1">
                <a:solidFill>
                  <a:srgbClr val="16324C"/>
                </a:solidFill>
                <a:latin typeface="Arial"/>
                <a:ea typeface="Arial"/>
                <a:cs typeface="Arial"/>
              </a:rPr>
              <a:t>Integration and defect reflection</a:t>
            </a:r>
          </a:p>
        </p:txBody>
      </p:sp>
      <p:sp>
        <p:nvSpPr>
          <p:cNvPr id="2" name="">
            <a:extLst xmlns:a="http://schemas.openxmlformats.org/drawingml/2006/main">
              <a:ext uri="{FF2B5EF4-FFF2-40B4-BE49-F238E27FC236}">
                <a16:creationId xmlns:a16="http://schemas.microsoft.com/office/drawing/2014/main" id="{85AA6878-9C4E-4CB5-AF43-6A539AFE1001}"/>
              </a:ext>
            </a:extLst>
          </p:cNvPr>
          <p:cNvSpPr>
            <a:spLocks xmlns:a="http://schemas.openxmlformats.org/drawingml/2006/main" noGrp="1"/>
          </p:cNvSpPr>
          <p:nvPr/>
        </p:nvSpPr>
        <p:spPr>
          <a:xfrm xmlns:a="http://schemas.openxmlformats.org/drawingml/2006/main">
            <a:off x="609600" y="1104900"/>
            <a:ext cx="10972800" cy="0"/>
          </a:xfrm>
          <a:prstGeom xmlns:a="http://schemas.openxmlformats.org/drawingml/2006/main" prst="line">
            <a:avLst/>
          </a:prstGeom>
          <a:noFill xmlns:a="http://schemas.openxmlformats.org/drawingml/2006/main"/>
          <a:ln xmlns:a="http://schemas.openxmlformats.org/drawingml/2006/main" w="38100">
            <a:solidFill>
              <a:srgbClr val="167D86"/>
            </a:solidFill>
          </a:ln>
        </p:spPr>
      </p:sp>
      <p:sp>
        <p:nvSpPr>
          <p:cNvPr id="3" name="">
            <a:extLst xmlns:a="http://schemas.openxmlformats.org/drawingml/2006/main">
              <a:ext uri="{FF2B5EF4-FFF2-40B4-BE49-F238E27FC236}">
                <a16:creationId xmlns:a16="http://schemas.microsoft.com/office/drawing/2014/main" id="{4109891D-351A-47F8-B8CE-C53C8F80004D}"/>
              </a:ext>
            </a:extLst>
          </p:cNvPr>
          <p:cNvSpPr>
            <a:spLocks xmlns:a="http://schemas.openxmlformats.org/drawingml/2006/main" noGrp="1"/>
          </p:cNvSpPr>
          <p:nvPr/>
        </p:nvSpPr>
        <p:spPr>
          <a:xfrm xmlns:a="http://schemas.openxmlformats.org/drawingml/2006/main">
            <a:off x="609600" y="6448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IWFC  /  CMP 7001 PRES1</a:t>
            </a:r>
          </a:p>
        </p:txBody>
      </p:sp>
      <p:sp>
        <p:nvSpPr>
          <p:cNvPr id="4" name="">
            <a:extLst xmlns:a="http://schemas.openxmlformats.org/drawingml/2006/main">
              <a:ext uri="{FF2B5EF4-FFF2-40B4-BE49-F238E27FC236}">
                <a16:creationId xmlns:a16="http://schemas.microsoft.com/office/drawing/2014/main" id="{B90086D1-DB98-4E4D-83C5-7B96AB314417}"/>
              </a:ext>
            </a:extLst>
          </p:cNvPr>
          <p:cNvSpPr>
            <a:spLocks xmlns:a="http://schemas.openxmlformats.org/drawingml/2006/main" noGrp="1"/>
          </p:cNvSpPr>
          <p:nvPr/>
        </p:nvSpPr>
        <p:spPr>
          <a:xfrm xmlns:a="http://schemas.openxmlformats.org/drawingml/2006/main">
            <a:off x="11068050" y="642937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5F6C76"/>
                </a:solidFill>
                <a:latin typeface="Arial"/>
                <a:ea typeface="Arial"/>
                <a:cs typeface="Arial"/>
              </a:defRPr>
            </a:pPr>
            <a:r>
              <a:rPr sz="975" b="1">
                <a:solidFill>
                  <a:srgbClr val="5F6C76"/>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FF4E4A87-5343-485D-8E39-7DD0BC31D012}"/>
              </a:ext>
            </a:extLst>
          </p:cNvPr>
          <p:cNvSpPr>
            <a:spLocks xmlns:a="http://schemas.openxmlformats.org/drawingml/2006/main" noGrp="1"/>
          </p:cNvSpPr>
          <p:nvPr/>
        </p:nvSpPr>
        <p:spPr>
          <a:xfrm xmlns:a="http://schemas.openxmlformats.org/drawingml/2006/main">
            <a:off x="714375" y="1762125"/>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167D86"/>
                </a:solidFill>
                <a:latin typeface="Arial"/>
                <a:ea typeface="Arial"/>
                <a:cs typeface="Arial"/>
              </a:defRPr>
            </a:pPr>
            <a:r>
              <a:rPr sz="1200" b="1">
                <a:solidFill>
                  <a:srgbClr val="167D86"/>
                </a:solidFill>
                <a:latin typeface="Arial"/>
                <a:ea typeface="Arial"/>
                <a:cs typeface="Arial"/>
              </a:rPr>
              <a:t>SUCCESSFUL PATH</a:t>
            </a:r>
          </a:p>
        </p:txBody>
      </p:sp>
      <p:sp>
        <p:nvSpPr>
          <p:cNvPr id="6" name="">
            <a:extLst xmlns:a="http://schemas.openxmlformats.org/drawingml/2006/main">
              <a:ext uri="{FF2B5EF4-FFF2-40B4-BE49-F238E27FC236}">
                <a16:creationId xmlns:a16="http://schemas.microsoft.com/office/drawing/2014/main" id="{E64911C2-CB8B-42EA-B4DD-A5218F7EEF0B}"/>
              </a:ext>
            </a:extLst>
          </p:cNvPr>
          <p:cNvSpPr>
            <a:spLocks xmlns:a="http://schemas.openxmlformats.org/drawingml/2006/main" noGrp="1"/>
          </p:cNvSpPr>
          <p:nvPr/>
        </p:nvSpPr>
        <p:spPr>
          <a:xfrm xmlns:a="http://schemas.openxmlformats.org/drawingml/2006/main">
            <a:off x="714375" y="2162175"/>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6324C"/>
                </a:solidFill>
                <a:latin typeface="Arial"/>
                <a:ea typeface="Arial"/>
                <a:cs typeface="Arial"/>
              </a:defRPr>
            </a:pPr>
            <a:r>
              <a:rPr sz="1875" b="1">
                <a:solidFill>
                  <a:srgbClr val="16324C"/>
                </a:solidFill>
                <a:latin typeface="Arial"/>
                <a:ea typeface="Arial"/>
                <a:cs typeface="Arial"/>
              </a:rPr>
              <a:t>Register  →  equip  →  schedule  →  book  →  use  →  report  →  assign  →  complete</a:t>
            </a:r>
          </a:p>
        </p:txBody>
      </p:sp>
      <p:sp>
        <p:nvSpPr>
          <p:cNvPr id="7" name="">
            <a:extLst xmlns:a="http://schemas.openxmlformats.org/drawingml/2006/main">
              <a:ext uri="{FF2B5EF4-FFF2-40B4-BE49-F238E27FC236}">
                <a16:creationId xmlns:a16="http://schemas.microsoft.com/office/drawing/2014/main" id="{FA00E0C7-284A-4D2F-96BB-A5FFC6A4E4E7}"/>
              </a:ext>
            </a:extLst>
          </p:cNvPr>
          <p:cNvSpPr>
            <a:spLocks xmlns:a="http://schemas.openxmlformats.org/drawingml/2006/main" noGrp="1"/>
          </p:cNvSpPr>
          <p:nvPr/>
        </p:nvSpPr>
        <p:spPr>
          <a:xfrm xmlns:a="http://schemas.openxmlformats.org/drawingml/2006/main">
            <a:off x="714375" y="3400425"/>
            <a:ext cx="10525125" cy="0"/>
          </a:xfrm>
          <a:prstGeom xmlns:a="http://schemas.openxmlformats.org/drawingml/2006/main" prst="line">
            <a:avLst/>
          </a:prstGeom>
          <a:noFill xmlns:a="http://schemas.openxmlformats.org/drawingml/2006/main"/>
          <a:ln xmlns:a="http://schemas.openxmlformats.org/drawingml/2006/main" w="19050">
            <a:solidFill>
              <a:srgbClr val="C7D5DE"/>
            </a:solidFill>
          </a:ln>
        </p:spPr>
      </p:sp>
      <p:sp>
        <p:nvSpPr>
          <p:cNvPr id="8" name="">
            <a:extLst xmlns:a="http://schemas.openxmlformats.org/drawingml/2006/main">
              <a:ext uri="{FF2B5EF4-FFF2-40B4-BE49-F238E27FC236}">
                <a16:creationId xmlns:a16="http://schemas.microsoft.com/office/drawing/2014/main" id="{2C5849F3-B41F-4A6A-ABE3-FD6D0050BF77}"/>
              </a:ext>
            </a:extLst>
          </p:cNvPr>
          <p:cNvSpPr>
            <a:spLocks xmlns:a="http://schemas.openxmlformats.org/drawingml/2006/main" noGrp="1"/>
          </p:cNvSpPr>
          <p:nvPr/>
        </p:nvSpPr>
        <p:spPr>
          <a:xfrm xmlns:a="http://schemas.openxmlformats.org/drawingml/2006/main">
            <a:off x="714375" y="3781425"/>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167D86"/>
                </a:solidFill>
                <a:latin typeface="Arial"/>
                <a:ea typeface="Arial"/>
                <a:cs typeface="Arial"/>
              </a:defRPr>
            </a:pPr>
            <a:r>
              <a:rPr sz="1200" b="1">
                <a:solidFill>
                  <a:srgbClr val="167D86"/>
                </a:solidFill>
                <a:latin typeface="Arial"/>
                <a:ea typeface="Arial"/>
                <a:cs typeface="Arial"/>
              </a:rPr>
              <a:t>REJECTED PATHS</a:t>
            </a:r>
          </a:p>
        </p:txBody>
      </p:sp>
      <p:sp>
        <p:nvSpPr>
          <p:cNvPr id="9" name="">
            <a:extLst xmlns:a="http://schemas.openxmlformats.org/drawingml/2006/main">
              <a:ext uri="{FF2B5EF4-FFF2-40B4-BE49-F238E27FC236}">
                <a16:creationId xmlns:a16="http://schemas.microsoft.com/office/drawing/2014/main" id="{F2EAF606-3BFD-4E71-BEF3-8CB83DD1389D}"/>
              </a:ext>
            </a:extLst>
          </p:cNvPr>
          <p:cNvSpPr>
            <a:spLocks xmlns:a="http://schemas.openxmlformats.org/drawingml/2006/main" noGrp="1"/>
          </p:cNvSpPr>
          <p:nvPr/>
        </p:nvSpPr>
        <p:spPr>
          <a:xfrm xmlns:a="http://schemas.openxmlformats.org/drawingml/2006/main">
            <a:off x="714375" y="4191000"/>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2933"/>
                </a:solidFill>
                <a:latin typeface="Arial"/>
                <a:ea typeface="Arial"/>
                <a:cs typeface="Arial"/>
              </a:defRPr>
            </a:pPr>
            <a:r>
              <a:rPr sz="1800" b="0">
                <a:solidFill>
                  <a:srgbClr val="1C2933"/>
                </a:solidFill>
                <a:latin typeface="Arial"/>
                <a:ea typeface="Arial"/>
                <a:cs typeface="Arial"/>
              </a:rPr>
              <a:t>Duplicate ID   Conflicting session   Unauthorized log   Invalid transition</a:t>
            </a:r>
          </a:p>
        </p:txBody>
      </p:sp>
      <p:sp>
        <p:nvSpPr>
          <p:cNvPr id="10" name="">
            <a:extLst xmlns:a="http://schemas.openxmlformats.org/drawingml/2006/main">
              <a:ext uri="{FF2B5EF4-FFF2-40B4-BE49-F238E27FC236}">
                <a16:creationId xmlns:a16="http://schemas.microsoft.com/office/drawing/2014/main" id="{66009460-ED10-4605-88F0-F8389B520FFE}"/>
              </a:ext>
            </a:extLst>
          </p:cNvPr>
          <p:cNvSpPr>
            <a:spLocks xmlns:a="http://schemas.openxmlformats.org/drawingml/2006/main" noGrp="1"/>
          </p:cNvSpPr>
          <p:nvPr/>
        </p:nvSpPr>
        <p:spPr>
          <a:xfrm xmlns:a="http://schemas.openxmlformats.org/drawingml/2006/main">
            <a:off x="714375" y="5362575"/>
            <a:ext cx="1057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167D86"/>
                </a:solidFill>
                <a:latin typeface="Arial"/>
                <a:ea typeface="Arial"/>
                <a:cs typeface="Arial"/>
              </a:defRPr>
            </a:pPr>
            <a:r>
              <a:rPr sz="1650" b="1">
                <a:solidFill>
                  <a:srgbClr val="167D86"/>
                </a:solidFill>
                <a:latin typeface="Arial"/>
                <a:ea typeface="Arial"/>
                <a:cs typeface="Arial"/>
              </a:rPr>
              <a:t>Open requests preserve equipment state; alerts rearm for the next maintenance cycle.</a:t>
            </a:r>
          </a:p>
        </p:txBody>
      </p:sp>
    </p:spTree>
    <p:extLst>
      <p:ext uri="{BB962C8B-B14F-4D97-AF65-F5344CB8AC3E}">
        <p14:creationId xmlns:p14="http://schemas.microsoft.com/office/powerpoint/2010/main" val="191413130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5D0953-99A6-4853-A0CB-857A0B7DA730}"/>
              </a:ext>
            </a:extLst>
          </p:cNvPr>
          <p:cNvSpPr>
            <a:spLocks xmlns:a="http://schemas.openxmlformats.org/drawingml/2006/main" noGrp="1"/>
          </p:cNvSpPr>
          <p:nvPr/>
        </p:nvSpPr>
        <p:spPr>
          <a:xfrm xmlns:a="http://schemas.openxmlformats.org/drawingml/2006/main">
            <a:off x="609600" y="419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24C"/>
                </a:solidFill>
                <a:latin typeface="Arial"/>
                <a:ea typeface="Arial"/>
                <a:cs typeface="Arial"/>
              </a:defRPr>
            </a:pPr>
            <a:r>
              <a:rPr sz="2700" b="1">
                <a:solidFill>
                  <a:srgbClr val="16324C"/>
                </a:solidFill>
                <a:latin typeface="Arial"/>
                <a:ea typeface="Arial"/>
                <a:cs typeface="Arial"/>
              </a:rPr>
              <a:t>Console demonstration</a:t>
            </a:r>
          </a:p>
        </p:txBody>
      </p:sp>
      <p:sp>
        <p:nvSpPr>
          <p:cNvPr id="2" name="">
            <a:extLst xmlns:a="http://schemas.openxmlformats.org/drawingml/2006/main">
              <a:ext uri="{FF2B5EF4-FFF2-40B4-BE49-F238E27FC236}">
                <a16:creationId xmlns:a16="http://schemas.microsoft.com/office/drawing/2014/main" id="{9F52D48C-1CE2-4885-907C-A42B99A1D4B6}"/>
              </a:ext>
            </a:extLst>
          </p:cNvPr>
          <p:cNvSpPr>
            <a:spLocks xmlns:a="http://schemas.openxmlformats.org/drawingml/2006/main" noGrp="1"/>
          </p:cNvSpPr>
          <p:nvPr/>
        </p:nvSpPr>
        <p:spPr>
          <a:xfrm xmlns:a="http://schemas.openxmlformats.org/drawingml/2006/main">
            <a:off x="609600" y="1104900"/>
            <a:ext cx="10972800" cy="0"/>
          </a:xfrm>
          <a:prstGeom xmlns:a="http://schemas.openxmlformats.org/drawingml/2006/main" prst="line">
            <a:avLst/>
          </a:prstGeom>
          <a:noFill xmlns:a="http://schemas.openxmlformats.org/drawingml/2006/main"/>
          <a:ln xmlns:a="http://schemas.openxmlformats.org/drawingml/2006/main" w="38100">
            <a:solidFill>
              <a:srgbClr val="167D86"/>
            </a:solidFill>
          </a:ln>
        </p:spPr>
      </p:sp>
      <p:sp>
        <p:nvSpPr>
          <p:cNvPr id="3" name="">
            <a:extLst xmlns:a="http://schemas.openxmlformats.org/drawingml/2006/main">
              <a:ext uri="{FF2B5EF4-FFF2-40B4-BE49-F238E27FC236}">
                <a16:creationId xmlns:a16="http://schemas.microsoft.com/office/drawing/2014/main" id="{6AB736B5-2895-4B06-BE6C-59075B95043F}"/>
              </a:ext>
            </a:extLst>
          </p:cNvPr>
          <p:cNvSpPr>
            <a:spLocks xmlns:a="http://schemas.openxmlformats.org/drawingml/2006/main" noGrp="1"/>
          </p:cNvSpPr>
          <p:nvPr/>
        </p:nvSpPr>
        <p:spPr>
          <a:xfrm xmlns:a="http://schemas.openxmlformats.org/drawingml/2006/main">
            <a:off x="609600" y="6448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IWFC  /  CMP 7001 PRES1</a:t>
            </a:r>
          </a:p>
        </p:txBody>
      </p:sp>
      <p:sp>
        <p:nvSpPr>
          <p:cNvPr id="4" name="">
            <a:extLst xmlns:a="http://schemas.openxmlformats.org/drawingml/2006/main">
              <a:ext uri="{FF2B5EF4-FFF2-40B4-BE49-F238E27FC236}">
                <a16:creationId xmlns:a16="http://schemas.microsoft.com/office/drawing/2014/main" id="{99EA4288-8DB1-464B-86B6-B313EC150245}"/>
              </a:ext>
            </a:extLst>
          </p:cNvPr>
          <p:cNvSpPr>
            <a:spLocks xmlns:a="http://schemas.openxmlformats.org/drawingml/2006/main" noGrp="1"/>
          </p:cNvSpPr>
          <p:nvPr/>
        </p:nvSpPr>
        <p:spPr>
          <a:xfrm xmlns:a="http://schemas.openxmlformats.org/drawingml/2006/main">
            <a:off x="11068050" y="642937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5F6C76"/>
                </a:solidFill>
                <a:latin typeface="Arial"/>
                <a:ea typeface="Arial"/>
                <a:cs typeface="Arial"/>
              </a:defRPr>
            </a:pPr>
            <a:r>
              <a:rPr sz="975" b="1">
                <a:solidFill>
                  <a:srgbClr val="5F6C76"/>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5EA98012-B238-4D15-B1AC-D50E14D001DF}"/>
              </a:ext>
            </a:extLst>
          </p:cNvPr>
          <p:cNvSpPr>
            <a:spLocks xmlns:a="http://schemas.openxmlformats.org/drawingml/2006/main" noGrp="1"/>
          </p:cNvSpPr>
          <p:nvPr/>
        </p:nvSpPr>
        <p:spPr>
          <a:xfrm xmlns:a="http://schemas.openxmlformats.org/drawingml/2006/main">
            <a:off x="714375" y="1695450"/>
            <a:ext cx="971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6324C"/>
                </a:solidFill>
                <a:latin typeface="Arial"/>
                <a:ea typeface="Arial"/>
                <a:cs typeface="Arial"/>
              </a:defRPr>
            </a:pPr>
            <a:r>
              <a:rPr sz="1875" b="1">
                <a:solidFill>
                  <a:srgbClr val="16324C"/>
                </a:solidFill>
                <a:latin typeface="Arial"/>
                <a:ea typeface="Arial"/>
                <a:cs typeface="Arial"/>
              </a:rPr>
              <a:t>1  Administrator setup: A1 / Rifad</a:t>
            </a:r>
          </a:p>
        </p:txBody>
      </p:sp>
      <p:sp>
        <p:nvSpPr>
          <p:cNvPr id="6" name="">
            <a:extLst xmlns:a="http://schemas.openxmlformats.org/drawingml/2006/main">
              <a:ext uri="{FF2B5EF4-FFF2-40B4-BE49-F238E27FC236}">
                <a16:creationId xmlns:a16="http://schemas.microsoft.com/office/drawing/2014/main" id="{B20C3DD3-6C27-4500-9FCC-A7C7DE71BAA6}"/>
              </a:ext>
            </a:extLst>
          </p:cNvPr>
          <p:cNvSpPr>
            <a:spLocks xmlns:a="http://schemas.openxmlformats.org/drawingml/2006/main" noGrp="1"/>
          </p:cNvSpPr>
          <p:nvPr/>
        </p:nvSpPr>
        <p:spPr>
          <a:xfrm xmlns:a="http://schemas.openxmlformats.org/drawingml/2006/main">
            <a:off x="714375" y="2343150"/>
            <a:ext cx="971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6324C"/>
                </a:solidFill>
                <a:latin typeface="Arial"/>
                <a:ea typeface="Arial"/>
                <a:cs typeface="Arial"/>
              </a:defRPr>
            </a:pPr>
            <a:r>
              <a:rPr sz="1875" b="1">
                <a:solidFill>
                  <a:srgbClr val="16324C"/>
                </a:solidFill>
                <a:latin typeface="Arial"/>
                <a:ea typeface="Arial"/>
                <a:cs typeface="Arial"/>
              </a:rPr>
              <a:t>2  Load sample data, then view all current data</a:t>
            </a:r>
          </a:p>
        </p:txBody>
      </p:sp>
      <p:sp>
        <p:nvSpPr>
          <p:cNvPr id="7" name="">
            <a:extLst xmlns:a="http://schemas.openxmlformats.org/drawingml/2006/main">
              <a:ext uri="{FF2B5EF4-FFF2-40B4-BE49-F238E27FC236}">
                <a16:creationId xmlns:a16="http://schemas.microsoft.com/office/drawing/2014/main" id="{20F77834-2ED3-4500-B3DF-258364F29E3F}"/>
              </a:ext>
            </a:extLst>
          </p:cNvPr>
          <p:cNvSpPr>
            <a:spLocks xmlns:a="http://schemas.openxmlformats.org/drawingml/2006/main" noGrp="1"/>
          </p:cNvSpPr>
          <p:nvPr/>
        </p:nvSpPr>
        <p:spPr>
          <a:xfrm xmlns:a="http://schemas.openxmlformats.org/drawingml/2006/main">
            <a:off x="714375" y="2990850"/>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6324C"/>
                </a:solidFill>
                <a:latin typeface="Arial"/>
                <a:ea typeface="Arial"/>
                <a:cs typeface="Arial"/>
              </a:defRPr>
            </a:pPr>
            <a:r>
              <a:rPr sz="1875" b="1">
                <a:solidFill>
                  <a:srgbClr val="16324C"/>
                </a:solidFill>
                <a:latin typeface="Arial"/>
                <a:ea typeface="Arial"/>
                <a:cs typeface="Arial"/>
              </a:rPr>
              <a:t>3  Run the guided workflow and show notifications</a:t>
            </a:r>
          </a:p>
        </p:txBody>
      </p:sp>
      <p:sp>
        <p:nvSpPr>
          <p:cNvPr id="8" name="">
            <a:extLst xmlns:a="http://schemas.openxmlformats.org/drawingml/2006/main">
              <a:ext uri="{FF2B5EF4-FFF2-40B4-BE49-F238E27FC236}">
                <a16:creationId xmlns:a16="http://schemas.microsoft.com/office/drawing/2014/main" id="{35C35BC4-D130-4A21-B3EF-A62DE22CCE26}"/>
              </a:ext>
            </a:extLst>
          </p:cNvPr>
          <p:cNvSpPr>
            <a:spLocks xmlns:a="http://schemas.openxmlformats.org/drawingml/2006/main" noGrp="1"/>
          </p:cNvSpPr>
          <p:nvPr/>
        </p:nvSpPr>
        <p:spPr>
          <a:xfrm xmlns:a="http://schemas.openxmlformats.org/drawingml/2006/main">
            <a:off x="714375" y="4000500"/>
            <a:ext cx="10525125" cy="0"/>
          </a:xfrm>
          <a:prstGeom xmlns:a="http://schemas.openxmlformats.org/drawingml/2006/main" prst="line">
            <a:avLst/>
          </a:prstGeom>
          <a:noFill xmlns:a="http://schemas.openxmlformats.org/drawingml/2006/main"/>
          <a:ln xmlns:a="http://schemas.openxmlformats.org/drawingml/2006/main" w="19050">
            <a:solidFill>
              <a:srgbClr val="C7D5DE"/>
            </a:solidFill>
          </a:ln>
        </p:spPr>
      </p:sp>
      <p:sp>
        <p:nvSpPr>
          <p:cNvPr id="9" name="">
            <a:extLst xmlns:a="http://schemas.openxmlformats.org/drawingml/2006/main">
              <a:ext uri="{FF2B5EF4-FFF2-40B4-BE49-F238E27FC236}">
                <a16:creationId xmlns:a16="http://schemas.microsoft.com/office/drawing/2014/main" id="{2AF45EEE-C4B2-456E-85DC-B57B1D7BA7FE}"/>
              </a:ext>
            </a:extLst>
          </p:cNvPr>
          <p:cNvSpPr>
            <a:spLocks xmlns:a="http://schemas.openxmlformats.org/drawingml/2006/main" noGrp="1"/>
          </p:cNvSpPr>
          <p:nvPr/>
        </p:nvSpPr>
        <p:spPr>
          <a:xfrm xmlns:a="http://schemas.openxmlformats.org/drawingml/2006/main">
            <a:off x="714375" y="442912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C2933"/>
                </a:solidFill>
                <a:latin typeface="Arial"/>
                <a:ea typeface="Arial"/>
                <a:cs typeface="Arial"/>
              </a:defRPr>
            </a:pPr>
            <a:r>
              <a:rPr sz="1500" b="0">
                <a:solidFill>
                  <a:srgbClr val="1C2933"/>
                </a:solidFill>
                <a:latin typeface="Arial"/>
                <a:ea typeface="Arial"/>
                <a:cs typeface="Arial"/>
              </a:rPr>
              <a:t>java -cp target\iwfc-management-system-1.0.0-SNAPSHOT.jar iwfc.app.IWFCFacade</a:t>
            </a:r>
          </a:p>
        </p:txBody>
      </p:sp>
      <p:sp>
        <p:nvSpPr>
          <p:cNvPr id="10" name="">
            <a:extLst xmlns:a="http://schemas.openxmlformats.org/drawingml/2006/main">
              <a:ext uri="{FF2B5EF4-FFF2-40B4-BE49-F238E27FC236}">
                <a16:creationId xmlns:a16="http://schemas.microsoft.com/office/drawing/2014/main" id="{6AD3C9BA-E16F-4456-90EA-91C2249B1800}"/>
              </a:ext>
            </a:extLst>
          </p:cNvPr>
          <p:cNvSpPr>
            <a:spLocks xmlns:a="http://schemas.openxmlformats.org/drawingml/2006/main" noGrp="1"/>
          </p:cNvSpPr>
          <p:nvPr/>
        </p:nvSpPr>
        <p:spPr>
          <a:xfrm xmlns:a="http://schemas.openxmlformats.org/drawingml/2006/main">
            <a:off x="714375" y="54673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167D86"/>
                </a:solidFill>
                <a:latin typeface="Arial"/>
                <a:ea typeface="Arial"/>
                <a:cs typeface="Arial"/>
              </a:defRPr>
            </a:pPr>
            <a:r>
              <a:rPr sz="1650" b="1">
                <a:solidFill>
                  <a:srgbClr val="167D86"/>
                </a:solidFill>
                <a:latin typeface="Arial"/>
                <a:ea typeface="Arial"/>
                <a:cs typeface="Arial"/>
              </a:rPr>
              <a:t>Expected finish: equipment OPERATIONAL; request COMPLETED.</a:t>
            </a:r>
          </a:p>
        </p:txBody>
      </p:sp>
    </p:spTree>
    <p:extLst>
      <p:ext uri="{BB962C8B-B14F-4D97-AF65-F5344CB8AC3E}">
        <p14:creationId xmlns:p14="http://schemas.microsoft.com/office/powerpoint/2010/main" val="82535393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64E7B9C-59C4-4A97-98F6-E042483EAF35}"/>
              </a:ext>
            </a:extLst>
          </p:cNvPr>
          <p:cNvSpPr>
            <a:spLocks xmlns:a="http://schemas.openxmlformats.org/drawingml/2006/main" noGrp="1"/>
          </p:cNvSpPr>
          <p:nvPr/>
        </p:nvSpPr>
        <p:spPr>
          <a:xfrm xmlns:a="http://schemas.openxmlformats.org/drawingml/2006/main">
            <a:off x="609600" y="419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24C"/>
                </a:solidFill>
                <a:latin typeface="Arial"/>
                <a:ea typeface="Arial"/>
                <a:cs typeface="Arial"/>
              </a:defRPr>
            </a:pPr>
            <a:r>
              <a:rPr sz="2700" b="1">
                <a:solidFill>
                  <a:srgbClr val="16324C"/>
                </a:solidFill>
                <a:latin typeface="Arial"/>
                <a:ea typeface="Arial"/>
                <a:cs typeface="Arial"/>
              </a:rPr>
              <a:t>Limitations and next steps</a:t>
            </a:r>
          </a:p>
        </p:txBody>
      </p:sp>
      <p:sp>
        <p:nvSpPr>
          <p:cNvPr id="2" name="">
            <a:extLst xmlns:a="http://schemas.openxmlformats.org/drawingml/2006/main">
              <a:ext uri="{FF2B5EF4-FFF2-40B4-BE49-F238E27FC236}">
                <a16:creationId xmlns:a16="http://schemas.microsoft.com/office/drawing/2014/main" id="{E23DB9A8-2B87-4AE7-8201-AFC4AB193D4A}"/>
              </a:ext>
            </a:extLst>
          </p:cNvPr>
          <p:cNvSpPr>
            <a:spLocks xmlns:a="http://schemas.openxmlformats.org/drawingml/2006/main" noGrp="1"/>
          </p:cNvSpPr>
          <p:nvPr/>
        </p:nvSpPr>
        <p:spPr>
          <a:xfrm xmlns:a="http://schemas.openxmlformats.org/drawingml/2006/main">
            <a:off x="609600" y="1104900"/>
            <a:ext cx="10972800" cy="0"/>
          </a:xfrm>
          <a:prstGeom xmlns:a="http://schemas.openxmlformats.org/drawingml/2006/main" prst="line">
            <a:avLst/>
          </a:prstGeom>
          <a:noFill xmlns:a="http://schemas.openxmlformats.org/drawingml/2006/main"/>
          <a:ln xmlns:a="http://schemas.openxmlformats.org/drawingml/2006/main" w="38100">
            <a:solidFill>
              <a:srgbClr val="167D86"/>
            </a:solidFill>
          </a:ln>
        </p:spPr>
      </p:sp>
      <p:sp>
        <p:nvSpPr>
          <p:cNvPr id="3" name="">
            <a:extLst xmlns:a="http://schemas.openxmlformats.org/drawingml/2006/main">
              <a:ext uri="{FF2B5EF4-FFF2-40B4-BE49-F238E27FC236}">
                <a16:creationId xmlns:a16="http://schemas.microsoft.com/office/drawing/2014/main" id="{6D767729-AAAA-4E71-8917-D1D144E4110F}"/>
              </a:ext>
            </a:extLst>
          </p:cNvPr>
          <p:cNvSpPr>
            <a:spLocks xmlns:a="http://schemas.openxmlformats.org/drawingml/2006/main" noGrp="1"/>
          </p:cNvSpPr>
          <p:nvPr/>
        </p:nvSpPr>
        <p:spPr>
          <a:xfrm xmlns:a="http://schemas.openxmlformats.org/drawingml/2006/main">
            <a:off x="609600" y="6448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IWFC  /  CMP 7001 PRES1</a:t>
            </a:r>
          </a:p>
        </p:txBody>
      </p:sp>
      <p:sp>
        <p:nvSpPr>
          <p:cNvPr id="4" name="">
            <a:extLst xmlns:a="http://schemas.openxmlformats.org/drawingml/2006/main">
              <a:ext uri="{FF2B5EF4-FFF2-40B4-BE49-F238E27FC236}">
                <a16:creationId xmlns:a16="http://schemas.microsoft.com/office/drawing/2014/main" id="{9A1EAF02-282D-44A8-A419-95C599984652}"/>
              </a:ext>
            </a:extLst>
          </p:cNvPr>
          <p:cNvSpPr>
            <a:spLocks xmlns:a="http://schemas.openxmlformats.org/drawingml/2006/main" noGrp="1"/>
          </p:cNvSpPr>
          <p:nvPr/>
        </p:nvSpPr>
        <p:spPr>
          <a:xfrm xmlns:a="http://schemas.openxmlformats.org/drawingml/2006/main">
            <a:off x="11068050" y="642937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5F6C76"/>
                </a:solidFill>
                <a:latin typeface="Arial"/>
                <a:ea typeface="Arial"/>
                <a:cs typeface="Arial"/>
              </a:defRPr>
            </a:pPr>
            <a:r>
              <a:rPr sz="975" b="1">
                <a:solidFill>
                  <a:srgbClr val="5F6C76"/>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1CCD3EEE-EA14-4A06-B23D-69DF3349EBBE}"/>
              </a:ext>
            </a:extLst>
          </p:cNvPr>
          <p:cNvSpPr>
            <a:spLocks xmlns:a="http://schemas.openxmlformats.org/drawingml/2006/main" noGrp="1"/>
          </p:cNvSpPr>
          <p:nvPr/>
        </p:nvSpPr>
        <p:spPr>
          <a:xfrm xmlns:a="http://schemas.openxmlformats.org/drawingml/2006/main">
            <a:off x="723900" y="174307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6324C"/>
                </a:solidFill>
                <a:latin typeface="Arial"/>
                <a:ea typeface="Arial"/>
                <a:cs typeface="Arial"/>
              </a:defRPr>
            </a:pPr>
            <a:r>
              <a:rPr sz="1950" b="1">
                <a:solidFill>
                  <a:srgbClr val="16324C"/>
                </a:solidFill>
                <a:latin typeface="Arial"/>
                <a:ea typeface="Arial"/>
                <a:cs typeface="Arial"/>
              </a:rPr>
              <a:t>Current prototype</a:t>
            </a:r>
          </a:p>
        </p:txBody>
      </p:sp>
      <p:sp>
        <p:nvSpPr>
          <p:cNvPr id="6" name="">
            <a:extLst xmlns:a="http://schemas.openxmlformats.org/drawingml/2006/main">
              <a:ext uri="{FF2B5EF4-FFF2-40B4-BE49-F238E27FC236}">
                <a16:creationId xmlns:a16="http://schemas.microsoft.com/office/drawing/2014/main" id="{DD9429FA-47DE-4E3A-814F-AFA8652C4693}"/>
              </a:ext>
            </a:extLst>
          </p:cNvPr>
          <p:cNvSpPr>
            <a:spLocks xmlns:a="http://schemas.openxmlformats.org/drawingml/2006/main" noGrp="1"/>
          </p:cNvSpPr>
          <p:nvPr/>
        </p:nvSpPr>
        <p:spPr>
          <a:xfrm xmlns:a="http://schemas.openxmlformats.org/drawingml/2006/main">
            <a:off x="723900" y="2238375"/>
            <a:ext cx="476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C2933"/>
                </a:solidFill>
                <a:latin typeface="Arial"/>
                <a:ea typeface="Arial"/>
                <a:cs typeface="Arial"/>
              </a:defRPr>
            </a:pPr>
            <a:r>
              <a:rPr sz="1575" b="0">
                <a:solidFill>
                  <a:srgbClr val="1C2933"/>
                </a:solidFill>
                <a:latin typeface="Arial"/>
                <a:ea typeface="Arial"/>
                <a:cs typeface="Arial"/>
              </a:rPr>
              <a:t>In-memory data; guided console; no credential login.</a:t>
            </a:r>
          </a:p>
        </p:txBody>
      </p:sp>
      <p:sp>
        <p:nvSpPr>
          <p:cNvPr id="7" name="">
            <a:extLst xmlns:a="http://schemas.openxmlformats.org/drawingml/2006/main">
              <a:ext uri="{FF2B5EF4-FFF2-40B4-BE49-F238E27FC236}">
                <a16:creationId xmlns:a16="http://schemas.microsoft.com/office/drawing/2014/main" id="{AA39AB94-D5D7-4A75-8E98-BD0044488BCA}"/>
              </a:ext>
            </a:extLst>
          </p:cNvPr>
          <p:cNvSpPr>
            <a:spLocks xmlns:a="http://schemas.openxmlformats.org/drawingml/2006/main" noGrp="1"/>
          </p:cNvSpPr>
          <p:nvPr/>
        </p:nvSpPr>
        <p:spPr>
          <a:xfrm xmlns:a="http://schemas.openxmlformats.org/drawingml/2006/main">
            <a:off x="6419850" y="174307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6324C"/>
                </a:solidFill>
                <a:latin typeface="Arial"/>
                <a:ea typeface="Arial"/>
                <a:cs typeface="Arial"/>
              </a:defRPr>
            </a:pPr>
            <a:r>
              <a:rPr sz="1950" b="1">
                <a:solidFill>
                  <a:srgbClr val="16324C"/>
                </a:solidFill>
                <a:latin typeface="Arial"/>
                <a:ea typeface="Arial"/>
                <a:cs typeface="Arial"/>
              </a:rPr>
              <a:t>Known gaps</a:t>
            </a:r>
          </a:p>
        </p:txBody>
      </p:sp>
      <p:sp>
        <p:nvSpPr>
          <p:cNvPr id="8" name="">
            <a:extLst xmlns:a="http://schemas.openxmlformats.org/drawingml/2006/main">
              <a:ext uri="{FF2B5EF4-FFF2-40B4-BE49-F238E27FC236}">
                <a16:creationId xmlns:a16="http://schemas.microsoft.com/office/drawing/2014/main" id="{4C688A0A-4A64-4AE5-B34C-5AEB66500376}"/>
              </a:ext>
            </a:extLst>
          </p:cNvPr>
          <p:cNvSpPr>
            <a:spLocks xmlns:a="http://schemas.openxmlformats.org/drawingml/2006/main" noGrp="1"/>
          </p:cNvSpPr>
          <p:nvPr/>
        </p:nvSpPr>
        <p:spPr>
          <a:xfrm xmlns:a="http://schemas.openxmlformats.org/drawingml/2006/main">
            <a:off x="6419850" y="2238375"/>
            <a:ext cx="476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1C2933"/>
                </a:solidFill>
                <a:latin typeface="Arial"/>
                <a:ea typeface="Arial"/>
                <a:cs typeface="Arial"/>
              </a:defRPr>
            </a:pPr>
            <a:r>
              <a:rPr sz="1575" b="0">
                <a:solidFill>
                  <a:srgbClr val="1C2933"/>
                </a:solidFill>
                <a:latin typeface="Arial"/>
                <a:ea typeface="Arial"/>
                <a:cs typeface="Arial"/>
              </a:rPr>
              <a:t>No database, concurrent transactions or external message delivery.</a:t>
            </a:r>
          </a:p>
        </p:txBody>
      </p:sp>
      <p:sp>
        <p:nvSpPr>
          <p:cNvPr id="9" name="">
            <a:extLst xmlns:a="http://schemas.openxmlformats.org/drawingml/2006/main">
              <a:ext uri="{FF2B5EF4-FFF2-40B4-BE49-F238E27FC236}">
                <a16:creationId xmlns:a16="http://schemas.microsoft.com/office/drawing/2014/main" id="{EB49B347-D9BA-465A-B6C9-D66859F30387}"/>
              </a:ext>
            </a:extLst>
          </p:cNvPr>
          <p:cNvSpPr>
            <a:spLocks xmlns:a="http://schemas.openxmlformats.org/drawingml/2006/main" noGrp="1"/>
          </p:cNvSpPr>
          <p:nvPr/>
        </p:nvSpPr>
        <p:spPr>
          <a:xfrm xmlns:a="http://schemas.openxmlformats.org/drawingml/2006/main">
            <a:off x="723900" y="4267200"/>
            <a:ext cx="10515600" cy="0"/>
          </a:xfrm>
          <a:prstGeom xmlns:a="http://schemas.openxmlformats.org/drawingml/2006/main" prst="line">
            <a:avLst/>
          </a:prstGeom>
          <a:noFill xmlns:a="http://schemas.openxmlformats.org/drawingml/2006/main"/>
          <a:ln xmlns:a="http://schemas.openxmlformats.org/drawingml/2006/main" w="19050">
            <a:solidFill>
              <a:srgbClr val="C7D5DE"/>
            </a:solidFill>
          </a:ln>
        </p:spPr>
      </p:sp>
      <p:sp>
        <p:nvSpPr>
          <p:cNvPr id="10" name="">
            <a:extLst xmlns:a="http://schemas.openxmlformats.org/drawingml/2006/main">
              <a:ext uri="{FF2B5EF4-FFF2-40B4-BE49-F238E27FC236}">
                <a16:creationId xmlns:a16="http://schemas.microsoft.com/office/drawing/2014/main" id="{D1656BAD-A5F1-4658-A929-7D080BDF37C4}"/>
              </a:ext>
            </a:extLst>
          </p:cNvPr>
          <p:cNvSpPr>
            <a:spLocks xmlns:a="http://schemas.openxmlformats.org/drawingml/2006/main" noGrp="1"/>
          </p:cNvSpPr>
          <p:nvPr/>
        </p:nvSpPr>
        <p:spPr>
          <a:xfrm xmlns:a="http://schemas.openxmlformats.org/drawingml/2006/main">
            <a:off x="723900" y="46672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167D86"/>
                </a:solidFill>
                <a:latin typeface="Arial"/>
                <a:ea typeface="Arial"/>
                <a:cs typeface="Arial"/>
              </a:defRPr>
            </a:pPr>
            <a:r>
              <a:rPr sz="1200" b="1">
                <a:solidFill>
                  <a:srgbClr val="167D86"/>
                </a:solidFill>
                <a:latin typeface="Arial"/>
                <a:ea typeface="Arial"/>
                <a:cs typeface="Arial"/>
              </a:rPr>
              <a:t>FUTURE IMPLEMENTATION</a:t>
            </a:r>
          </a:p>
        </p:txBody>
      </p:sp>
      <p:sp>
        <p:nvSpPr>
          <p:cNvPr id="11" name="">
            <a:extLst xmlns:a="http://schemas.openxmlformats.org/drawingml/2006/main">
              <a:ext uri="{FF2B5EF4-FFF2-40B4-BE49-F238E27FC236}">
                <a16:creationId xmlns:a16="http://schemas.microsoft.com/office/drawing/2014/main" id="{D17A7948-FEEA-4C8D-94AF-597D05EF1E3C}"/>
              </a:ext>
            </a:extLst>
          </p:cNvPr>
          <p:cNvSpPr>
            <a:spLocks xmlns:a="http://schemas.openxmlformats.org/drawingml/2006/main" noGrp="1"/>
          </p:cNvSpPr>
          <p:nvPr/>
        </p:nvSpPr>
        <p:spPr>
          <a:xfrm xmlns:a="http://schemas.openxmlformats.org/drawingml/2006/main">
            <a:off x="723900" y="5095875"/>
            <a:ext cx="10477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6324C"/>
                </a:solidFill>
                <a:latin typeface="Arial"/>
                <a:ea typeface="Arial"/>
                <a:cs typeface="Arial"/>
              </a:defRPr>
            </a:pPr>
            <a:r>
              <a:rPr sz="1950" b="1">
                <a:solidFill>
                  <a:srgbClr val="16324C"/>
                </a:solidFill>
                <a:latin typeface="Arial"/>
                <a:ea typeface="Arial"/>
                <a:cs typeface="Arial"/>
              </a:rPr>
              <a:t>Persistent storage, transactional booking, authentication and durable notifications</a:t>
            </a:r>
          </a:p>
        </p:txBody>
      </p:sp>
    </p:spTree>
    <p:extLst>
      <p:ext uri="{BB962C8B-B14F-4D97-AF65-F5344CB8AC3E}">
        <p14:creationId xmlns:p14="http://schemas.microsoft.com/office/powerpoint/2010/main" val="70030562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4DDCB7-0D31-4A8E-8D90-92399DCFC2B5}"/>
              </a:ext>
            </a:extLst>
          </p:cNvPr>
          <p:cNvSpPr>
            <a:spLocks xmlns:a="http://schemas.openxmlformats.org/drawingml/2006/main" noGrp="1"/>
          </p:cNvSpPr>
          <p:nvPr/>
        </p:nvSpPr>
        <p:spPr>
          <a:xfrm xmlns:a="http://schemas.openxmlformats.org/drawingml/2006/main">
            <a:off x="609600" y="4191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6324C"/>
                </a:solidFill>
                <a:latin typeface="Arial"/>
                <a:ea typeface="Arial"/>
                <a:cs typeface="Arial"/>
              </a:defRPr>
            </a:pPr>
            <a:r>
              <a:rPr sz="2700" b="1">
                <a:solidFill>
                  <a:srgbClr val="16324C"/>
                </a:solidFill>
                <a:latin typeface="Arial"/>
                <a:ea typeface="Arial"/>
                <a:cs typeface="Arial"/>
              </a:rPr>
              <a:t>What this project demonstrates</a:t>
            </a:r>
          </a:p>
        </p:txBody>
      </p:sp>
      <p:sp>
        <p:nvSpPr>
          <p:cNvPr id="2" name="">
            <a:extLst xmlns:a="http://schemas.openxmlformats.org/drawingml/2006/main">
              <a:ext uri="{FF2B5EF4-FFF2-40B4-BE49-F238E27FC236}">
                <a16:creationId xmlns:a16="http://schemas.microsoft.com/office/drawing/2014/main" id="{B3ED36EE-4FF6-47AC-A64F-FD584D821517}"/>
              </a:ext>
            </a:extLst>
          </p:cNvPr>
          <p:cNvSpPr>
            <a:spLocks xmlns:a="http://schemas.openxmlformats.org/drawingml/2006/main" noGrp="1"/>
          </p:cNvSpPr>
          <p:nvPr/>
        </p:nvSpPr>
        <p:spPr>
          <a:xfrm xmlns:a="http://schemas.openxmlformats.org/drawingml/2006/main">
            <a:off x="609600" y="1104900"/>
            <a:ext cx="10972800" cy="0"/>
          </a:xfrm>
          <a:prstGeom xmlns:a="http://schemas.openxmlformats.org/drawingml/2006/main" prst="line">
            <a:avLst/>
          </a:prstGeom>
          <a:noFill xmlns:a="http://schemas.openxmlformats.org/drawingml/2006/main"/>
          <a:ln xmlns:a="http://schemas.openxmlformats.org/drawingml/2006/main" w="38100">
            <a:solidFill>
              <a:srgbClr val="167D86"/>
            </a:solidFill>
          </a:ln>
        </p:spPr>
      </p:sp>
      <p:sp>
        <p:nvSpPr>
          <p:cNvPr id="3" name="">
            <a:extLst xmlns:a="http://schemas.openxmlformats.org/drawingml/2006/main">
              <a:ext uri="{FF2B5EF4-FFF2-40B4-BE49-F238E27FC236}">
                <a16:creationId xmlns:a16="http://schemas.microsoft.com/office/drawing/2014/main" id="{BE95C299-7CC8-4F1D-ADED-B100D85DB1C7}"/>
              </a:ext>
            </a:extLst>
          </p:cNvPr>
          <p:cNvSpPr>
            <a:spLocks xmlns:a="http://schemas.openxmlformats.org/drawingml/2006/main" noGrp="1"/>
          </p:cNvSpPr>
          <p:nvPr/>
        </p:nvSpPr>
        <p:spPr>
          <a:xfrm xmlns:a="http://schemas.openxmlformats.org/drawingml/2006/main">
            <a:off x="609600" y="6448425"/>
            <a:ext cx="4000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F6C76"/>
                </a:solidFill>
                <a:latin typeface="Arial"/>
                <a:ea typeface="Arial"/>
                <a:cs typeface="Arial"/>
              </a:defRPr>
            </a:pPr>
            <a:r>
              <a:rPr sz="975" b="0">
                <a:solidFill>
                  <a:srgbClr val="5F6C76"/>
                </a:solidFill>
                <a:latin typeface="Arial"/>
                <a:ea typeface="Arial"/>
                <a:cs typeface="Arial"/>
              </a:rPr>
              <a:t>IWFC  /  CMP 7001 PRES1</a:t>
            </a:r>
          </a:p>
        </p:txBody>
      </p:sp>
      <p:sp>
        <p:nvSpPr>
          <p:cNvPr id="4" name="">
            <a:extLst xmlns:a="http://schemas.openxmlformats.org/drawingml/2006/main">
              <a:ext uri="{FF2B5EF4-FFF2-40B4-BE49-F238E27FC236}">
                <a16:creationId xmlns:a16="http://schemas.microsoft.com/office/drawing/2014/main" id="{4FC67E00-4914-41BB-88CB-DF1503F82B4C}"/>
              </a:ext>
            </a:extLst>
          </p:cNvPr>
          <p:cNvSpPr>
            <a:spLocks xmlns:a="http://schemas.openxmlformats.org/drawingml/2006/main" noGrp="1"/>
          </p:cNvSpPr>
          <p:nvPr/>
        </p:nvSpPr>
        <p:spPr>
          <a:xfrm xmlns:a="http://schemas.openxmlformats.org/drawingml/2006/main">
            <a:off x="11068050" y="6429375"/>
            <a:ext cx="5238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5F6C76"/>
                </a:solidFill>
                <a:latin typeface="Arial"/>
                <a:ea typeface="Arial"/>
                <a:cs typeface="Arial"/>
              </a:defRPr>
            </a:pPr>
            <a:r>
              <a:rPr sz="975" b="1">
                <a:solidFill>
                  <a:srgbClr val="5F6C76"/>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CAE41E5F-C308-4EFA-98BD-14D5A1AF9A9A}"/>
              </a:ext>
            </a:extLst>
          </p:cNvPr>
          <p:cNvSpPr>
            <a:spLocks xmlns:a="http://schemas.openxmlformats.org/drawingml/2006/main" noGrp="1"/>
          </p:cNvSpPr>
          <p:nvPr/>
        </p:nvSpPr>
        <p:spPr>
          <a:xfrm xmlns:a="http://schemas.openxmlformats.org/drawingml/2006/main">
            <a:off x="714375" y="1857375"/>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16324C"/>
                </a:solidFill>
                <a:latin typeface="Arial"/>
                <a:ea typeface="Arial"/>
                <a:cs typeface="Arial"/>
              </a:defRPr>
            </a:pPr>
            <a:r>
              <a:rPr sz="2925" b="1">
                <a:solidFill>
                  <a:srgbClr val="16324C"/>
                </a:solidFill>
                <a:latin typeface="Arial"/>
                <a:ea typeface="Arial"/>
                <a:cs typeface="Arial"/>
              </a:rPr>
              <a:t>A working Java 21 prototype</a:t>
            </a:r>
          </a:p>
        </p:txBody>
      </p:sp>
      <p:sp>
        <p:nvSpPr>
          <p:cNvPr id="6" name="">
            <a:extLst xmlns:a="http://schemas.openxmlformats.org/drawingml/2006/main">
              <a:ext uri="{FF2B5EF4-FFF2-40B4-BE49-F238E27FC236}">
                <a16:creationId xmlns:a16="http://schemas.microsoft.com/office/drawing/2014/main" id="{0E9B56FA-AF50-4700-822B-331D3A568DFB}"/>
              </a:ext>
            </a:extLst>
          </p:cNvPr>
          <p:cNvSpPr>
            <a:spLocks xmlns:a="http://schemas.openxmlformats.org/drawingml/2006/main" noGrp="1"/>
          </p:cNvSpPr>
          <p:nvPr/>
        </p:nvSpPr>
        <p:spPr>
          <a:xfrm xmlns:a="http://schemas.openxmlformats.org/drawingml/2006/main">
            <a:off x="714375" y="300037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67D86"/>
                </a:solidFill>
                <a:latin typeface="Arial"/>
                <a:ea typeface="Arial"/>
                <a:cs typeface="Arial"/>
              </a:defRPr>
            </a:pPr>
            <a:r>
              <a:rPr sz="2100" b="1">
                <a:solidFill>
                  <a:srgbClr val="167D86"/>
                </a:solidFill>
                <a:latin typeface="Arial"/>
                <a:ea typeface="Arial"/>
                <a:cs typeface="Arial"/>
              </a:rPr>
              <a:t>15 production classes   /   three meaningful patterns   /   142 passing tests</a:t>
            </a:r>
          </a:p>
        </p:txBody>
      </p:sp>
      <p:sp>
        <p:nvSpPr>
          <p:cNvPr id="7" name="">
            <a:extLst xmlns:a="http://schemas.openxmlformats.org/drawingml/2006/main">
              <a:ext uri="{FF2B5EF4-FFF2-40B4-BE49-F238E27FC236}">
                <a16:creationId xmlns:a16="http://schemas.microsoft.com/office/drawing/2014/main" id="{F79A967B-88C6-4251-9F2D-5AC4CDC15507}"/>
              </a:ext>
            </a:extLst>
          </p:cNvPr>
          <p:cNvSpPr>
            <a:spLocks xmlns:a="http://schemas.openxmlformats.org/drawingml/2006/main" noGrp="1"/>
          </p:cNvSpPr>
          <p:nvPr/>
        </p:nvSpPr>
        <p:spPr>
          <a:xfrm xmlns:a="http://schemas.openxmlformats.org/drawingml/2006/main">
            <a:off x="714375" y="4314825"/>
            <a:ext cx="10525125" cy="0"/>
          </a:xfrm>
          <a:prstGeom xmlns:a="http://schemas.openxmlformats.org/drawingml/2006/main" prst="line">
            <a:avLst/>
          </a:prstGeom>
          <a:noFill xmlns:a="http://schemas.openxmlformats.org/drawingml/2006/main"/>
          <a:ln xmlns:a="http://schemas.openxmlformats.org/drawingml/2006/main" w="19050">
            <a:solidFill>
              <a:srgbClr val="C7D5DE"/>
            </a:solidFill>
          </a:ln>
        </p:spPr>
      </p:sp>
      <p:sp>
        <p:nvSpPr>
          <p:cNvPr id="8" name="">
            <a:extLst xmlns:a="http://schemas.openxmlformats.org/drawingml/2006/main">
              <a:ext uri="{FF2B5EF4-FFF2-40B4-BE49-F238E27FC236}">
                <a16:creationId xmlns:a16="http://schemas.microsoft.com/office/drawing/2014/main" id="{A49EBDD4-0301-457E-9531-6B203086663E}"/>
              </a:ext>
            </a:extLst>
          </p:cNvPr>
          <p:cNvSpPr>
            <a:spLocks xmlns:a="http://schemas.openxmlformats.org/drawingml/2006/main" noGrp="1"/>
          </p:cNvSpPr>
          <p:nvPr/>
        </p:nvSpPr>
        <p:spPr>
          <a:xfrm xmlns:a="http://schemas.openxmlformats.org/drawingml/2006/main">
            <a:off x="714375" y="48291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2933"/>
                </a:solidFill>
                <a:latin typeface="Arial"/>
                <a:ea typeface="Arial"/>
                <a:cs typeface="Arial"/>
              </a:defRPr>
            </a:pPr>
            <a:r>
              <a:rPr sz="1800" b="0">
                <a:solidFill>
                  <a:srgbClr val="1C2933"/>
                </a:solidFill>
                <a:latin typeface="Arial"/>
                <a:ea typeface="Arial"/>
                <a:cs typeface="Arial"/>
              </a:rPr>
              <a:t>Final manual step: record the 10-minute walkthrough and place its verified link on slide 1.</a:t>
            </a:r>
          </a:p>
        </p:txBody>
      </p:sp>
    </p:spTree>
    <p:extLst>
      <p:ext uri="{BB962C8B-B14F-4D97-AF65-F5344CB8AC3E}">
        <p14:creationId xmlns:p14="http://schemas.microsoft.com/office/powerpoint/2010/main" val="15280894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2026-09-22T16:08:59.0550000Z</dcterms:created>
  <dcterms:modified xsi:type="dcterms:W3CDTF">2026-09-22T16:08:59.0550000Z</dcterms:modified>
</coreProperties>
</file>