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7956a2a1194baa" /><Relationship Type="http://schemas.openxmlformats.org/officeDocument/2006/relationships/extended-properties" Target="/docProps/app.xml" Id="R0512aabaf44e4073" /><Relationship Type="http://schemas.openxmlformats.org/officeDocument/2006/relationships/officeDocument" Target="/ppt/presentation.xml" Id="R3780326473ce4c9b" /></Relationships>
</file>

<file path=ppt/presentation.xml><?xml version="1.0" encoding="utf-8"?>
<p:presentation xmlns:p="http://schemas.openxmlformats.org/presentationml/2006/main">
  <p:sldMasterIdLst>
    <p:sldMasterId xmlns:r="http://schemas.openxmlformats.org/officeDocument/2006/relationships" id="2147483648" r:id="Rafe4c7970d57445c"/>
  </p:sldMasterIdLst>
  <p:notesMasterIdLst>
    <p:notesMasterId xmlns:r="http://schemas.openxmlformats.org/officeDocument/2006/relationships" r:id="Rfeb80b1526e54533"/>
  </p:notesMasterIdLst>
  <p:sldIdLst>
    <p:sldId xmlns:r="http://schemas.openxmlformats.org/officeDocument/2006/relationships" id="256" r:id="R0802a99119774df2"/>
    <p:sldId xmlns:r="http://schemas.openxmlformats.org/officeDocument/2006/relationships" id="257" r:id="Rf40716d394274aee"/>
    <p:sldId xmlns:r="http://schemas.openxmlformats.org/officeDocument/2006/relationships" id="258" r:id="R9e75fc1f76574441"/>
    <p:sldId xmlns:r="http://schemas.openxmlformats.org/officeDocument/2006/relationships" id="259" r:id="R8e5e9f8463b94242"/>
    <p:sldId xmlns:r="http://schemas.openxmlformats.org/officeDocument/2006/relationships" id="260" r:id="R7e03f82e187b49c7"/>
    <p:sldId xmlns:r="http://schemas.openxmlformats.org/officeDocument/2006/relationships" id="261" r:id="R35ee3628cc4a431c"/>
    <p:sldId xmlns:r="http://schemas.openxmlformats.org/officeDocument/2006/relationships" id="262" r:id="R3783ca1378a44ce8"/>
    <p:sldId xmlns:r="http://schemas.openxmlformats.org/officeDocument/2006/relationships" id="263" r:id="R8e0575fbf2754789"/>
    <p:sldId xmlns:r="http://schemas.openxmlformats.org/officeDocument/2006/relationships" id="264" r:id="R4dc8d2c839ca4d11"/>
    <p:sldId xmlns:r="http://schemas.openxmlformats.org/officeDocument/2006/relationships" id="265" r:id="R1b756e923889458f"/>
    <p:sldId xmlns:r="http://schemas.openxmlformats.org/officeDocument/2006/relationships" id="266" r:id="Rd8605c29634a4f9a"/>
    <p:sldId xmlns:r="http://schemas.openxmlformats.org/officeDocument/2006/relationships" id="267" r:id="R68b3316f528445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1ae74787524f31" /><Relationship Type="http://schemas.openxmlformats.org/officeDocument/2006/relationships/slideMaster" Target="/ppt/slideMasters/slideMaster1.xml" Id="Rafe4c7970d57445c" /><Relationship Type="http://schemas.openxmlformats.org/officeDocument/2006/relationships/notesMaster" Target="/ppt/notesMasters/notesMaster1.xml" Id="Rfeb80b1526e54533" /><Relationship Type="http://schemas.openxmlformats.org/officeDocument/2006/relationships/presProps" Target="/ppt/presProps.xml" Id="R3f02594b46374bd9" /><Relationship Type="http://schemas.openxmlformats.org/officeDocument/2006/relationships/tableStyles" Target="/ppt/tableStyles.xml" Id="R9f5449ca52014dac" /><Relationship Type="http://schemas.openxmlformats.org/officeDocument/2006/relationships/slide" Target="/ppt/slides/slide1.xml" Id="R0802a99119774df2" /><Relationship Type="http://schemas.openxmlformats.org/officeDocument/2006/relationships/slide" Target="/ppt/slides/slide2.xml" Id="Rf40716d394274aee" /><Relationship Type="http://schemas.openxmlformats.org/officeDocument/2006/relationships/slide" Target="/ppt/slides/slide3.xml" Id="R9e75fc1f76574441" /><Relationship Type="http://schemas.openxmlformats.org/officeDocument/2006/relationships/slide" Target="/ppt/slides/slide4.xml" Id="R8e5e9f8463b94242" /><Relationship Type="http://schemas.openxmlformats.org/officeDocument/2006/relationships/slide" Target="/ppt/slides/slide5.xml" Id="R7e03f82e187b49c7" /><Relationship Type="http://schemas.openxmlformats.org/officeDocument/2006/relationships/slide" Target="/ppt/slides/slide6.xml" Id="R35ee3628cc4a431c" /><Relationship Type="http://schemas.openxmlformats.org/officeDocument/2006/relationships/slide" Target="/ppt/slides/slide7.xml" Id="R3783ca1378a44ce8" /><Relationship Type="http://schemas.openxmlformats.org/officeDocument/2006/relationships/slide" Target="/ppt/slides/slide8.xml" Id="R8e0575fbf2754789" /><Relationship Type="http://schemas.openxmlformats.org/officeDocument/2006/relationships/slide" Target="/ppt/slides/slide9.xml" Id="R4dc8d2c839ca4d11" /><Relationship Type="http://schemas.openxmlformats.org/officeDocument/2006/relationships/slide" Target="/ppt/slides/slide10.xml" Id="R1b756e923889458f" /><Relationship Type="http://schemas.openxmlformats.org/officeDocument/2006/relationships/slide" Target="/ppt/slides/slide11.xml" Id="Rd8605c29634a4f9a" /><Relationship Type="http://schemas.openxmlformats.org/officeDocument/2006/relationships/slide" Target="/ppt/slides/slide12.xml" Id="R68b3316f528445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5a87628edf4b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749229ddbc4b58" /><Relationship Type="http://schemas.openxmlformats.org/officeDocument/2006/relationships/notesMaster" Target="/ppt/notesMasters/notesMaster1.xml" Id="R389190ac14ec42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deafa80ab5472f" /><Relationship Type="http://schemas.openxmlformats.org/officeDocument/2006/relationships/notesMaster" Target="/ppt/notesMasters/notesMaster1.xml" Id="R9a5195c371df4f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06d15cc28f465e" /><Relationship Type="http://schemas.openxmlformats.org/officeDocument/2006/relationships/notesMaster" Target="/ppt/notesMasters/notesMaster1.xml" Id="Red5dbe3ecc4842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b36ff6f2c8e48a8" /><Relationship Type="http://schemas.openxmlformats.org/officeDocument/2006/relationships/notesMaster" Target="/ppt/notesMasters/notesMaster1.xml" Id="Rda952d3d698541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43a7d908e84dc1" /><Relationship Type="http://schemas.openxmlformats.org/officeDocument/2006/relationships/notesMaster" Target="/ppt/notesMasters/notesMaster1.xml" Id="R3aa1ab7e813647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909b72c1af4cf1" /><Relationship Type="http://schemas.openxmlformats.org/officeDocument/2006/relationships/notesMaster" Target="/ppt/notesMasters/notesMaster1.xml" Id="Red181e9808f346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09bf6bec4d4c1f" /><Relationship Type="http://schemas.openxmlformats.org/officeDocument/2006/relationships/notesMaster" Target="/ppt/notesMasters/notesMaster1.xml" Id="Racc8ab92e80f45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a4b35f1814042fa" /><Relationship Type="http://schemas.openxmlformats.org/officeDocument/2006/relationships/notesMaster" Target="/ppt/notesMasters/notesMaster1.xml" Id="R3f731bbe763e47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b16bdfa7b5346c6" /><Relationship Type="http://schemas.openxmlformats.org/officeDocument/2006/relationships/notesMaster" Target="/ppt/notesMasters/notesMaster1.xml" Id="Re9ac1d34e2804d6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e0dee4ca6b464a" /><Relationship Type="http://schemas.openxmlformats.org/officeDocument/2006/relationships/notesMaster" Target="/ppt/notesMasters/notesMaster1.xml" Id="Rc05c43ac84a84b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eea7e9cc7844063" /><Relationship Type="http://schemas.openxmlformats.org/officeDocument/2006/relationships/notesMaster" Target="/ppt/notesMasters/notesMaster1.xml" Id="R344bb1caea66460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5b9dc7c8ef74369" /><Relationship Type="http://schemas.openxmlformats.org/officeDocument/2006/relationships/notesMaster" Target="/ppt/notesMasters/notesMaster1.xml" Id="Ra78d06208ed543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0:00-0:35. Introduce the IWFC prototype and say the presentation will show the design, key code, tests, and running console. The repository is private. Before submission, record the video, upload it to YouTube or an accessible student OneDrive, replace the visible video-link line on this first slide with the real URL, and verify tutor access. Source: CMP 7001 PRES1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0:35-1:15. The scenario starts with fragmented manual equipment records, booking processes, and maintenance reporting. The project objective is one small management tool. Emphasise that this is an in-memory academic prototype, not a deployed production service. Source: CMP 7001 PRAC1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1:15-2:00. Walk through the three actors. An Administrator registers accounts and equipment. An Instructor schedules a class, records usage and reports a fault. A Member views availability and books a place. Maintenance then progresses Pending to Assigned to Completed. Explain the guardrails: 06:00 to 22:00, overlap checks, capacity and active equipment. Source: PRAC1 brief and IWFCFacade/BookingService/MaintenanceService.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2:00-3:15. This is the required class diagram. All 15 top-level production classes appear. Point to the abstract User with three concrete subclasses, then the three core domain entities. The Facade coordinates two services, the Factory and typed GenericRepository. Three checked custom exceptions express failure categories. Nested enums belong to their source files and do not increase the 15-file count. Source: src/main/java, inspected 22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3:15-4:10. Factory: EntityFactory creates all three roles and equipment, and the Facade calls it. Facade: public task methods guard role and account state before coordinating repositories and services. Observer: MaintenanceService publishes a new fault or 100-hour alert to active Administrators, while assignment and completion reach the reporting Instructor. Inactive and unrelated users receive no event. Source: EntityFactory, IWFCFacade, MaintenanceService, User,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4:10-4:55. User is abstract and holds shared identity, account state and notification behaviour. Administrator, Instructor and Member override getRoleDescription. A User reference can represent any role, which is real polymorphism. GenericRepository&lt;T&gt; reuses one typed store for four entity types. Collections are chosen by meaning: maps for ID lookup, sets for unique bookings and alerts, lists for ordered snapshots and notifications. Encapsulated status methods stop callers bypassing transitions. Source: domain classes, GenericRepository, evidence pack.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4:55-5:40. Explain three checked custom exceptions and the maintenance transition rule. Scheduling rejects outside 06:00-22:00 and overlapping instructor, studio or equipment use. Booking rejects full capacity and repeat Member booking. The Facade rejects wrong roles and inactive or unregistered actors. Duplicate IDs fail in GenericRepository. MaintenanceRequest permits only Pending to Assigned to Completed; invalid transitions use IllegalStateException. Source: BookingService, IWFCFacade, GenericRepository, MaintenanceRequest.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5:40-6:30. Maven Surefire recorded 14 test suites, 126 tests, zero failures, zero errors and zero skipped. The coverage spans domain validation, repository and Factory, services, Facade authorization, console and integration. Mention deliberately rejected scenarios tested with assertThrows, rather than a permanently failing suite. Boundaries include 06:00 and 22:00, adjacent versus overlapping sessions, capacity, and 99.9 versus 100 hours. Source: target/surefire-reports XML and final technical evidence pack.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6:30-7:20. The six integration tests include the full workflow through public Facade methods and rejected duplicate equipment, conflicting sessions, unauthorized log access and invalid maintenance transitions. One defect emerged in preventative alerts: a simple once-ever latch would suppress later maintenance cycles. The completed design rearms a per-equipment threshold after maintenance completion and tests a second cycle without duplicate alerts. This is a documented design correction, not an invented production incident. Source: IWFCWorkflowIntegrationTest, MaintenanceServiceTest, docs/phase-05.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7:20-8:35. Leave the slide briefly and show the running console. From the project directory run the packaged JAR command shown. Enter a one-time Administrator ID and name, select option 1. Narrate user registration, Spin Bike creation, session scheduling and Member booking. Show usage, fault reporting, assignment, Instructor notification and completion. Point to final OPERATIONAL equipment and COMPLETED request. Select 0 to exit. If time is tight, show the essential stages only. Source: README and IWFCFacade.main.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8:35-9:20. Be candid: this is an in-memory, single-process prototype. Restarting loses data. Account identity is guarded by registered object identity and role but has no password authentication. Recurring weekly classes are optional and not implemented. Member wellness or schedule notifications are not published, although maintenance notifications work. Future work is persistent transactional storage, real authentication, concurrency-safe bookings, recurrence and Member reminders. Source: report and evidence pack.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9:20-10:00. Summarise the learning: a small domain model can enforce real booking and maintenance rules, patterns matter when they support an actual workflow, and tests make boundary behaviour explainable. The hardest design choice was keeping the 15-file architecture while making Observer delivery and alert reset robust. Show the repository link on slide one again if asked. Finish the recording and replace slide one's video placeholder with a real accessible URL before submission. The brief also asks you to check recorded audio and screen capture. Source: completed project and PRES1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2c2fe1cc584f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bf4ec201e749bf" /><Relationship Type="http://schemas.openxmlformats.org/officeDocument/2006/relationships/slideLayout" Target="/ppt/slideLayouts/slideLayout1.xml" Id="R7acb8abb34a84d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cb8abb34a84d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fe65da2fccb4c7f" /><Relationship Type="http://schemas.openxmlformats.org/officeDocument/2006/relationships/notesSlide" Target="/ppt/notesSlides/notesSlide1.xml" Id="Rda10406c95c244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68ed09972934522" /><Relationship Type="http://schemas.openxmlformats.org/officeDocument/2006/relationships/notesSlide" Target="/ppt/notesSlides/notesSlide2.xml" Id="Rcaf9f7eec4174a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99103948274bbb" /><Relationship Type="http://schemas.openxmlformats.org/officeDocument/2006/relationships/notesSlide" Target="/ppt/notesSlides/notesSlide3.xml" Id="R27793aea7cf74f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52cb6cbf92840ce" /><Relationship Type="http://schemas.openxmlformats.org/officeDocument/2006/relationships/notesSlide" Target="/ppt/notesSlides/notesSlide4.xml" Id="R3123d1ace0aa4a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1d2dd598dc645dd" /><Relationship Type="http://schemas.openxmlformats.org/officeDocument/2006/relationships/notesSlide" Target="/ppt/notesSlides/notesSlide5.xml" Id="R44e81fa055524c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a7d49f775e24080" /><Relationship Type="http://schemas.openxmlformats.org/officeDocument/2006/relationships/notesSlide" Target="/ppt/notesSlides/notesSlide6.xml" Id="Re7d95c93cf0a49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390a09dcafd460f" /><Relationship Type="http://schemas.openxmlformats.org/officeDocument/2006/relationships/notesSlide" Target="/ppt/notesSlides/notesSlide7.xml" Id="R402682589761400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c7c80cd44534aa0" /><Relationship Type="http://schemas.openxmlformats.org/officeDocument/2006/relationships/notesSlide" Target="/ppt/notesSlides/notesSlide8.xml" Id="Re7ef43f166f541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0b083ff6d8a4ce6" /><Relationship Type="http://schemas.openxmlformats.org/officeDocument/2006/relationships/notesSlide" Target="/ppt/notesSlides/notesSlide9.xml" Id="R781d5eb3fb824d0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176de21be3e41e3" /><Relationship Type="http://schemas.openxmlformats.org/officeDocument/2006/relationships/notesSlide" Target="/ppt/notesSlides/notesSlide10.xml" Id="Rff3dab80990548b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36d6046e7624f76" /><Relationship Type="http://schemas.openxmlformats.org/officeDocument/2006/relationships/notesSlide" Target="/ppt/notesSlides/notesSlide11.xml" Id="R962e3817a28c472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5301c2880d94c6f" /><Relationship Type="http://schemas.openxmlformats.org/officeDocument/2006/relationships/notesSlide" Target="/ppt/notesSlides/notesSlide12.xml" Id="R1083e92be182497b" /></Relationships>
</file>

<file path=ppt/slides/slide1.xml><?xml version="1.0" encoding="utf-8"?>
<p:sld xmlns:p="http://schemas.openxmlformats.org/presentationml/2006/main">
  <p:cSld>
    <p:bg>
      <p:bgPr>
        <a:solidFill xmlns:a="http://schemas.openxmlformats.org/drawingml/2006/main">
          <a:srgbClr val="16324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6B6402C-CE9A-418B-8E8C-71C83CAA1CC8}"/>
              </a:ext>
            </a:extLst>
          </p:cNvPr>
          <p:cNvSpPr>
            <a:spLocks xmlns:a="http://schemas.openxmlformats.org/drawingml/2006/main" noGrp="1"/>
          </p:cNvSpPr>
          <p:nvPr/>
        </p:nvSpPr>
        <p:spPr>
          <a:xfrm xmlns:a="http://schemas.openxmlformats.org/drawingml/2006/main">
            <a:off x="704850" y="1162050"/>
            <a:ext cx="10001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Intelligent Wellness and</a:t>
            </a:r>
          </a:p>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Fitness Center</a:t>
            </a:r>
          </a:p>
        </p:txBody>
      </p:sp>
      <p:sp>
        <p:nvSpPr>
          <p:cNvPr id="2" name="">
            <a:extLst xmlns:a="http://schemas.openxmlformats.org/drawingml/2006/main">
              <a:ext uri="{FF2B5EF4-FFF2-40B4-BE49-F238E27FC236}">
                <a16:creationId xmlns:a16="http://schemas.microsoft.com/office/drawing/2014/main" id="{19D8C846-A66F-44FF-966A-54136F25E586}"/>
              </a:ext>
            </a:extLst>
          </p:cNvPr>
          <p:cNvSpPr>
            <a:spLocks xmlns:a="http://schemas.openxmlformats.org/drawingml/2006/main" noGrp="1"/>
          </p:cNvSpPr>
          <p:nvPr/>
        </p:nvSpPr>
        <p:spPr>
          <a:xfrm xmlns:a="http://schemas.openxmlformats.org/drawingml/2006/main">
            <a:off x="723900" y="3038475"/>
            <a:ext cx="885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9EDF3"/>
                </a:solidFill>
                <a:latin typeface="Arial"/>
                <a:ea typeface="Arial"/>
                <a:cs typeface="Arial"/>
              </a:defRPr>
            </a:pPr>
            <a:r>
              <a:rPr sz="1875" b="0">
                <a:solidFill>
                  <a:srgbClr val="D9EDF3"/>
                </a:solidFill>
                <a:latin typeface="Arial"/>
                <a:ea typeface="Arial"/>
                <a:cs typeface="Arial"/>
              </a:rPr>
              <a:t>Java prototype  |  CMP 7001 PRES1</a:t>
            </a:r>
          </a:p>
        </p:txBody>
      </p:sp>
      <p:sp>
        <p:nvSpPr>
          <p:cNvPr id="3" name="">
            <a:extLst xmlns:a="http://schemas.openxmlformats.org/drawingml/2006/main">
              <a:ext uri="{FF2B5EF4-FFF2-40B4-BE49-F238E27FC236}">
                <a16:creationId xmlns:a16="http://schemas.microsoft.com/office/drawing/2014/main" id="{080A8C17-D6D7-49CF-B133-FB08C62D25F8}"/>
              </a:ext>
            </a:extLst>
          </p:cNvPr>
          <p:cNvSpPr>
            <a:spLocks xmlns:a="http://schemas.openxmlformats.org/drawingml/2006/main" noGrp="1"/>
          </p:cNvSpPr>
          <p:nvPr/>
        </p:nvSpPr>
        <p:spPr>
          <a:xfrm xmlns:a="http://schemas.openxmlformats.org/drawingml/2006/main">
            <a:off x="723900" y="3790950"/>
            <a:ext cx="10563225" cy="0"/>
          </a:xfrm>
          <a:prstGeom xmlns:a="http://schemas.openxmlformats.org/drawingml/2006/main" prst="line">
            <a:avLst/>
          </a:prstGeom>
          <a:noFill xmlns:a="http://schemas.openxmlformats.org/drawingml/2006/main"/>
          <a:ln xmlns:a="http://schemas.openxmlformats.org/drawingml/2006/main" w="38100">
            <a:solidFill>
              <a:srgbClr val="68C7C4"/>
            </a:solidFill>
          </a:ln>
        </p:spPr>
      </p:sp>
      <p:sp>
        <p:nvSpPr>
          <p:cNvPr id="4" name="">
            <a:extLst xmlns:a="http://schemas.openxmlformats.org/drawingml/2006/main">
              <a:ext uri="{FF2B5EF4-FFF2-40B4-BE49-F238E27FC236}">
                <a16:creationId xmlns:a16="http://schemas.microsoft.com/office/drawing/2014/main" id="{5C418582-BA70-4141-9637-A8649E8986F0}"/>
              </a:ext>
            </a:extLst>
          </p:cNvPr>
          <p:cNvSpPr>
            <a:spLocks xmlns:a="http://schemas.openxmlformats.org/drawingml/2006/main" noGrp="1"/>
          </p:cNvSpPr>
          <p:nvPr/>
        </p:nvSpPr>
        <p:spPr>
          <a:xfrm xmlns:a="http://schemas.openxmlformats.org/drawingml/2006/main">
            <a:off x="723900" y="4124325"/>
            <a:ext cx="5905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Mohamed Rifad</a:t>
            </a:r>
          </a:p>
        </p:txBody>
      </p:sp>
      <p:sp>
        <p:nvSpPr>
          <p:cNvPr id="5" name="">
            <a:extLst xmlns:a="http://schemas.openxmlformats.org/drawingml/2006/main">
              <a:ext uri="{FF2B5EF4-FFF2-40B4-BE49-F238E27FC236}">
                <a16:creationId xmlns:a16="http://schemas.microsoft.com/office/drawing/2014/main" id="{3D9B676E-C85B-4975-8126-320B0569388B}"/>
              </a:ext>
            </a:extLst>
          </p:cNvPr>
          <p:cNvSpPr>
            <a:spLocks xmlns:a="http://schemas.openxmlformats.org/drawingml/2006/main" noGrp="1"/>
          </p:cNvSpPr>
          <p:nvPr/>
        </p:nvSpPr>
        <p:spPr>
          <a:xfrm xmlns:a="http://schemas.openxmlformats.org/drawingml/2006/main">
            <a:off x="723900" y="479107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Repository: https://github.com/MohamedRifad/intelligent-wellness-and-fitness-center</a:t>
            </a:r>
          </a:p>
        </p:txBody>
      </p:sp>
      <p:sp>
        <p:nvSpPr>
          <p:cNvPr id="6" name="">
            <a:extLst xmlns:a="http://schemas.openxmlformats.org/drawingml/2006/main">
              <a:ext uri="{FF2B5EF4-FFF2-40B4-BE49-F238E27FC236}">
                <a16:creationId xmlns:a16="http://schemas.microsoft.com/office/drawing/2014/main" id="{134BAC1C-1B5B-4F96-95F5-C5532BBD5214}"/>
              </a:ext>
            </a:extLst>
          </p:cNvPr>
          <p:cNvSpPr>
            <a:spLocks xmlns:a="http://schemas.openxmlformats.org/drawingml/2006/main" noGrp="1"/>
          </p:cNvSpPr>
          <p:nvPr/>
        </p:nvSpPr>
        <p:spPr>
          <a:xfrm xmlns:a="http://schemas.openxmlformats.org/drawingml/2006/main">
            <a:off x="723900" y="53530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5D69A"/>
                </a:solidFill>
                <a:latin typeface="Arial"/>
                <a:ea typeface="Arial"/>
                <a:cs typeface="Arial"/>
              </a:defRPr>
            </a:pPr>
            <a:r>
              <a:rPr sz="1575" b="1">
                <a:solidFill>
                  <a:srgbClr val="F5D69A"/>
                </a:solidFill>
                <a:latin typeface="Arial"/>
                <a:ea typeface="Arial"/>
                <a:cs typeface="Arial"/>
              </a:rPr>
              <a:t>Video link: ADD AFTER RECORDING (YouTube or accessible OneDrive)</a:t>
            </a:r>
          </a:p>
        </p:txBody>
      </p:sp>
    </p:spTree>
    <p:extLst>
      <p:ext uri="{BB962C8B-B14F-4D97-AF65-F5344CB8AC3E}">
        <p14:creationId xmlns:p14="http://schemas.microsoft.com/office/powerpoint/2010/main" val="7849280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95A9B54-F4FD-4FA4-951E-8DF076051F41}"/>
              </a:ext>
            </a:extLst>
          </p:cNvPr>
          <p:cNvSpPr>
            <a:spLocks xmlns:a="http://schemas.openxmlformats.org/drawingml/2006/main" noGrp="1"/>
          </p:cNvSpPr>
          <p:nvPr/>
        </p:nvSpPr>
        <p:spPr>
          <a:xfrm xmlns:a="http://schemas.openxmlformats.org/drawingml/2006/main">
            <a:off x="609600" y="4191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C"/>
                </a:solidFill>
                <a:latin typeface="Arial"/>
                <a:ea typeface="Arial"/>
                <a:cs typeface="Arial"/>
              </a:defRPr>
            </a:pPr>
            <a:r>
              <a:rPr sz="2700" b="1">
                <a:solidFill>
                  <a:srgbClr val="16324C"/>
                </a:solidFill>
                <a:latin typeface="Arial"/>
                <a:ea typeface="Arial"/>
                <a:cs typeface="Arial"/>
              </a:rPr>
              <a:t>Problem and objective</a:t>
            </a:r>
          </a:p>
        </p:txBody>
      </p:sp>
      <p:sp>
        <p:nvSpPr>
          <p:cNvPr id="2" name="">
            <a:extLst xmlns:a="http://schemas.openxmlformats.org/drawingml/2006/main">
              <a:ext uri="{FF2B5EF4-FFF2-40B4-BE49-F238E27FC236}">
                <a16:creationId xmlns:a16="http://schemas.microsoft.com/office/drawing/2014/main" id="{A9266804-3BE1-4F48-A59E-0C2F7E44914F}"/>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38100">
            <a:solidFill>
              <a:srgbClr val="167D86"/>
            </a:solidFill>
          </a:ln>
        </p:spPr>
      </p:sp>
      <p:sp>
        <p:nvSpPr>
          <p:cNvPr id="3" name="">
            <a:extLst xmlns:a="http://schemas.openxmlformats.org/drawingml/2006/main">
              <a:ext uri="{FF2B5EF4-FFF2-40B4-BE49-F238E27FC236}">
                <a16:creationId xmlns:a16="http://schemas.microsoft.com/office/drawing/2014/main" id="{C3F9E2DB-1EFE-4FCC-8076-9623DC9EA26A}"/>
              </a:ext>
            </a:extLst>
          </p:cNvPr>
          <p:cNvSpPr>
            <a:spLocks xmlns:a="http://schemas.openxmlformats.org/drawingml/2006/main" noGrp="1"/>
          </p:cNvSpPr>
          <p:nvPr/>
        </p:nvSpPr>
        <p:spPr>
          <a:xfrm xmlns:a="http://schemas.openxmlformats.org/drawingml/2006/main">
            <a:off x="609600" y="64484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F6C76"/>
                </a:solidFill>
                <a:latin typeface="Arial"/>
                <a:ea typeface="Arial"/>
                <a:cs typeface="Arial"/>
              </a:defRPr>
            </a:pPr>
            <a:r>
              <a:rPr sz="975" b="0">
                <a:solidFill>
                  <a:srgbClr val="5F6C76"/>
                </a:solidFill>
                <a:latin typeface="Arial"/>
                <a:ea typeface="Arial"/>
                <a:cs typeface="Arial"/>
              </a:rPr>
              <a:t>IWFC  /  CMP 7001 PRES1</a:t>
            </a:r>
          </a:p>
        </p:txBody>
      </p:sp>
      <p:sp>
        <p:nvSpPr>
          <p:cNvPr id="4" name="">
            <a:extLst xmlns:a="http://schemas.openxmlformats.org/drawingml/2006/main">
              <a:ext uri="{FF2B5EF4-FFF2-40B4-BE49-F238E27FC236}">
                <a16:creationId xmlns:a16="http://schemas.microsoft.com/office/drawing/2014/main" id="{F8124B68-325C-4260-9654-661550875F78}"/>
              </a:ext>
            </a:extLst>
          </p:cNvPr>
          <p:cNvSpPr>
            <a:spLocks xmlns:a="http://schemas.openxmlformats.org/drawingml/2006/main" noGrp="1"/>
          </p:cNvSpPr>
          <p:nvPr/>
        </p:nvSpPr>
        <p:spPr>
          <a:xfrm xmlns:a="http://schemas.openxmlformats.org/drawingml/2006/main">
            <a:off x="11068050" y="642937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5F6C76"/>
                </a:solidFill>
                <a:latin typeface="Arial"/>
                <a:ea typeface="Arial"/>
                <a:cs typeface="Arial"/>
              </a:defRPr>
            </a:pPr>
            <a:r>
              <a:rPr sz="975" b="1">
                <a:solidFill>
                  <a:srgbClr val="5F6C7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11CD84B2-8181-46E1-88D4-84E306BF8C0B}"/>
              </a:ext>
            </a:extLst>
          </p:cNvPr>
          <p:cNvSpPr>
            <a:spLocks xmlns:a="http://schemas.openxmlformats.org/drawingml/2006/main" noGrp="1"/>
          </p:cNvSpPr>
          <p:nvPr/>
        </p:nvSpPr>
        <p:spPr>
          <a:xfrm xmlns:a="http://schemas.openxmlformats.org/drawingml/2006/main">
            <a:off x="714375" y="17716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324C"/>
                </a:solidFill>
                <a:latin typeface="Arial"/>
                <a:ea typeface="Arial"/>
                <a:cs typeface="Arial"/>
              </a:defRPr>
            </a:pPr>
            <a:r>
              <a:rPr sz="1950" b="1">
                <a:solidFill>
                  <a:srgbClr val="16324C"/>
                </a:solidFill>
                <a:latin typeface="Arial"/>
                <a:ea typeface="Arial"/>
                <a:cs typeface="Arial"/>
              </a:rPr>
              <a:t>Problem</a:t>
            </a:r>
          </a:p>
        </p:txBody>
      </p:sp>
      <p:sp>
        <p:nvSpPr>
          <p:cNvPr id="6" name="">
            <a:extLst xmlns:a="http://schemas.openxmlformats.org/drawingml/2006/main">
              <a:ext uri="{FF2B5EF4-FFF2-40B4-BE49-F238E27FC236}">
                <a16:creationId xmlns:a16="http://schemas.microsoft.com/office/drawing/2014/main" id="{FF303626-D7AA-4BAF-91ED-8DA0FB28CB7F}"/>
              </a:ext>
            </a:extLst>
          </p:cNvPr>
          <p:cNvSpPr>
            <a:spLocks xmlns:a="http://schemas.openxmlformats.org/drawingml/2006/main" noGrp="1"/>
          </p:cNvSpPr>
          <p:nvPr/>
        </p:nvSpPr>
        <p:spPr>
          <a:xfrm xmlns:a="http://schemas.openxmlformats.org/drawingml/2006/main">
            <a:off x="714375" y="226695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C2933"/>
                </a:solidFill>
                <a:latin typeface="Arial"/>
                <a:ea typeface="Arial"/>
                <a:cs typeface="Arial"/>
              </a:defRPr>
            </a:pPr>
            <a:r>
              <a:rPr sz="1575" b="0">
                <a:solidFill>
                  <a:srgbClr val="1C2933"/>
                </a:solidFill>
                <a:latin typeface="Arial"/>
                <a:ea typeface="Arial"/>
                <a:cs typeface="Arial"/>
              </a:rPr>
              <a:t>Separate records make resource clashes and fault follow-up hard to control.</a:t>
            </a:r>
          </a:p>
        </p:txBody>
      </p:sp>
      <p:sp>
        <p:nvSpPr>
          <p:cNvPr id="7" name="">
            <a:extLst xmlns:a="http://schemas.openxmlformats.org/drawingml/2006/main">
              <a:ext uri="{FF2B5EF4-FFF2-40B4-BE49-F238E27FC236}">
                <a16:creationId xmlns:a16="http://schemas.microsoft.com/office/drawing/2014/main" id="{F03BF470-61AA-4F96-8737-470B8E38BFAF}"/>
              </a:ext>
            </a:extLst>
          </p:cNvPr>
          <p:cNvSpPr>
            <a:spLocks xmlns:a="http://schemas.openxmlformats.org/drawingml/2006/main" noGrp="1"/>
          </p:cNvSpPr>
          <p:nvPr/>
        </p:nvSpPr>
        <p:spPr>
          <a:xfrm xmlns:a="http://schemas.openxmlformats.org/drawingml/2006/main">
            <a:off x="6429375" y="17716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324C"/>
                </a:solidFill>
                <a:latin typeface="Arial"/>
                <a:ea typeface="Arial"/>
                <a:cs typeface="Arial"/>
              </a:defRPr>
            </a:pPr>
            <a:r>
              <a:rPr sz="1950" b="1">
                <a:solidFill>
                  <a:srgbClr val="16324C"/>
                </a:solidFill>
                <a:latin typeface="Arial"/>
                <a:ea typeface="Arial"/>
                <a:cs typeface="Arial"/>
              </a:rPr>
              <a:t>Objective</a:t>
            </a:r>
          </a:p>
        </p:txBody>
      </p:sp>
      <p:sp>
        <p:nvSpPr>
          <p:cNvPr id="8" name="">
            <a:extLst xmlns:a="http://schemas.openxmlformats.org/drawingml/2006/main">
              <a:ext uri="{FF2B5EF4-FFF2-40B4-BE49-F238E27FC236}">
                <a16:creationId xmlns:a16="http://schemas.microsoft.com/office/drawing/2014/main" id="{49032B4C-DF51-4510-A826-CB38BD117881}"/>
              </a:ext>
            </a:extLst>
          </p:cNvPr>
          <p:cNvSpPr>
            <a:spLocks xmlns:a="http://schemas.openxmlformats.org/drawingml/2006/main" noGrp="1"/>
          </p:cNvSpPr>
          <p:nvPr/>
        </p:nvSpPr>
        <p:spPr>
          <a:xfrm xmlns:a="http://schemas.openxmlformats.org/drawingml/2006/main">
            <a:off x="6429375" y="226695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C2933"/>
                </a:solidFill>
                <a:latin typeface="Arial"/>
                <a:ea typeface="Arial"/>
                <a:cs typeface="Arial"/>
              </a:defRPr>
            </a:pPr>
            <a:r>
              <a:rPr sz="1575" b="0">
                <a:solidFill>
                  <a:srgbClr val="1C2933"/>
                </a:solidFill>
                <a:latin typeface="Arial"/>
                <a:ea typeface="Arial"/>
                <a:cs typeface="Arial"/>
              </a:rPr>
              <a:t>One use-case boundary connects equipment, sessions, bookings and maintenance.</a:t>
            </a:r>
          </a:p>
        </p:txBody>
      </p:sp>
      <p:sp>
        <p:nvSpPr>
          <p:cNvPr id="9" name="">
            <a:extLst xmlns:a="http://schemas.openxmlformats.org/drawingml/2006/main">
              <a:ext uri="{FF2B5EF4-FFF2-40B4-BE49-F238E27FC236}">
                <a16:creationId xmlns:a16="http://schemas.microsoft.com/office/drawing/2014/main" id="{AB58A0F1-12F8-4BDE-B0BB-6E0F1AD7CC76}"/>
              </a:ext>
            </a:extLst>
          </p:cNvPr>
          <p:cNvSpPr>
            <a:spLocks xmlns:a="http://schemas.openxmlformats.org/drawingml/2006/main" noGrp="1"/>
          </p:cNvSpPr>
          <p:nvPr/>
        </p:nvSpPr>
        <p:spPr>
          <a:xfrm xmlns:a="http://schemas.openxmlformats.org/drawingml/2006/main">
            <a:off x="714375" y="42862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7D86"/>
                </a:solidFill>
                <a:latin typeface="Arial"/>
                <a:ea typeface="Arial"/>
                <a:cs typeface="Arial"/>
              </a:defRPr>
            </a:pPr>
            <a:r>
              <a:rPr sz="1200" b="1">
                <a:solidFill>
                  <a:srgbClr val="167D86"/>
                </a:solidFill>
                <a:latin typeface="Arial"/>
                <a:ea typeface="Arial"/>
                <a:cs typeface="Arial"/>
              </a:rPr>
              <a:t>PROTOTYPE SCOPE</a:t>
            </a:r>
          </a:p>
        </p:txBody>
      </p:sp>
      <p:sp>
        <p:nvSpPr>
          <p:cNvPr id="10" name="">
            <a:extLst xmlns:a="http://schemas.openxmlformats.org/drawingml/2006/main">
              <a:ext uri="{FF2B5EF4-FFF2-40B4-BE49-F238E27FC236}">
                <a16:creationId xmlns:a16="http://schemas.microsoft.com/office/drawing/2014/main" id="{A9C97FDB-DA16-4262-AF9C-FDE7BE49F05B}"/>
              </a:ext>
            </a:extLst>
          </p:cNvPr>
          <p:cNvSpPr>
            <a:spLocks xmlns:a="http://schemas.openxmlformats.org/drawingml/2006/main" noGrp="1"/>
          </p:cNvSpPr>
          <p:nvPr/>
        </p:nvSpPr>
        <p:spPr>
          <a:xfrm xmlns:a="http://schemas.openxmlformats.org/drawingml/2006/main">
            <a:off x="714375" y="4695825"/>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C2933"/>
                </a:solidFill>
                <a:latin typeface="Arial"/>
                <a:ea typeface="Arial"/>
                <a:cs typeface="Arial"/>
              </a:defRPr>
            </a:pPr>
            <a:r>
              <a:rPr sz="2025" b="1">
                <a:solidFill>
                  <a:srgbClr val="1C2933"/>
                </a:solidFill>
                <a:latin typeface="Arial"/>
                <a:ea typeface="Arial"/>
                <a:cs typeface="Arial"/>
              </a:rPr>
              <a:t>15 Java source files     Java 21     Console demo     No database required</a:t>
            </a:r>
          </a:p>
        </p:txBody>
      </p:sp>
    </p:spTree>
    <p:extLst>
      <p:ext uri="{BB962C8B-B14F-4D97-AF65-F5344CB8AC3E}">
        <p14:creationId xmlns:p14="http://schemas.microsoft.com/office/powerpoint/2010/main" val="1807640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09F95F0-5155-459F-9EB1-9321DB512493}"/>
              </a:ext>
            </a:extLst>
          </p:cNvPr>
          <p:cNvSpPr>
            <a:spLocks xmlns:a="http://schemas.openxmlformats.org/drawingml/2006/main" noGrp="1"/>
          </p:cNvSpPr>
          <p:nvPr/>
        </p:nvSpPr>
        <p:spPr>
          <a:xfrm xmlns:a="http://schemas.openxmlformats.org/drawingml/2006/main">
            <a:off x="609600" y="4191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C"/>
                </a:solidFill>
                <a:latin typeface="Arial"/>
                <a:ea typeface="Arial"/>
                <a:cs typeface="Arial"/>
              </a:defRPr>
            </a:pPr>
            <a:r>
              <a:rPr sz="2700" b="1">
                <a:solidFill>
                  <a:srgbClr val="16324C"/>
                </a:solidFill>
                <a:latin typeface="Arial"/>
                <a:ea typeface="Arial"/>
                <a:cs typeface="Arial"/>
              </a:rPr>
              <a:t>Core workflows</a:t>
            </a:r>
          </a:p>
        </p:txBody>
      </p:sp>
      <p:sp>
        <p:nvSpPr>
          <p:cNvPr id="2" name="">
            <a:extLst xmlns:a="http://schemas.openxmlformats.org/drawingml/2006/main">
              <a:ext uri="{FF2B5EF4-FFF2-40B4-BE49-F238E27FC236}">
                <a16:creationId xmlns:a16="http://schemas.microsoft.com/office/drawing/2014/main" id="{0A0661BD-E834-4D58-BBE6-1174DC4BEAF7}"/>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38100">
            <a:solidFill>
              <a:srgbClr val="167D86"/>
            </a:solidFill>
          </a:ln>
        </p:spPr>
      </p:sp>
      <p:sp>
        <p:nvSpPr>
          <p:cNvPr id="3" name="">
            <a:extLst xmlns:a="http://schemas.openxmlformats.org/drawingml/2006/main">
              <a:ext uri="{FF2B5EF4-FFF2-40B4-BE49-F238E27FC236}">
                <a16:creationId xmlns:a16="http://schemas.microsoft.com/office/drawing/2014/main" id="{6F50E224-6CA9-4B7D-B45B-9DE90D2AD100}"/>
              </a:ext>
            </a:extLst>
          </p:cNvPr>
          <p:cNvSpPr>
            <a:spLocks xmlns:a="http://schemas.openxmlformats.org/drawingml/2006/main" noGrp="1"/>
          </p:cNvSpPr>
          <p:nvPr/>
        </p:nvSpPr>
        <p:spPr>
          <a:xfrm xmlns:a="http://schemas.openxmlformats.org/drawingml/2006/main">
            <a:off x="609600" y="64484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F6C76"/>
                </a:solidFill>
                <a:latin typeface="Arial"/>
                <a:ea typeface="Arial"/>
                <a:cs typeface="Arial"/>
              </a:defRPr>
            </a:pPr>
            <a:r>
              <a:rPr sz="975" b="0">
                <a:solidFill>
                  <a:srgbClr val="5F6C76"/>
                </a:solidFill>
                <a:latin typeface="Arial"/>
                <a:ea typeface="Arial"/>
                <a:cs typeface="Arial"/>
              </a:rPr>
              <a:t>IWFC  /  CMP 7001 PRES1</a:t>
            </a:r>
          </a:p>
        </p:txBody>
      </p:sp>
      <p:sp>
        <p:nvSpPr>
          <p:cNvPr id="4" name="">
            <a:extLst xmlns:a="http://schemas.openxmlformats.org/drawingml/2006/main">
              <a:ext uri="{FF2B5EF4-FFF2-40B4-BE49-F238E27FC236}">
                <a16:creationId xmlns:a16="http://schemas.microsoft.com/office/drawing/2014/main" id="{E31CB56E-B1DB-4396-AD5C-92A3D53C86B1}"/>
              </a:ext>
            </a:extLst>
          </p:cNvPr>
          <p:cNvSpPr>
            <a:spLocks xmlns:a="http://schemas.openxmlformats.org/drawingml/2006/main" noGrp="1"/>
          </p:cNvSpPr>
          <p:nvPr/>
        </p:nvSpPr>
        <p:spPr>
          <a:xfrm xmlns:a="http://schemas.openxmlformats.org/drawingml/2006/main">
            <a:off x="11068050" y="642937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5F6C76"/>
                </a:solidFill>
                <a:latin typeface="Arial"/>
                <a:ea typeface="Arial"/>
                <a:cs typeface="Arial"/>
              </a:defRPr>
            </a:pPr>
            <a:r>
              <a:rPr sz="975" b="1">
                <a:solidFill>
                  <a:srgbClr val="5F6C76"/>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DEC938B8-EABD-4980-8535-25F394761072}"/>
              </a:ext>
            </a:extLst>
          </p:cNvPr>
          <p:cNvSpPr>
            <a:spLocks xmlns:a="http://schemas.openxmlformats.org/drawingml/2006/main" noGrp="1"/>
          </p:cNvSpPr>
          <p:nvPr/>
        </p:nvSpPr>
        <p:spPr>
          <a:xfrm xmlns:a="http://schemas.openxmlformats.org/drawingml/2006/main">
            <a:off x="723900" y="17526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7D86"/>
                </a:solidFill>
                <a:latin typeface="Arial"/>
                <a:ea typeface="Arial"/>
                <a:cs typeface="Arial"/>
              </a:defRPr>
            </a:pPr>
            <a:r>
              <a:rPr sz="1200" b="1">
                <a:solidFill>
                  <a:srgbClr val="167D86"/>
                </a:solidFill>
                <a:latin typeface="Arial"/>
                <a:ea typeface="Arial"/>
                <a:cs typeface="Arial"/>
              </a:rPr>
              <a:t>ADMINISTRATOR</a:t>
            </a:r>
          </a:p>
        </p:txBody>
      </p:sp>
      <p:sp>
        <p:nvSpPr>
          <p:cNvPr id="6" name="">
            <a:extLst xmlns:a="http://schemas.openxmlformats.org/drawingml/2006/main">
              <a:ext uri="{FF2B5EF4-FFF2-40B4-BE49-F238E27FC236}">
                <a16:creationId xmlns:a16="http://schemas.microsoft.com/office/drawing/2014/main" id="{1C5CA055-9236-4610-AC03-551A122ACA07}"/>
              </a:ext>
            </a:extLst>
          </p:cNvPr>
          <p:cNvSpPr>
            <a:spLocks xmlns:a="http://schemas.openxmlformats.org/drawingml/2006/main" noGrp="1"/>
          </p:cNvSpPr>
          <p:nvPr/>
        </p:nvSpPr>
        <p:spPr>
          <a:xfrm xmlns:a="http://schemas.openxmlformats.org/drawingml/2006/main">
            <a:off x="3086100" y="1733550"/>
            <a:ext cx="7715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2933"/>
                </a:solidFill>
                <a:latin typeface="Arial"/>
                <a:ea typeface="Arial"/>
                <a:cs typeface="Arial"/>
              </a:defRPr>
            </a:pPr>
            <a:r>
              <a:rPr sz="1800" b="0">
                <a:solidFill>
                  <a:srgbClr val="1C2933"/>
                </a:solidFill>
                <a:latin typeface="Arial"/>
                <a:ea typeface="Arial"/>
                <a:cs typeface="Arial"/>
              </a:rPr>
              <a:t>Registers users; adds and updates equipment; assigns maintenance.</a:t>
            </a:r>
          </a:p>
        </p:txBody>
      </p:sp>
      <p:sp>
        <p:nvSpPr>
          <p:cNvPr id="7" name="">
            <a:extLst xmlns:a="http://schemas.openxmlformats.org/drawingml/2006/main">
              <a:ext uri="{FF2B5EF4-FFF2-40B4-BE49-F238E27FC236}">
                <a16:creationId xmlns:a16="http://schemas.microsoft.com/office/drawing/2014/main" id="{E9C992B2-B419-45D1-A5FA-6B9DDB672ED5}"/>
              </a:ext>
            </a:extLst>
          </p:cNvPr>
          <p:cNvSpPr>
            <a:spLocks xmlns:a="http://schemas.openxmlformats.org/drawingml/2006/main" noGrp="1"/>
          </p:cNvSpPr>
          <p:nvPr/>
        </p:nvSpPr>
        <p:spPr>
          <a:xfrm xmlns:a="http://schemas.openxmlformats.org/drawingml/2006/main">
            <a:off x="723900" y="2590800"/>
            <a:ext cx="10563225" cy="0"/>
          </a:xfrm>
          <a:prstGeom xmlns:a="http://schemas.openxmlformats.org/drawingml/2006/main" prst="line">
            <a:avLst/>
          </a:prstGeom>
          <a:noFill xmlns:a="http://schemas.openxmlformats.org/drawingml/2006/main"/>
          <a:ln xmlns:a="http://schemas.openxmlformats.org/drawingml/2006/main" w="19050">
            <a:solidFill>
              <a:srgbClr val="C7D5DE"/>
            </a:solidFill>
          </a:ln>
        </p:spPr>
      </p:sp>
      <p:sp>
        <p:nvSpPr>
          <p:cNvPr id="8" name="">
            <a:extLst xmlns:a="http://schemas.openxmlformats.org/drawingml/2006/main">
              <a:ext uri="{FF2B5EF4-FFF2-40B4-BE49-F238E27FC236}">
                <a16:creationId xmlns:a16="http://schemas.microsoft.com/office/drawing/2014/main" id="{4A049A58-690D-469E-9547-35172FA56D7E}"/>
              </a:ext>
            </a:extLst>
          </p:cNvPr>
          <p:cNvSpPr>
            <a:spLocks xmlns:a="http://schemas.openxmlformats.org/drawingml/2006/main" noGrp="1"/>
          </p:cNvSpPr>
          <p:nvPr/>
        </p:nvSpPr>
        <p:spPr>
          <a:xfrm xmlns:a="http://schemas.openxmlformats.org/drawingml/2006/main">
            <a:off x="723900" y="29813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7D86"/>
                </a:solidFill>
                <a:latin typeface="Arial"/>
                <a:ea typeface="Arial"/>
                <a:cs typeface="Arial"/>
              </a:defRPr>
            </a:pPr>
            <a:r>
              <a:rPr sz="1200" b="1">
                <a:solidFill>
                  <a:srgbClr val="167D86"/>
                </a:solidFill>
                <a:latin typeface="Arial"/>
                <a:ea typeface="Arial"/>
                <a:cs typeface="Arial"/>
              </a:rPr>
              <a:t>INSTRUCTOR</a:t>
            </a:r>
          </a:p>
        </p:txBody>
      </p:sp>
      <p:sp>
        <p:nvSpPr>
          <p:cNvPr id="9" name="">
            <a:extLst xmlns:a="http://schemas.openxmlformats.org/drawingml/2006/main">
              <a:ext uri="{FF2B5EF4-FFF2-40B4-BE49-F238E27FC236}">
                <a16:creationId xmlns:a16="http://schemas.microsoft.com/office/drawing/2014/main" id="{C3DA6BC6-D109-4701-A5EC-8464480F3A50}"/>
              </a:ext>
            </a:extLst>
          </p:cNvPr>
          <p:cNvSpPr>
            <a:spLocks xmlns:a="http://schemas.openxmlformats.org/drawingml/2006/main" noGrp="1"/>
          </p:cNvSpPr>
          <p:nvPr/>
        </p:nvSpPr>
        <p:spPr>
          <a:xfrm xmlns:a="http://schemas.openxmlformats.org/drawingml/2006/main">
            <a:off x="3086100" y="2962275"/>
            <a:ext cx="7715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2933"/>
                </a:solidFill>
                <a:latin typeface="Arial"/>
                <a:ea typeface="Arial"/>
                <a:cs typeface="Arial"/>
              </a:defRPr>
            </a:pPr>
            <a:r>
              <a:rPr sz="1800" b="0">
                <a:solidFill>
                  <a:srgbClr val="1C2933"/>
                </a:solidFill>
                <a:latin typeface="Arial"/>
                <a:ea typeface="Arial"/>
                <a:cs typeface="Arial"/>
              </a:rPr>
              <a:t>Schedules sessions; records equipment usage; reports faults.</a:t>
            </a:r>
          </a:p>
        </p:txBody>
      </p:sp>
      <p:sp>
        <p:nvSpPr>
          <p:cNvPr id="10" name="">
            <a:extLst xmlns:a="http://schemas.openxmlformats.org/drawingml/2006/main">
              <a:ext uri="{FF2B5EF4-FFF2-40B4-BE49-F238E27FC236}">
                <a16:creationId xmlns:a16="http://schemas.microsoft.com/office/drawing/2014/main" id="{594CB28A-FA61-409F-9F20-38C5720E0817}"/>
              </a:ext>
            </a:extLst>
          </p:cNvPr>
          <p:cNvSpPr>
            <a:spLocks xmlns:a="http://schemas.openxmlformats.org/drawingml/2006/main" noGrp="1"/>
          </p:cNvSpPr>
          <p:nvPr/>
        </p:nvSpPr>
        <p:spPr>
          <a:xfrm xmlns:a="http://schemas.openxmlformats.org/drawingml/2006/main">
            <a:off x="723900" y="3819525"/>
            <a:ext cx="10563225" cy="0"/>
          </a:xfrm>
          <a:prstGeom xmlns:a="http://schemas.openxmlformats.org/drawingml/2006/main" prst="line">
            <a:avLst/>
          </a:prstGeom>
          <a:noFill xmlns:a="http://schemas.openxmlformats.org/drawingml/2006/main"/>
          <a:ln xmlns:a="http://schemas.openxmlformats.org/drawingml/2006/main" w="19050">
            <a:solidFill>
              <a:srgbClr val="C7D5DE"/>
            </a:solidFill>
          </a:ln>
        </p:spPr>
      </p:sp>
      <p:sp>
        <p:nvSpPr>
          <p:cNvPr id="11" name="">
            <a:extLst xmlns:a="http://schemas.openxmlformats.org/drawingml/2006/main">
              <a:ext uri="{FF2B5EF4-FFF2-40B4-BE49-F238E27FC236}">
                <a16:creationId xmlns:a16="http://schemas.microsoft.com/office/drawing/2014/main" id="{F682BA31-6238-4C8C-8335-B83CCA53EAE9}"/>
              </a:ext>
            </a:extLst>
          </p:cNvPr>
          <p:cNvSpPr>
            <a:spLocks xmlns:a="http://schemas.openxmlformats.org/drawingml/2006/main" noGrp="1"/>
          </p:cNvSpPr>
          <p:nvPr/>
        </p:nvSpPr>
        <p:spPr>
          <a:xfrm xmlns:a="http://schemas.openxmlformats.org/drawingml/2006/main">
            <a:off x="723900" y="42100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7D86"/>
                </a:solidFill>
                <a:latin typeface="Arial"/>
                <a:ea typeface="Arial"/>
                <a:cs typeface="Arial"/>
              </a:defRPr>
            </a:pPr>
            <a:r>
              <a:rPr sz="1200" b="1">
                <a:solidFill>
                  <a:srgbClr val="167D86"/>
                </a:solidFill>
                <a:latin typeface="Arial"/>
                <a:ea typeface="Arial"/>
                <a:cs typeface="Arial"/>
              </a:rPr>
              <a:t>MEMBER</a:t>
            </a:r>
          </a:p>
        </p:txBody>
      </p:sp>
      <p:sp>
        <p:nvSpPr>
          <p:cNvPr id="12" name="">
            <a:extLst xmlns:a="http://schemas.openxmlformats.org/drawingml/2006/main">
              <a:ext uri="{FF2B5EF4-FFF2-40B4-BE49-F238E27FC236}">
                <a16:creationId xmlns:a16="http://schemas.microsoft.com/office/drawing/2014/main" id="{1436FCA8-AF39-4265-814E-7E4A3688A45C}"/>
              </a:ext>
            </a:extLst>
          </p:cNvPr>
          <p:cNvSpPr>
            <a:spLocks xmlns:a="http://schemas.openxmlformats.org/drawingml/2006/main" noGrp="1"/>
          </p:cNvSpPr>
          <p:nvPr/>
        </p:nvSpPr>
        <p:spPr>
          <a:xfrm xmlns:a="http://schemas.openxmlformats.org/drawingml/2006/main">
            <a:off x="3086100" y="4191000"/>
            <a:ext cx="7715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2933"/>
                </a:solidFill>
                <a:latin typeface="Arial"/>
                <a:ea typeface="Arial"/>
                <a:cs typeface="Arial"/>
              </a:defRPr>
            </a:pPr>
            <a:r>
              <a:rPr sz="1800" b="0">
                <a:solidFill>
                  <a:srgbClr val="1C2933"/>
                </a:solidFill>
                <a:latin typeface="Arial"/>
                <a:ea typeface="Arial"/>
                <a:cs typeface="Arial"/>
              </a:rPr>
              <a:t>Views available sessions and books an open place.</a:t>
            </a:r>
          </a:p>
        </p:txBody>
      </p:sp>
      <p:sp>
        <p:nvSpPr>
          <p:cNvPr id="13" name="">
            <a:extLst xmlns:a="http://schemas.openxmlformats.org/drawingml/2006/main">
              <a:ext uri="{FF2B5EF4-FFF2-40B4-BE49-F238E27FC236}">
                <a16:creationId xmlns:a16="http://schemas.microsoft.com/office/drawing/2014/main" id="{A560FF19-797E-4DD9-9B43-212DAED10529}"/>
              </a:ext>
            </a:extLst>
          </p:cNvPr>
          <p:cNvSpPr>
            <a:spLocks xmlns:a="http://schemas.openxmlformats.org/drawingml/2006/main" noGrp="1"/>
          </p:cNvSpPr>
          <p:nvPr/>
        </p:nvSpPr>
        <p:spPr>
          <a:xfrm xmlns:a="http://schemas.openxmlformats.org/drawingml/2006/main">
            <a:off x="723900" y="5048250"/>
            <a:ext cx="10563225" cy="0"/>
          </a:xfrm>
          <a:prstGeom xmlns:a="http://schemas.openxmlformats.org/drawingml/2006/main" prst="line">
            <a:avLst/>
          </a:prstGeom>
          <a:noFill xmlns:a="http://schemas.openxmlformats.org/drawingml/2006/main"/>
          <a:ln xmlns:a="http://schemas.openxmlformats.org/drawingml/2006/main" w="19050">
            <a:solidFill>
              <a:srgbClr val="C7D5DE"/>
            </a:solidFill>
          </a:ln>
        </p:spPr>
      </p:sp>
      <p:sp>
        <p:nvSpPr>
          <p:cNvPr id="14" name="">
            <a:extLst xmlns:a="http://schemas.openxmlformats.org/drawingml/2006/main">
              <a:ext uri="{FF2B5EF4-FFF2-40B4-BE49-F238E27FC236}">
                <a16:creationId xmlns:a16="http://schemas.microsoft.com/office/drawing/2014/main" id="{652C932A-7E42-45BB-A723-051E8DE9EDA2}"/>
              </a:ext>
            </a:extLst>
          </p:cNvPr>
          <p:cNvSpPr>
            <a:spLocks xmlns:a="http://schemas.openxmlformats.org/drawingml/2006/main" noGrp="1"/>
          </p:cNvSpPr>
          <p:nvPr/>
        </p:nvSpPr>
        <p:spPr>
          <a:xfrm xmlns:a="http://schemas.openxmlformats.org/drawingml/2006/main">
            <a:off x="723900" y="5657850"/>
            <a:ext cx="10477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324C"/>
                </a:solidFill>
                <a:latin typeface="Arial"/>
                <a:ea typeface="Arial"/>
                <a:cs typeface="Arial"/>
              </a:defRPr>
            </a:pPr>
            <a:r>
              <a:rPr sz="1800" b="1">
                <a:solidFill>
                  <a:srgbClr val="16324C"/>
                </a:solidFill>
                <a:latin typeface="Arial"/>
                <a:ea typeface="Arial"/>
                <a:cs typeface="Arial"/>
              </a:rPr>
              <a:t>Maintenance status:  PENDING     ASSIGNED     COMPLETED</a:t>
            </a:r>
          </a:p>
        </p:txBody>
      </p:sp>
    </p:spTree>
    <p:extLst>
      <p:ext uri="{BB962C8B-B14F-4D97-AF65-F5344CB8AC3E}">
        <p14:creationId xmlns:p14="http://schemas.microsoft.com/office/powerpoint/2010/main" val="155201688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85AF0A29-9D79-46EE-ABF2-48046B66F38A}"/>
              </a:ext>
            </a:extLst>
          </p:cNvPr>
          <p:cNvSpPr>
            <a:spLocks xmlns:a="http://schemas.openxmlformats.org/drawingml/2006/main" noGrp="1"/>
          </p:cNvSpPr>
          <p:nvPr/>
        </p:nvSpPr>
        <p:spPr>
          <a:xfrm xmlns:a="http://schemas.openxmlformats.org/drawingml/2006/main">
            <a:off x="609600" y="4191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C"/>
                </a:solidFill>
                <a:latin typeface="Arial"/>
                <a:ea typeface="Arial"/>
                <a:cs typeface="Arial"/>
              </a:defRPr>
            </a:pPr>
            <a:r>
              <a:rPr sz="2700" b="1">
                <a:solidFill>
                  <a:srgbClr val="16324C"/>
                </a:solidFill>
                <a:latin typeface="Arial"/>
                <a:ea typeface="Arial"/>
                <a:cs typeface="Arial"/>
              </a:rPr>
              <a:t>Implemented class diagram</a:t>
            </a:r>
          </a:p>
        </p:txBody>
      </p:sp>
      <p:sp>
        <p:nvSpPr>
          <p:cNvPr id="2" name="">
            <a:extLst xmlns:a="http://schemas.openxmlformats.org/drawingml/2006/main">
              <a:ext uri="{FF2B5EF4-FFF2-40B4-BE49-F238E27FC236}">
                <a16:creationId xmlns:a16="http://schemas.microsoft.com/office/drawing/2014/main" id="{1074129B-F082-4AFC-BD19-8E1D4BAE0982}"/>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38100">
            <a:solidFill>
              <a:srgbClr val="167D86"/>
            </a:solidFill>
          </a:ln>
        </p:spPr>
      </p:sp>
      <p:sp>
        <p:nvSpPr>
          <p:cNvPr id="3" name="">
            <a:extLst xmlns:a="http://schemas.openxmlformats.org/drawingml/2006/main">
              <a:ext uri="{FF2B5EF4-FFF2-40B4-BE49-F238E27FC236}">
                <a16:creationId xmlns:a16="http://schemas.microsoft.com/office/drawing/2014/main" id="{2C5FAF4D-9103-4E55-8FFF-0067D44253D0}"/>
              </a:ext>
            </a:extLst>
          </p:cNvPr>
          <p:cNvSpPr>
            <a:spLocks xmlns:a="http://schemas.openxmlformats.org/drawingml/2006/main" noGrp="1"/>
          </p:cNvSpPr>
          <p:nvPr/>
        </p:nvSpPr>
        <p:spPr>
          <a:xfrm xmlns:a="http://schemas.openxmlformats.org/drawingml/2006/main">
            <a:off x="609600" y="64484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F6C76"/>
                </a:solidFill>
                <a:latin typeface="Arial"/>
                <a:ea typeface="Arial"/>
                <a:cs typeface="Arial"/>
              </a:defRPr>
            </a:pPr>
            <a:r>
              <a:rPr sz="975" b="0">
                <a:solidFill>
                  <a:srgbClr val="5F6C76"/>
                </a:solidFill>
                <a:latin typeface="Arial"/>
                <a:ea typeface="Arial"/>
                <a:cs typeface="Arial"/>
              </a:rPr>
              <a:t>IWFC  /  CMP 7001 PRES1</a:t>
            </a:r>
          </a:p>
        </p:txBody>
      </p:sp>
      <p:sp>
        <p:nvSpPr>
          <p:cNvPr id="4" name="">
            <a:extLst xmlns:a="http://schemas.openxmlformats.org/drawingml/2006/main">
              <a:ext uri="{FF2B5EF4-FFF2-40B4-BE49-F238E27FC236}">
                <a16:creationId xmlns:a16="http://schemas.microsoft.com/office/drawing/2014/main" id="{E46964DD-A75A-4F3C-8AB8-C3604DC4964C}"/>
              </a:ext>
            </a:extLst>
          </p:cNvPr>
          <p:cNvSpPr>
            <a:spLocks xmlns:a="http://schemas.openxmlformats.org/drawingml/2006/main" noGrp="1"/>
          </p:cNvSpPr>
          <p:nvPr/>
        </p:nvSpPr>
        <p:spPr>
          <a:xfrm xmlns:a="http://schemas.openxmlformats.org/drawingml/2006/main">
            <a:off x="11068050" y="642937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5F6C76"/>
                </a:solidFill>
                <a:latin typeface="Arial"/>
                <a:ea typeface="Arial"/>
                <a:cs typeface="Arial"/>
              </a:defRPr>
            </a:pPr>
            <a:r>
              <a:rPr sz="975" b="1">
                <a:solidFill>
                  <a:srgbClr val="5F6C76"/>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BBD9B6EF-BA10-4061-B6C3-005A73A22AC9}"/>
              </a:ext>
            </a:extLst>
          </p:cNvPr>
          <p:cNvSpPr>
            <a:spLocks xmlns:a="http://schemas.openxmlformats.org/drawingml/2006/main" noGrp="1"/>
          </p:cNvSpPr>
          <p:nvPr/>
        </p:nvSpPr>
        <p:spPr>
          <a:xfrm xmlns:a="http://schemas.openxmlformats.org/drawingml/2006/main">
            <a:off x="4962525" y="1438275"/>
            <a:ext cx="2266950" cy="561975"/>
          </a:xfrm>
          <a:prstGeom xmlns:a="http://schemas.openxmlformats.org/drawingml/2006/main" prst="rect">
            <a:avLst/>
          </a:prstGeom>
          <a:solidFill xmlns:a="http://schemas.openxmlformats.org/drawingml/2006/main">
            <a:srgbClr val="FFFFFF"/>
          </a:solidFill>
          <a:ln xmlns:a="http://schemas.openxmlformats.org/drawingml/2006/main" w="15240">
            <a:solidFill>
              <a:srgbClr val="16324C"/>
            </a:solidFill>
          </a:ln>
        </p:spPr>
      </p:sp>
      <p:sp>
        <p:nvSpPr>
          <p:cNvPr id="6" name="">
            <a:extLst xmlns:a="http://schemas.openxmlformats.org/drawingml/2006/main">
              <a:ext uri="{FF2B5EF4-FFF2-40B4-BE49-F238E27FC236}">
                <a16:creationId xmlns:a16="http://schemas.microsoft.com/office/drawing/2014/main" id="{840D9582-004B-4929-9DB2-E3ED94F9C3F7}"/>
              </a:ext>
            </a:extLst>
          </p:cNvPr>
          <p:cNvSpPr>
            <a:spLocks xmlns:a="http://schemas.openxmlformats.org/drawingml/2006/main" noGrp="1"/>
          </p:cNvSpPr>
          <p:nvPr/>
        </p:nvSpPr>
        <p:spPr>
          <a:xfrm xmlns:a="http://schemas.openxmlformats.org/drawingml/2006/main">
            <a:off x="5038725" y="1495425"/>
            <a:ext cx="2114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324C"/>
                </a:solidFill>
                <a:latin typeface="Arial"/>
                <a:ea typeface="Arial"/>
                <a:cs typeface="Arial"/>
              </a:defRPr>
            </a:pPr>
            <a:r>
              <a:rPr sz="1275" b="1">
                <a:solidFill>
                  <a:srgbClr val="16324C"/>
                </a:solidFill>
                <a:latin typeface="Arial"/>
                <a:ea typeface="Arial"/>
                <a:cs typeface="Arial"/>
              </a:rPr>
              <a:t>User  «abstract»</a:t>
            </a:r>
          </a:p>
        </p:txBody>
      </p:sp>
      <p:sp>
        <p:nvSpPr>
          <p:cNvPr id="7" name="">
            <a:extLst xmlns:a="http://schemas.openxmlformats.org/drawingml/2006/main">
              <a:ext uri="{FF2B5EF4-FFF2-40B4-BE49-F238E27FC236}">
                <a16:creationId xmlns:a16="http://schemas.microsoft.com/office/drawing/2014/main" id="{BC87376B-E6DF-4CCD-9B32-BF0627E52BDF}"/>
              </a:ext>
            </a:extLst>
          </p:cNvPr>
          <p:cNvSpPr>
            <a:spLocks xmlns:a="http://schemas.openxmlformats.org/drawingml/2006/main" noGrp="1"/>
          </p:cNvSpPr>
          <p:nvPr/>
        </p:nvSpPr>
        <p:spPr>
          <a:xfrm xmlns:a="http://schemas.openxmlformats.org/drawingml/2006/main">
            <a:off x="4962525" y="1733550"/>
            <a:ext cx="2266950" cy="0"/>
          </a:xfrm>
          <a:prstGeom xmlns:a="http://schemas.openxmlformats.org/drawingml/2006/main" prst="line">
            <a:avLst/>
          </a:prstGeom>
          <a:noFill xmlns:a="http://schemas.openxmlformats.org/drawingml/2006/main"/>
          <a:ln xmlns:a="http://schemas.openxmlformats.org/drawingml/2006/main" w="9525">
            <a:solidFill>
              <a:srgbClr val="C7D5DE"/>
            </a:solidFill>
          </a:ln>
        </p:spPr>
      </p:sp>
      <p:sp>
        <p:nvSpPr>
          <p:cNvPr id="8" name="">
            <a:extLst xmlns:a="http://schemas.openxmlformats.org/drawingml/2006/main">
              <a:ext uri="{FF2B5EF4-FFF2-40B4-BE49-F238E27FC236}">
                <a16:creationId xmlns:a16="http://schemas.microsoft.com/office/drawing/2014/main" id="{A9B7B6DB-F732-402D-8190-C8A263C95EA3}"/>
              </a:ext>
            </a:extLst>
          </p:cNvPr>
          <p:cNvSpPr>
            <a:spLocks xmlns:a="http://schemas.openxmlformats.org/drawingml/2006/main" noGrp="1"/>
          </p:cNvSpPr>
          <p:nvPr/>
        </p:nvSpPr>
        <p:spPr>
          <a:xfrm xmlns:a="http://schemas.openxmlformats.org/drawingml/2006/main">
            <a:off x="5038725" y="1781175"/>
            <a:ext cx="2114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F6C76"/>
                </a:solidFill>
                <a:latin typeface="Arial"/>
                <a:ea typeface="Arial"/>
                <a:cs typeface="Arial"/>
              </a:defRPr>
            </a:pPr>
            <a:r>
              <a:rPr sz="975" b="0">
                <a:solidFill>
                  <a:srgbClr val="5F6C76"/>
                </a:solidFill>
                <a:latin typeface="Arial"/>
                <a:ea typeface="Arial"/>
                <a:cs typeface="Arial"/>
              </a:rPr>
              <a:t>getRoleDescription()</a:t>
            </a:r>
          </a:p>
        </p:txBody>
      </p:sp>
      <p:sp>
        <p:nvSpPr>
          <p:cNvPr id="9" name="">
            <a:extLst xmlns:a="http://schemas.openxmlformats.org/drawingml/2006/main">
              <a:ext uri="{FF2B5EF4-FFF2-40B4-BE49-F238E27FC236}">
                <a16:creationId xmlns:a16="http://schemas.microsoft.com/office/drawing/2014/main" id="{7F68895A-7AE2-476A-BF11-3495CF298AC0}"/>
              </a:ext>
            </a:extLst>
          </p:cNvPr>
          <p:cNvSpPr>
            <a:spLocks xmlns:a="http://schemas.openxmlformats.org/drawingml/2006/main" noGrp="1"/>
          </p:cNvSpPr>
          <p:nvPr/>
        </p:nvSpPr>
        <p:spPr>
          <a:xfrm xmlns:a="http://schemas.openxmlformats.org/drawingml/2006/main">
            <a:off x="2057400" y="2333625"/>
            <a:ext cx="1809750" cy="504825"/>
          </a:xfrm>
          <a:prstGeom xmlns:a="http://schemas.openxmlformats.org/drawingml/2006/main" prst="rect">
            <a:avLst/>
          </a:prstGeom>
          <a:solidFill xmlns:a="http://schemas.openxmlformats.org/drawingml/2006/main">
            <a:srgbClr val="FFFFFF"/>
          </a:solidFill>
          <a:ln xmlns:a="http://schemas.openxmlformats.org/drawingml/2006/main" w="15240">
            <a:solidFill>
              <a:srgbClr val="16324C"/>
            </a:solidFill>
          </a:ln>
        </p:spPr>
      </p:sp>
      <p:sp>
        <p:nvSpPr>
          <p:cNvPr id="10" name="">
            <a:extLst xmlns:a="http://schemas.openxmlformats.org/drawingml/2006/main">
              <a:ext uri="{FF2B5EF4-FFF2-40B4-BE49-F238E27FC236}">
                <a16:creationId xmlns:a16="http://schemas.microsoft.com/office/drawing/2014/main" id="{53426241-8982-4C52-9060-941BD59D15F8}"/>
              </a:ext>
            </a:extLst>
          </p:cNvPr>
          <p:cNvSpPr>
            <a:spLocks xmlns:a="http://schemas.openxmlformats.org/drawingml/2006/main" noGrp="1"/>
          </p:cNvSpPr>
          <p:nvPr/>
        </p:nvSpPr>
        <p:spPr>
          <a:xfrm xmlns:a="http://schemas.openxmlformats.org/drawingml/2006/main">
            <a:off x="2133600" y="2390775"/>
            <a:ext cx="1657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324C"/>
                </a:solidFill>
                <a:latin typeface="Arial"/>
                <a:ea typeface="Arial"/>
                <a:cs typeface="Arial"/>
              </a:defRPr>
            </a:pPr>
            <a:r>
              <a:rPr sz="1275" b="1">
                <a:solidFill>
                  <a:srgbClr val="16324C"/>
                </a:solidFill>
                <a:latin typeface="Arial"/>
                <a:ea typeface="Arial"/>
                <a:cs typeface="Arial"/>
              </a:rPr>
              <a:t>Administrator</a:t>
            </a:r>
          </a:p>
        </p:txBody>
      </p:sp>
      <p:sp>
        <p:nvSpPr>
          <p:cNvPr id="11" name="">
            <a:extLst xmlns:a="http://schemas.openxmlformats.org/drawingml/2006/main">
              <a:ext uri="{FF2B5EF4-FFF2-40B4-BE49-F238E27FC236}">
                <a16:creationId xmlns:a16="http://schemas.microsoft.com/office/drawing/2014/main" id="{E49EFDA4-0505-4E52-BBD5-B33C6144DF28}"/>
              </a:ext>
            </a:extLst>
          </p:cNvPr>
          <p:cNvSpPr>
            <a:spLocks xmlns:a="http://schemas.openxmlformats.org/drawingml/2006/main" noGrp="1"/>
          </p:cNvSpPr>
          <p:nvPr/>
        </p:nvSpPr>
        <p:spPr>
          <a:xfrm xmlns:a="http://schemas.openxmlformats.org/drawingml/2006/main">
            <a:off x="5191125" y="2333625"/>
            <a:ext cx="1809750" cy="504825"/>
          </a:xfrm>
          <a:prstGeom xmlns:a="http://schemas.openxmlformats.org/drawingml/2006/main" prst="rect">
            <a:avLst/>
          </a:prstGeom>
          <a:solidFill xmlns:a="http://schemas.openxmlformats.org/drawingml/2006/main">
            <a:srgbClr val="FFFFFF"/>
          </a:solidFill>
          <a:ln xmlns:a="http://schemas.openxmlformats.org/drawingml/2006/main" w="15240">
            <a:solidFill>
              <a:srgbClr val="16324C"/>
            </a:solidFill>
          </a:ln>
        </p:spPr>
      </p:sp>
      <p:sp>
        <p:nvSpPr>
          <p:cNvPr id="12" name="">
            <a:extLst xmlns:a="http://schemas.openxmlformats.org/drawingml/2006/main">
              <a:ext uri="{FF2B5EF4-FFF2-40B4-BE49-F238E27FC236}">
                <a16:creationId xmlns:a16="http://schemas.microsoft.com/office/drawing/2014/main" id="{41C169B9-7A1B-40D3-A9F0-717F7B04D79E}"/>
              </a:ext>
            </a:extLst>
          </p:cNvPr>
          <p:cNvSpPr>
            <a:spLocks xmlns:a="http://schemas.openxmlformats.org/drawingml/2006/main" noGrp="1"/>
          </p:cNvSpPr>
          <p:nvPr/>
        </p:nvSpPr>
        <p:spPr>
          <a:xfrm xmlns:a="http://schemas.openxmlformats.org/drawingml/2006/main">
            <a:off x="5267325" y="2390775"/>
            <a:ext cx="1657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324C"/>
                </a:solidFill>
                <a:latin typeface="Arial"/>
                <a:ea typeface="Arial"/>
                <a:cs typeface="Arial"/>
              </a:defRPr>
            </a:pPr>
            <a:r>
              <a:rPr sz="1275" b="1">
                <a:solidFill>
                  <a:srgbClr val="16324C"/>
                </a:solidFill>
                <a:latin typeface="Arial"/>
                <a:ea typeface="Arial"/>
                <a:cs typeface="Arial"/>
              </a:rPr>
              <a:t>Instructor</a:t>
            </a:r>
          </a:p>
        </p:txBody>
      </p:sp>
      <p:sp>
        <p:nvSpPr>
          <p:cNvPr id="13" name="">
            <a:extLst xmlns:a="http://schemas.openxmlformats.org/drawingml/2006/main">
              <a:ext uri="{FF2B5EF4-FFF2-40B4-BE49-F238E27FC236}">
                <a16:creationId xmlns:a16="http://schemas.microsoft.com/office/drawing/2014/main" id="{2A8E7064-6E3B-492F-8518-14244ECCE116}"/>
              </a:ext>
            </a:extLst>
          </p:cNvPr>
          <p:cNvSpPr>
            <a:spLocks xmlns:a="http://schemas.openxmlformats.org/drawingml/2006/main" noGrp="1"/>
          </p:cNvSpPr>
          <p:nvPr/>
        </p:nvSpPr>
        <p:spPr>
          <a:xfrm xmlns:a="http://schemas.openxmlformats.org/drawingml/2006/main">
            <a:off x="8324850" y="2333625"/>
            <a:ext cx="1809750" cy="504825"/>
          </a:xfrm>
          <a:prstGeom xmlns:a="http://schemas.openxmlformats.org/drawingml/2006/main" prst="rect">
            <a:avLst/>
          </a:prstGeom>
          <a:solidFill xmlns:a="http://schemas.openxmlformats.org/drawingml/2006/main">
            <a:srgbClr val="FFFFFF"/>
          </a:solidFill>
          <a:ln xmlns:a="http://schemas.openxmlformats.org/drawingml/2006/main" w="15240">
            <a:solidFill>
              <a:srgbClr val="16324C"/>
            </a:solidFill>
          </a:ln>
        </p:spPr>
      </p:sp>
      <p:sp>
        <p:nvSpPr>
          <p:cNvPr id="14" name="">
            <a:extLst xmlns:a="http://schemas.openxmlformats.org/drawingml/2006/main">
              <a:ext uri="{FF2B5EF4-FFF2-40B4-BE49-F238E27FC236}">
                <a16:creationId xmlns:a16="http://schemas.microsoft.com/office/drawing/2014/main" id="{7A0F9823-E44D-4C66-95EE-C5EAF5D166B2}"/>
              </a:ext>
            </a:extLst>
          </p:cNvPr>
          <p:cNvSpPr>
            <a:spLocks xmlns:a="http://schemas.openxmlformats.org/drawingml/2006/main" noGrp="1"/>
          </p:cNvSpPr>
          <p:nvPr/>
        </p:nvSpPr>
        <p:spPr>
          <a:xfrm xmlns:a="http://schemas.openxmlformats.org/drawingml/2006/main">
            <a:off x="8401050" y="2390775"/>
            <a:ext cx="1657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324C"/>
                </a:solidFill>
                <a:latin typeface="Arial"/>
                <a:ea typeface="Arial"/>
                <a:cs typeface="Arial"/>
              </a:defRPr>
            </a:pPr>
            <a:r>
              <a:rPr sz="1275" b="1">
                <a:solidFill>
                  <a:srgbClr val="16324C"/>
                </a:solidFill>
                <a:latin typeface="Arial"/>
                <a:ea typeface="Arial"/>
                <a:cs typeface="Arial"/>
              </a:rPr>
              <a:t>Member</a:t>
            </a:r>
          </a:p>
        </p:txBody>
      </p:sp>
      <p:sp>
        <p:nvSpPr>
          <p:cNvPr id="15" name="">
            <a:extLst xmlns:a="http://schemas.openxmlformats.org/drawingml/2006/main">
              <a:ext uri="{FF2B5EF4-FFF2-40B4-BE49-F238E27FC236}">
                <a16:creationId xmlns:a16="http://schemas.microsoft.com/office/drawing/2014/main" id="{989684C3-013B-49A3-9020-4A85D3AA5707}"/>
              </a:ext>
            </a:extLst>
          </p:cNvPr>
          <p:cNvSpPr>
            <a:spLocks xmlns:a="http://schemas.openxmlformats.org/drawingml/2006/main" noGrp="1"/>
          </p:cNvSpPr>
          <p:nvPr/>
        </p:nvSpPr>
        <p:spPr>
          <a:xfrm xmlns:a="http://schemas.openxmlformats.org/drawingml/2006/main">
            <a:off x="2962275" y="2095500"/>
            <a:ext cx="0" cy="238125"/>
          </a:xfrm>
          <a:prstGeom xmlns:a="http://schemas.openxmlformats.org/drawingml/2006/main" prst="line">
            <a:avLst/>
          </a:prstGeom>
          <a:noFill xmlns:a="http://schemas.openxmlformats.org/drawingml/2006/main"/>
          <a:ln xmlns:a="http://schemas.openxmlformats.org/drawingml/2006/main" w="19050">
            <a:solidFill>
              <a:srgbClr val="167D86"/>
            </a:solidFill>
          </a:ln>
        </p:spPr>
      </p:sp>
      <p:sp>
        <p:nvSpPr>
          <p:cNvPr id="16" name="">
            <a:extLst xmlns:a="http://schemas.openxmlformats.org/drawingml/2006/main">
              <a:ext uri="{FF2B5EF4-FFF2-40B4-BE49-F238E27FC236}">
                <a16:creationId xmlns:a16="http://schemas.microsoft.com/office/drawing/2014/main" id="{05F74CED-84F2-4111-995E-A8A6693D2F4F}"/>
              </a:ext>
            </a:extLst>
          </p:cNvPr>
          <p:cNvSpPr>
            <a:spLocks xmlns:a="http://schemas.openxmlformats.org/drawingml/2006/main" noGrp="1"/>
          </p:cNvSpPr>
          <p:nvPr/>
        </p:nvSpPr>
        <p:spPr>
          <a:xfrm xmlns:a="http://schemas.openxmlformats.org/drawingml/2006/main">
            <a:off x="6096000" y="2095500"/>
            <a:ext cx="0" cy="238125"/>
          </a:xfrm>
          <a:prstGeom xmlns:a="http://schemas.openxmlformats.org/drawingml/2006/main" prst="line">
            <a:avLst/>
          </a:prstGeom>
          <a:noFill xmlns:a="http://schemas.openxmlformats.org/drawingml/2006/main"/>
          <a:ln xmlns:a="http://schemas.openxmlformats.org/drawingml/2006/main" w="19050">
            <a:solidFill>
              <a:srgbClr val="167D86"/>
            </a:solidFill>
          </a:ln>
        </p:spPr>
      </p:sp>
      <p:sp>
        <p:nvSpPr>
          <p:cNvPr id="17" name="">
            <a:extLst xmlns:a="http://schemas.openxmlformats.org/drawingml/2006/main">
              <a:ext uri="{FF2B5EF4-FFF2-40B4-BE49-F238E27FC236}">
                <a16:creationId xmlns:a16="http://schemas.microsoft.com/office/drawing/2014/main" id="{0D9FE274-E40D-4583-AD41-8BA39CA122E0}"/>
              </a:ext>
            </a:extLst>
          </p:cNvPr>
          <p:cNvSpPr>
            <a:spLocks xmlns:a="http://schemas.openxmlformats.org/drawingml/2006/main" noGrp="1"/>
          </p:cNvSpPr>
          <p:nvPr/>
        </p:nvSpPr>
        <p:spPr>
          <a:xfrm xmlns:a="http://schemas.openxmlformats.org/drawingml/2006/main">
            <a:off x="9229725" y="2095500"/>
            <a:ext cx="0" cy="238125"/>
          </a:xfrm>
          <a:prstGeom xmlns:a="http://schemas.openxmlformats.org/drawingml/2006/main" prst="line">
            <a:avLst/>
          </a:prstGeom>
          <a:noFill xmlns:a="http://schemas.openxmlformats.org/drawingml/2006/main"/>
          <a:ln xmlns:a="http://schemas.openxmlformats.org/drawingml/2006/main" w="19050">
            <a:solidFill>
              <a:srgbClr val="167D86"/>
            </a:solidFill>
          </a:ln>
        </p:spPr>
      </p:sp>
      <p:sp>
        <p:nvSpPr>
          <p:cNvPr id="18" name="">
            <a:extLst xmlns:a="http://schemas.openxmlformats.org/drawingml/2006/main">
              <a:ext uri="{FF2B5EF4-FFF2-40B4-BE49-F238E27FC236}">
                <a16:creationId xmlns:a16="http://schemas.microsoft.com/office/drawing/2014/main" id="{BE74A98A-163B-42C7-AF87-E4CBA9FCC048}"/>
              </a:ext>
            </a:extLst>
          </p:cNvPr>
          <p:cNvSpPr>
            <a:spLocks xmlns:a="http://schemas.openxmlformats.org/drawingml/2006/main" noGrp="1"/>
          </p:cNvSpPr>
          <p:nvPr/>
        </p:nvSpPr>
        <p:spPr>
          <a:xfrm xmlns:a="http://schemas.openxmlformats.org/drawingml/2006/main">
            <a:off x="2962275" y="2095500"/>
            <a:ext cx="6267450" cy="0"/>
          </a:xfrm>
          <a:prstGeom xmlns:a="http://schemas.openxmlformats.org/drawingml/2006/main" prst="line">
            <a:avLst/>
          </a:prstGeom>
          <a:noFill xmlns:a="http://schemas.openxmlformats.org/drawingml/2006/main"/>
          <a:ln xmlns:a="http://schemas.openxmlformats.org/drawingml/2006/main" w="19050">
            <a:solidFill>
              <a:srgbClr val="167D86"/>
            </a:solidFill>
          </a:ln>
        </p:spPr>
      </p:sp>
      <p:sp>
        <p:nvSpPr>
          <p:cNvPr id="19" name="">
            <a:extLst xmlns:a="http://schemas.openxmlformats.org/drawingml/2006/main">
              <a:ext uri="{FF2B5EF4-FFF2-40B4-BE49-F238E27FC236}">
                <a16:creationId xmlns:a16="http://schemas.microsoft.com/office/drawing/2014/main" id="{14178EC5-9DA6-4F8E-9DAE-D42FE8C076EE}"/>
              </a:ext>
            </a:extLst>
          </p:cNvPr>
          <p:cNvSpPr>
            <a:spLocks xmlns:a="http://schemas.openxmlformats.org/drawingml/2006/main" noGrp="1"/>
          </p:cNvSpPr>
          <p:nvPr/>
        </p:nvSpPr>
        <p:spPr>
          <a:xfrm xmlns:a="http://schemas.openxmlformats.org/drawingml/2006/main">
            <a:off x="6096000" y="2000250"/>
            <a:ext cx="0" cy="95250"/>
          </a:xfrm>
          <a:prstGeom xmlns:a="http://schemas.openxmlformats.org/drawingml/2006/main" prst="line">
            <a:avLst/>
          </a:prstGeom>
          <a:noFill xmlns:a="http://schemas.openxmlformats.org/drawingml/2006/main"/>
          <a:ln xmlns:a="http://schemas.openxmlformats.org/drawingml/2006/main" w="19050">
            <a:solidFill>
              <a:srgbClr val="167D86"/>
            </a:solidFill>
          </a:ln>
        </p:spPr>
      </p:sp>
      <p:sp>
        <p:nvSpPr>
          <p:cNvPr id="20" name="">
            <a:extLst xmlns:a="http://schemas.openxmlformats.org/drawingml/2006/main">
              <a:ext uri="{FF2B5EF4-FFF2-40B4-BE49-F238E27FC236}">
                <a16:creationId xmlns:a16="http://schemas.microsoft.com/office/drawing/2014/main" id="{A9F21C5D-4E45-4FA2-9D2A-3815A7C144FF}"/>
              </a:ext>
            </a:extLst>
          </p:cNvPr>
          <p:cNvSpPr>
            <a:spLocks xmlns:a="http://schemas.openxmlformats.org/drawingml/2006/main" noGrp="1"/>
          </p:cNvSpPr>
          <p:nvPr/>
        </p:nvSpPr>
        <p:spPr>
          <a:xfrm xmlns:a="http://schemas.openxmlformats.org/drawingml/2006/main">
            <a:off x="695325" y="3209925"/>
            <a:ext cx="1809750" cy="523875"/>
          </a:xfrm>
          <a:prstGeom xmlns:a="http://schemas.openxmlformats.org/drawingml/2006/main" prst="rect">
            <a:avLst/>
          </a:prstGeom>
          <a:solidFill xmlns:a="http://schemas.openxmlformats.org/drawingml/2006/main">
            <a:srgbClr val="FFFFFF"/>
          </a:solidFill>
          <a:ln xmlns:a="http://schemas.openxmlformats.org/drawingml/2006/main" w="15240">
            <a:solidFill>
              <a:srgbClr val="16324C"/>
            </a:solidFill>
          </a:ln>
        </p:spPr>
      </p:sp>
      <p:sp>
        <p:nvSpPr>
          <p:cNvPr id="21" name="">
            <a:extLst xmlns:a="http://schemas.openxmlformats.org/drawingml/2006/main">
              <a:ext uri="{FF2B5EF4-FFF2-40B4-BE49-F238E27FC236}">
                <a16:creationId xmlns:a16="http://schemas.microsoft.com/office/drawing/2014/main" id="{DAE4E791-5BE1-4830-88D3-067E93633B88}"/>
              </a:ext>
            </a:extLst>
          </p:cNvPr>
          <p:cNvSpPr>
            <a:spLocks xmlns:a="http://schemas.openxmlformats.org/drawingml/2006/main" noGrp="1"/>
          </p:cNvSpPr>
          <p:nvPr/>
        </p:nvSpPr>
        <p:spPr>
          <a:xfrm xmlns:a="http://schemas.openxmlformats.org/drawingml/2006/main">
            <a:off x="771525" y="3267075"/>
            <a:ext cx="1657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324C"/>
                </a:solidFill>
                <a:latin typeface="Arial"/>
                <a:ea typeface="Arial"/>
                <a:cs typeface="Arial"/>
              </a:defRPr>
            </a:pPr>
            <a:r>
              <a:rPr sz="1275" b="1">
                <a:solidFill>
                  <a:srgbClr val="16324C"/>
                </a:solidFill>
                <a:latin typeface="Arial"/>
                <a:ea typeface="Arial"/>
                <a:cs typeface="Arial"/>
              </a:rPr>
              <a:t>Equipment</a:t>
            </a:r>
          </a:p>
        </p:txBody>
      </p:sp>
      <p:sp>
        <p:nvSpPr>
          <p:cNvPr id="22" name="">
            <a:extLst xmlns:a="http://schemas.openxmlformats.org/drawingml/2006/main">
              <a:ext uri="{FF2B5EF4-FFF2-40B4-BE49-F238E27FC236}">
                <a16:creationId xmlns:a16="http://schemas.microsoft.com/office/drawing/2014/main" id="{08990E8F-0A7F-4588-BC77-AFBFE06C75AB}"/>
              </a:ext>
            </a:extLst>
          </p:cNvPr>
          <p:cNvSpPr>
            <a:spLocks xmlns:a="http://schemas.openxmlformats.org/drawingml/2006/main" noGrp="1"/>
          </p:cNvSpPr>
          <p:nvPr/>
        </p:nvSpPr>
        <p:spPr>
          <a:xfrm xmlns:a="http://schemas.openxmlformats.org/drawingml/2006/main">
            <a:off x="695325" y="3505200"/>
            <a:ext cx="1809750" cy="0"/>
          </a:xfrm>
          <a:prstGeom xmlns:a="http://schemas.openxmlformats.org/drawingml/2006/main" prst="line">
            <a:avLst/>
          </a:prstGeom>
          <a:noFill xmlns:a="http://schemas.openxmlformats.org/drawingml/2006/main"/>
          <a:ln xmlns:a="http://schemas.openxmlformats.org/drawingml/2006/main" w="9525">
            <a:solidFill>
              <a:srgbClr val="C7D5DE"/>
            </a:solidFill>
          </a:ln>
        </p:spPr>
      </p:sp>
      <p:sp>
        <p:nvSpPr>
          <p:cNvPr id="23" name="">
            <a:extLst xmlns:a="http://schemas.openxmlformats.org/drawingml/2006/main">
              <a:ext uri="{FF2B5EF4-FFF2-40B4-BE49-F238E27FC236}">
                <a16:creationId xmlns:a16="http://schemas.microsoft.com/office/drawing/2014/main" id="{FCFB515A-ADBD-481D-B31E-0ADCDC1345A7}"/>
              </a:ext>
            </a:extLst>
          </p:cNvPr>
          <p:cNvSpPr>
            <a:spLocks xmlns:a="http://schemas.openxmlformats.org/drawingml/2006/main" noGrp="1"/>
          </p:cNvSpPr>
          <p:nvPr/>
        </p:nvSpPr>
        <p:spPr>
          <a:xfrm xmlns:a="http://schemas.openxmlformats.org/drawingml/2006/main">
            <a:off x="771525" y="3552825"/>
            <a:ext cx="16573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F6C76"/>
                </a:solidFill>
                <a:latin typeface="Arial"/>
                <a:ea typeface="Arial"/>
                <a:cs typeface="Arial"/>
              </a:defRPr>
            </a:pPr>
            <a:r>
              <a:rPr sz="975" b="0">
                <a:solidFill>
                  <a:srgbClr val="5F6C76"/>
                </a:solidFill>
                <a:latin typeface="Arial"/>
                <a:ea typeface="Arial"/>
                <a:cs typeface="Arial"/>
              </a:rPr>
              <a:t>status; usageHours</a:t>
            </a:r>
          </a:p>
        </p:txBody>
      </p:sp>
      <p:sp>
        <p:nvSpPr>
          <p:cNvPr id="24" name="">
            <a:extLst xmlns:a="http://schemas.openxmlformats.org/drawingml/2006/main">
              <a:ext uri="{FF2B5EF4-FFF2-40B4-BE49-F238E27FC236}">
                <a16:creationId xmlns:a16="http://schemas.microsoft.com/office/drawing/2014/main" id="{C1464A71-2A1C-4C60-A27B-C4BC61E9AF4F}"/>
              </a:ext>
            </a:extLst>
          </p:cNvPr>
          <p:cNvSpPr>
            <a:spLocks xmlns:a="http://schemas.openxmlformats.org/drawingml/2006/main" noGrp="1"/>
          </p:cNvSpPr>
          <p:nvPr/>
        </p:nvSpPr>
        <p:spPr>
          <a:xfrm xmlns:a="http://schemas.openxmlformats.org/drawingml/2006/main">
            <a:off x="2733675" y="3209925"/>
            <a:ext cx="1809750" cy="523875"/>
          </a:xfrm>
          <a:prstGeom xmlns:a="http://schemas.openxmlformats.org/drawingml/2006/main" prst="rect">
            <a:avLst/>
          </a:prstGeom>
          <a:solidFill xmlns:a="http://schemas.openxmlformats.org/drawingml/2006/main">
            <a:srgbClr val="FFFFFF"/>
          </a:solidFill>
          <a:ln xmlns:a="http://schemas.openxmlformats.org/drawingml/2006/main" w="15240">
            <a:solidFill>
              <a:srgbClr val="16324C"/>
            </a:solidFill>
          </a:ln>
        </p:spPr>
      </p:sp>
      <p:sp>
        <p:nvSpPr>
          <p:cNvPr id="25" name="">
            <a:extLst xmlns:a="http://schemas.openxmlformats.org/drawingml/2006/main">
              <a:ext uri="{FF2B5EF4-FFF2-40B4-BE49-F238E27FC236}">
                <a16:creationId xmlns:a16="http://schemas.microsoft.com/office/drawing/2014/main" id="{15C7C269-1250-4E3B-936E-6A0B929D2F93}"/>
              </a:ext>
            </a:extLst>
          </p:cNvPr>
          <p:cNvSpPr>
            <a:spLocks xmlns:a="http://schemas.openxmlformats.org/drawingml/2006/main" noGrp="1"/>
          </p:cNvSpPr>
          <p:nvPr/>
        </p:nvSpPr>
        <p:spPr>
          <a:xfrm xmlns:a="http://schemas.openxmlformats.org/drawingml/2006/main">
            <a:off x="2809875" y="3267075"/>
            <a:ext cx="1657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324C"/>
                </a:solidFill>
                <a:latin typeface="Arial"/>
                <a:ea typeface="Arial"/>
                <a:cs typeface="Arial"/>
              </a:defRPr>
            </a:pPr>
            <a:r>
              <a:rPr sz="1275" b="1">
                <a:solidFill>
                  <a:srgbClr val="16324C"/>
                </a:solidFill>
                <a:latin typeface="Arial"/>
                <a:ea typeface="Arial"/>
                <a:cs typeface="Arial"/>
              </a:rPr>
              <a:t>FitnessSession</a:t>
            </a:r>
          </a:p>
        </p:txBody>
      </p:sp>
      <p:sp>
        <p:nvSpPr>
          <p:cNvPr id="26" name="">
            <a:extLst xmlns:a="http://schemas.openxmlformats.org/drawingml/2006/main">
              <a:ext uri="{FF2B5EF4-FFF2-40B4-BE49-F238E27FC236}">
                <a16:creationId xmlns:a16="http://schemas.microsoft.com/office/drawing/2014/main" id="{8922C9F1-74C4-4B19-83E0-02CD354B2C63}"/>
              </a:ext>
            </a:extLst>
          </p:cNvPr>
          <p:cNvSpPr>
            <a:spLocks xmlns:a="http://schemas.openxmlformats.org/drawingml/2006/main" noGrp="1"/>
          </p:cNvSpPr>
          <p:nvPr/>
        </p:nvSpPr>
        <p:spPr>
          <a:xfrm xmlns:a="http://schemas.openxmlformats.org/drawingml/2006/main">
            <a:off x="2733675" y="3505200"/>
            <a:ext cx="1809750" cy="0"/>
          </a:xfrm>
          <a:prstGeom xmlns:a="http://schemas.openxmlformats.org/drawingml/2006/main" prst="line">
            <a:avLst/>
          </a:prstGeom>
          <a:noFill xmlns:a="http://schemas.openxmlformats.org/drawingml/2006/main"/>
          <a:ln xmlns:a="http://schemas.openxmlformats.org/drawingml/2006/main" w="9525">
            <a:solidFill>
              <a:srgbClr val="C7D5DE"/>
            </a:solidFill>
          </a:ln>
        </p:spPr>
      </p:sp>
      <p:sp>
        <p:nvSpPr>
          <p:cNvPr id="27" name="">
            <a:extLst xmlns:a="http://schemas.openxmlformats.org/drawingml/2006/main">
              <a:ext uri="{FF2B5EF4-FFF2-40B4-BE49-F238E27FC236}">
                <a16:creationId xmlns:a16="http://schemas.microsoft.com/office/drawing/2014/main" id="{CB03A78B-C547-4ED9-A4DE-25B78934AE04}"/>
              </a:ext>
            </a:extLst>
          </p:cNvPr>
          <p:cNvSpPr>
            <a:spLocks xmlns:a="http://schemas.openxmlformats.org/drawingml/2006/main" noGrp="1"/>
          </p:cNvSpPr>
          <p:nvPr/>
        </p:nvSpPr>
        <p:spPr>
          <a:xfrm xmlns:a="http://schemas.openxmlformats.org/drawingml/2006/main">
            <a:off x="2809875" y="3552825"/>
            <a:ext cx="16573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F6C76"/>
                </a:solidFill>
                <a:latin typeface="Arial"/>
                <a:ea typeface="Arial"/>
                <a:cs typeface="Arial"/>
              </a:defRPr>
            </a:pPr>
            <a:r>
              <a:rPr sz="975" b="0">
                <a:solidFill>
                  <a:srgbClr val="5F6C76"/>
                </a:solidFill>
                <a:latin typeface="Arial"/>
                <a:ea typeface="Arial"/>
                <a:cs typeface="Arial"/>
              </a:rPr>
              <a:t>capacity; bookings</a:t>
            </a:r>
          </a:p>
        </p:txBody>
      </p:sp>
      <p:sp>
        <p:nvSpPr>
          <p:cNvPr id="28" name="">
            <a:extLst xmlns:a="http://schemas.openxmlformats.org/drawingml/2006/main">
              <a:ext uri="{FF2B5EF4-FFF2-40B4-BE49-F238E27FC236}">
                <a16:creationId xmlns:a16="http://schemas.microsoft.com/office/drawing/2014/main" id="{E1074072-F73F-4960-8770-4C48ED5742F9}"/>
              </a:ext>
            </a:extLst>
          </p:cNvPr>
          <p:cNvSpPr>
            <a:spLocks xmlns:a="http://schemas.openxmlformats.org/drawingml/2006/main" noGrp="1"/>
          </p:cNvSpPr>
          <p:nvPr/>
        </p:nvSpPr>
        <p:spPr>
          <a:xfrm xmlns:a="http://schemas.openxmlformats.org/drawingml/2006/main">
            <a:off x="4772025" y="3209925"/>
            <a:ext cx="2066925" cy="523875"/>
          </a:xfrm>
          <a:prstGeom xmlns:a="http://schemas.openxmlformats.org/drawingml/2006/main" prst="rect">
            <a:avLst/>
          </a:prstGeom>
          <a:solidFill xmlns:a="http://schemas.openxmlformats.org/drawingml/2006/main">
            <a:srgbClr val="FFFFFF"/>
          </a:solidFill>
          <a:ln xmlns:a="http://schemas.openxmlformats.org/drawingml/2006/main" w="15240">
            <a:solidFill>
              <a:srgbClr val="16324C"/>
            </a:solidFill>
          </a:ln>
        </p:spPr>
      </p:sp>
      <p:sp>
        <p:nvSpPr>
          <p:cNvPr id="29" name="">
            <a:extLst xmlns:a="http://schemas.openxmlformats.org/drawingml/2006/main">
              <a:ext uri="{FF2B5EF4-FFF2-40B4-BE49-F238E27FC236}">
                <a16:creationId xmlns:a16="http://schemas.microsoft.com/office/drawing/2014/main" id="{6BCE6F8E-C6D4-4D8A-A138-7C3FF925A532}"/>
              </a:ext>
            </a:extLst>
          </p:cNvPr>
          <p:cNvSpPr>
            <a:spLocks xmlns:a="http://schemas.openxmlformats.org/drawingml/2006/main" noGrp="1"/>
          </p:cNvSpPr>
          <p:nvPr/>
        </p:nvSpPr>
        <p:spPr>
          <a:xfrm xmlns:a="http://schemas.openxmlformats.org/drawingml/2006/main">
            <a:off x="4848225" y="3267075"/>
            <a:ext cx="19145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324C"/>
                </a:solidFill>
                <a:latin typeface="Arial"/>
                <a:ea typeface="Arial"/>
                <a:cs typeface="Arial"/>
              </a:defRPr>
            </a:pPr>
            <a:r>
              <a:rPr sz="1275" b="1">
                <a:solidFill>
                  <a:srgbClr val="16324C"/>
                </a:solidFill>
                <a:latin typeface="Arial"/>
                <a:ea typeface="Arial"/>
                <a:cs typeface="Arial"/>
              </a:rPr>
              <a:t>MaintenanceRequest</a:t>
            </a:r>
          </a:p>
        </p:txBody>
      </p:sp>
      <p:sp>
        <p:nvSpPr>
          <p:cNvPr id="30" name="">
            <a:extLst xmlns:a="http://schemas.openxmlformats.org/drawingml/2006/main">
              <a:ext uri="{FF2B5EF4-FFF2-40B4-BE49-F238E27FC236}">
                <a16:creationId xmlns:a16="http://schemas.microsoft.com/office/drawing/2014/main" id="{50AA7BBB-0F9D-4A1E-A8C3-87CD8113E6F7}"/>
              </a:ext>
            </a:extLst>
          </p:cNvPr>
          <p:cNvSpPr>
            <a:spLocks xmlns:a="http://schemas.openxmlformats.org/drawingml/2006/main" noGrp="1"/>
          </p:cNvSpPr>
          <p:nvPr/>
        </p:nvSpPr>
        <p:spPr>
          <a:xfrm xmlns:a="http://schemas.openxmlformats.org/drawingml/2006/main">
            <a:off x="4772025" y="3505200"/>
            <a:ext cx="2066925" cy="0"/>
          </a:xfrm>
          <a:prstGeom xmlns:a="http://schemas.openxmlformats.org/drawingml/2006/main" prst="line">
            <a:avLst/>
          </a:prstGeom>
          <a:noFill xmlns:a="http://schemas.openxmlformats.org/drawingml/2006/main"/>
          <a:ln xmlns:a="http://schemas.openxmlformats.org/drawingml/2006/main" w="9525">
            <a:solidFill>
              <a:srgbClr val="C7D5DE"/>
            </a:solidFill>
          </a:ln>
        </p:spPr>
      </p:sp>
      <p:sp>
        <p:nvSpPr>
          <p:cNvPr id="31" name="">
            <a:extLst xmlns:a="http://schemas.openxmlformats.org/drawingml/2006/main">
              <a:ext uri="{FF2B5EF4-FFF2-40B4-BE49-F238E27FC236}">
                <a16:creationId xmlns:a16="http://schemas.microsoft.com/office/drawing/2014/main" id="{71045F40-7CC1-4DAF-A430-895AF5288055}"/>
              </a:ext>
            </a:extLst>
          </p:cNvPr>
          <p:cNvSpPr>
            <a:spLocks xmlns:a="http://schemas.openxmlformats.org/drawingml/2006/main" noGrp="1"/>
          </p:cNvSpPr>
          <p:nvPr/>
        </p:nvSpPr>
        <p:spPr>
          <a:xfrm xmlns:a="http://schemas.openxmlformats.org/drawingml/2006/main">
            <a:off x="4848225" y="3552825"/>
            <a:ext cx="19145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F6C76"/>
                </a:solidFill>
                <a:latin typeface="Arial"/>
                <a:ea typeface="Arial"/>
                <a:cs typeface="Arial"/>
              </a:defRPr>
            </a:pPr>
            <a:r>
              <a:rPr sz="975" b="0">
                <a:solidFill>
                  <a:srgbClr val="5F6C76"/>
                </a:solidFill>
                <a:latin typeface="Arial"/>
                <a:ea typeface="Arial"/>
                <a:cs typeface="Arial"/>
              </a:rPr>
              <a:t>PENDING / ASSIGNED</a:t>
            </a:r>
          </a:p>
        </p:txBody>
      </p:sp>
      <p:sp>
        <p:nvSpPr>
          <p:cNvPr id="32" name="">
            <a:extLst xmlns:a="http://schemas.openxmlformats.org/drawingml/2006/main">
              <a:ext uri="{FF2B5EF4-FFF2-40B4-BE49-F238E27FC236}">
                <a16:creationId xmlns:a16="http://schemas.microsoft.com/office/drawing/2014/main" id="{E56FF4EE-0A39-4B6E-AF25-2F9A6592B242}"/>
              </a:ext>
            </a:extLst>
          </p:cNvPr>
          <p:cNvSpPr>
            <a:spLocks xmlns:a="http://schemas.openxmlformats.org/drawingml/2006/main" noGrp="1"/>
          </p:cNvSpPr>
          <p:nvPr/>
        </p:nvSpPr>
        <p:spPr>
          <a:xfrm xmlns:a="http://schemas.openxmlformats.org/drawingml/2006/main">
            <a:off x="7077075" y="3209925"/>
            <a:ext cx="1962150" cy="523875"/>
          </a:xfrm>
          <a:prstGeom xmlns:a="http://schemas.openxmlformats.org/drawingml/2006/main" prst="rect">
            <a:avLst/>
          </a:prstGeom>
          <a:solidFill xmlns:a="http://schemas.openxmlformats.org/drawingml/2006/main">
            <a:srgbClr val="FFFFFF"/>
          </a:solidFill>
          <a:ln xmlns:a="http://schemas.openxmlformats.org/drawingml/2006/main" w="15240">
            <a:solidFill>
              <a:srgbClr val="16324C"/>
            </a:solidFill>
          </a:ln>
        </p:spPr>
      </p:sp>
      <p:sp>
        <p:nvSpPr>
          <p:cNvPr id="33" name="">
            <a:extLst xmlns:a="http://schemas.openxmlformats.org/drawingml/2006/main">
              <a:ext uri="{FF2B5EF4-FFF2-40B4-BE49-F238E27FC236}">
                <a16:creationId xmlns:a16="http://schemas.microsoft.com/office/drawing/2014/main" id="{3E784F60-7061-49B1-854A-F3BCAC22189E}"/>
              </a:ext>
            </a:extLst>
          </p:cNvPr>
          <p:cNvSpPr>
            <a:spLocks xmlns:a="http://schemas.openxmlformats.org/drawingml/2006/main" noGrp="1"/>
          </p:cNvSpPr>
          <p:nvPr/>
        </p:nvSpPr>
        <p:spPr>
          <a:xfrm xmlns:a="http://schemas.openxmlformats.org/drawingml/2006/main">
            <a:off x="7153275" y="32670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324C"/>
                </a:solidFill>
                <a:latin typeface="Arial"/>
                <a:ea typeface="Arial"/>
                <a:cs typeface="Arial"/>
              </a:defRPr>
            </a:pPr>
            <a:r>
              <a:rPr sz="1275" b="1">
                <a:solidFill>
                  <a:srgbClr val="16324C"/>
                </a:solidFill>
                <a:latin typeface="Arial"/>
                <a:ea typeface="Arial"/>
                <a:cs typeface="Arial"/>
              </a:rPr>
              <a:t>BookingService</a:t>
            </a:r>
          </a:p>
        </p:txBody>
      </p:sp>
      <p:sp>
        <p:nvSpPr>
          <p:cNvPr id="34" name="">
            <a:extLst xmlns:a="http://schemas.openxmlformats.org/drawingml/2006/main">
              <a:ext uri="{FF2B5EF4-FFF2-40B4-BE49-F238E27FC236}">
                <a16:creationId xmlns:a16="http://schemas.microsoft.com/office/drawing/2014/main" id="{4B84E4C3-A6E8-4290-90D0-A24968ECEF10}"/>
              </a:ext>
            </a:extLst>
          </p:cNvPr>
          <p:cNvSpPr>
            <a:spLocks xmlns:a="http://schemas.openxmlformats.org/drawingml/2006/main" noGrp="1"/>
          </p:cNvSpPr>
          <p:nvPr/>
        </p:nvSpPr>
        <p:spPr>
          <a:xfrm xmlns:a="http://schemas.openxmlformats.org/drawingml/2006/main">
            <a:off x="7077075" y="3505200"/>
            <a:ext cx="1962150" cy="0"/>
          </a:xfrm>
          <a:prstGeom xmlns:a="http://schemas.openxmlformats.org/drawingml/2006/main" prst="line">
            <a:avLst/>
          </a:prstGeom>
          <a:noFill xmlns:a="http://schemas.openxmlformats.org/drawingml/2006/main"/>
          <a:ln xmlns:a="http://schemas.openxmlformats.org/drawingml/2006/main" w="9525">
            <a:solidFill>
              <a:srgbClr val="C7D5DE"/>
            </a:solidFill>
          </a:ln>
        </p:spPr>
      </p:sp>
      <p:sp>
        <p:nvSpPr>
          <p:cNvPr id="35" name="">
            <a:extLst xmlns:a="http://schemas.openxmlformats.org/drawingml/2006/main">
              <a:ext uri="{FF2B5EF4-FFF2-40B4-BE49-F238E27FC236}">
                <a16:creationId xmlns:a16="http://schemas.microsoft.com/office/drawing/2014/main" id="{F90B0255-1258-4D18-BF10-6A79CA6BA3EF}"/>
              </a:ext>
            </a:extLst>
          </p:cNvPr>
          <p:cNvSpPr>
            <a:spLocks xmlns:a="http://schemas.openxmlformats.org/drawingml/2006/main" noGrp="1"/>
          </p:cNvSpPr>
          <p:nvPr/>
        </p:nvSpPr>
        <p:spPr>
          <a:xfrm xmlns:a="http://schemas.openxmlformats.org/drawingml/2006/main">
            <a:off x="7153275" y="3552825"/>
            <a:ext cx="1809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F6C76"/>
                </a:solidFill>
                <a:latin typeface="Arial"/>
                <a:ea typeface="Arial"/>
                <a:cs typeface="Arial"/>
              </a:defRPr>
            </a:pPr>
            <a:r>
              <a:rPr sz="975" b="0">
                <a:solidFill>
                  <a:srgbClr val="5F6C76"/>
                </a:solidFill>
                <a:latin typeface="Arial"/>
                <a:ea typeface="Arial"/>
                <a:cs typeface="Arial"/>
              </a:rPr>
              <a:t>hours; conflicts</a:t>
            </a:r>
          </a:p>
        </p:txBody>
      </p:sp>
      <p:sp>
        <p:nvSpPr>
          <p:cNvPr id="36" name="">
            <a:extLst xmlns:a="http://schemas.openxmlformats.org/drawingml/2006/main">
              <a:ext uri="{FF2B5EF4-FFF2-40B4-BE49-F238E27FC236}">
                <a16:creationId xmlns:a16="http://schemas.microsoft.com/office/drawing/2014/main" id="{3F49594E-71F9-40B0-AC1C-88685EBA4FA3}"/>
              </a:ext>
            </a:extLst>
          </p:cNvPr>
          <p:cNvSpPr>
            <a:spLocks xmlns:a="http://schemas.openxmlformats.org/drawingml/2006/main" noGrp="1"/>
          </p:cNvSpPr>
          <p:nvPr/>
        </p:nvSpPr>
        <p:spPr>
          <a:xfrm xmlns:a="http://schemas.openxmlformats.org/drawingml/2006/main">
            <a:off x="9267825" y="3209925"/>
            <a:ext cx="2133600" cy="523875"/>
          </a:xfrm>
          <a:prstGeom xmlns:a="http://schemas.openxmlformats.org/drawingml/2006/main" prst="rect">
            <a:avLst/>
          </a:prstGeom>
          <a:solidFill xmlns:a="http://schemas.openxmlformats.org/drawingml/2006/main">
            <a:srgbClr val="FFFFFF"/>
          </a:solidFill>
          <a:ln xmlns:a="http://schemas.openxmlformats.org/drawingml/2006/main" w="15240">
            <a:solidFill>
              <a:srgbClr val="16324C"/>
            </a:solidFill>
          </a:ln>
        </p:spPr>
      </p:sp>
      <p:sp>
        <p:nvSpPr>
          <p:cNvPr id="37" name="">
            <a:extLst xmlns:a="http://schemas.openxmlformats.org/drawingml/2006/main">
              <a:ext uri="{FF2B5EF4-FFF2-40B4-BE49-F238E27FC236}">
                <a16:creationId xmlns:a16="http://schemas.microsoft.com/office/drawing/2014/main" id="{77AE0FFE-08D9-4888-87E8-652EFC3AEE16}"/>
              </a:ext>
            </a:extLst>
          </p:cNvPr>
          <p:cNvSpPr>
            <a:spLocks xmlns:a="http://schemas.openxmlformats.org/drawingml/2006/main" noGrp="1"/>
          </p:cNvSpPr>
          <p:nvPr/>
        </p:nvSpPr>
        <p:spPr>
          <a:xfrm xmlns:a="http://schemas.openxmlformats.org/drawingml/2006/main">
            <a:off x="9344025" y="3267075"/>
            <a:ext cx="1981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324C"/>
                </a:solidFill>
                <a:latin typeface="Arial"/>
                <a:ea typeface="Arial"/>
                <a:cs typeface="Arial"/>
              </a:defRPr>
            </a:pPr>
            <a:r>
              <a:rPr sz="1275" b="1">
                <a:solidFill>
                  <a:srgbClr val="16324C"/>
                </a:solidFill>
                <a:latin typeface="Arial"/>
                <a:ea typeface="Arial"/>
                <a:cs typeface="Arial"/>
              </a:rPr>
              <a:t>MaintenanceService</a:t>
            </a:r>
          </a:p>
        </p:txBody>
      </p:sp>
      <p:sp>
        <p:nvSpPr>
          <p:cNvPr id="38" name="">
            <a:extLst xmlns:a="http://schemas.openxmlformats.org/drawingml/2006/main">
              <a:ext uri="{FF2B5EF4-FFF2-40B4-BE49-F238E27FC236}">
                <a16:creationId xmlns:a16="http://schemas.microsoft.com/office/drawing/2014/main" id="{F8497462-952D-49E3-869A-4BC8ABF02A9E}"/>
              </a:ext>
            </a:extLst>
          </p:cNvPr>
          <p:cNvSpPr>
            <a:spLocks xmlns:a="http://schemas.openxmlformats.org/drawingml/2006/main" noGrp="1"/>
          </p:cNvSpPr>
          <p:nvPr/>
        </p:nvSpPr>
        <p:spPr>
          <a:xfrm xmlns:a="http://schemas.openxmlformats.org/drawingml/2006/main">
            <a:off x="9267825" y="3505200"/>
            <a:ext cx="2133600" cy="0"/>
          </a:xfrm>
          <a:prstGeom xmlns:a="http://schemas.openxmlformats.org/drawingml/2006/main" prst="line">
            <a:avLst/>
          </a:prstGeom>
          <a:noFill xmlns:a="http://schemas.openxmlformats.org/drawingml/2006/main"/>
          <a:ln xmlns:a="http://schemas.openxmlformats.org/drawingml/2006/main" w="9525">
            <a:solidFill>
              <a:srgbClr val="C7D5DE"/>
            </a:solidFill>
          </a:ln>
        </p:spPr>
      </p:sp>
      <p:sp>
        <p:nvSpPr>
          <p:cNvPr id="39" name="">
            <a:extLst xmlns:a="http://schemas.openxmlformats.org/drawingml/2006/main">
              <a:ext uri="{FF2B5EF4-FFF2-40B4-BE49-F238E27FC236}">
                <a16:creationId xmlns:a16="http://schemas.microsoft.com/office/drawing/2014/main" id="{D0A35F55-F68D-4CAB-B2CE-ACCCDFDC9C2A}"/>
              </a:ext>
            </a:extLst>
          </p:cNvPr>
          <p:cNvSpPr>
            <a:spLocks xmlns:a="http://schemas.openxmlformats.org/drawingml/2006/main" noGrp="1"/>
          </p:cNvSpPr>
          <p:nvPr/>
        </p:nvSpPr>
        <p:spPr>
          <a:xfrm xmlns:a="http://schemas.openxmlformats.org/drawingml/2006/main">
            <a:off x="9344025" y="3552825"/>
            <a:ext cx="1981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F6C76"/>
                </a:solidFill>
                <a:latin typeface="Arial"/>
                <a:ea typeface="Arial"/>
                <a:cs typeface="Arial"/>
              </a:defRPr>
            </a:pPr>
            <a:r>
              <a:rPr sz="975" b="0">
                <a:solidFill>
                  <a:srgbClr val="5F6C76"/>
                </a:solidFill>
                <a:latin typeface="Arial"/>
                <a:ea typeface="Arial"/>
                <a:cs typeface="Arial"/>
              </a:rPr>
              <a:t>Observer publisher</a:t>
            </a:r>
          </a:p>
        </p:txBody>
      </p:sp>
      <p:sp>
        <p:nvSpPr>
          <p:cNvPr id="40" name="">
            <a:extLst xmlns:a="http://schemas.openxmlformats.org/drawingml/2006/main">
              <a:ext uri="{FF2B5EF4-FFF2-40B4-BE49-F238E27FC236}">
                <a16:creationId xmlns:a16="http://schemas.microsoft.com/office/drawing/2014/main" id="{93367A3E-A3F1-4766-BA27-B5238BC7DC0D}"/>
              </a:ext>
            </a:extLst>
          </p:cNvPr>
          <p:cNvSpPr>
            <a:spLocks xmlns:a="http://schemas.openxmlformats.org/drawingml/2006/main" noGrp="1"/>
          </p:cNvSpPr>
          <p:nvPr/>
        </p:nvSpPr>
        <p:spPr>
          <a:xfrm xmlns:a="http://schemas.openxmlformats.org/drawingml/2006/main">
            <a:off x="3800475" y="4467225"/>
            <a:ext cx="2676525" cy="590550"/>
          </a:xfrm>
          <a:prstGeom xmlns:a="http://schemas.openxmlformats.org/drawingml/2006/main" prst="rect">
            <a:avLst/>
          </a:prstGeom>
          <a:solidFill xmlns:a="http://schemas.openxmlformats.org/drawingml/2006/main">
            <a:srgbClr val="FFFFFF"/>
          </a:solidFill>
          <a:ln xmlns:a="http://schemas.openxmlformats.org/drawingml/2006/main" w="15240">
            <a:solidFill>
              <a:srgbClr val="16324C"/>
            </a:solidFill>
          </a:ln>
        </p:spPr>
      </p:sp>
      <p:sp>
        <p:nvSpPr>
          <p:cNvPr id="41" name="">
            <a:extLst xmlns:a="http://schemas.openxmlformats.org/drawingml/2006/main">
              <a:ext uri="{FF2B5EF4-FFF2-40B4-BE49-F238E27FC236}">
                <a16:creationId xmlns:a16="http://schemas.microsoft.com/office/drawing/2014/main" id="{1AD57C3C-781E-4B14-9624-1E927E289353}"/>
              </a:ext>
            </a:extLst>
          </p:cNvPr>
          <p:cNvSpPr>
            <a:spLocks xmlns:a="http://schemas.openxmlformats.org/drawingml/2006/main" noGrp="1"/>
          </p:cNvSpPr>
          <p:nvPr/>
        </p:nvSpPr>
        <p:spPr>
          <a:xfrm xmlns:a="http://schemas.openxmlformats.org/drawingml/2006/main">
            <a:off x="3876675" y="4524375"/>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324C"/>
                </a:solidFill>
                <a:latin typeface="Arial"/>
                <a:ea typeface="Arial"/>
                <a:cs typeface="Arial"/>
              </a:defRPr>
            </a:pPr>
            <a:r>
              <a:rPr sz="1275" b="1">
                <a:solidFill>
                  <a:srgbClr val="16324C"/>
                </a:solidFill>
                <a:latin typeface="Arial"/>
                <a:ea typeface="Arial"/>
                <a:cs typeface="Arial"/>
              </a:rPr>
              <a:t>IWFCFacade  «Facade»</a:t>
            </a:r>
          </a:p>
        </p:txBody>
      </p:sp>
      <p:sp>
        <p:nvSpPr>
          <p:cNvPr id="42" name="">
            <a:extLst xmlns:a="http://schemas.openxmlformats.org/drawingml/2006/main">
              <a:ext uri="{FF2B5EF4-FFF2-40B4-BE49-F238E27FC236}">
                <a16:creationId xmlns:a16="http://schemas.microsoft.com/office/drawing/2014/main" id="{492AA43C-76AD-4F63-A80A-13671AC8E788}"/>
              </a:ext>
            </a:extLst>
          </p:cNvPr>
          <p:cNvSpPr>
            <a:spLocks xmlns:a="http://schemas.openxmlformats.org/drawingml/2006/main" noGrp="1"/>
          </p:cNvSpPr>
          <p:nvPr/>
        </p:nvSpPr>
        <p:spPr>
          <a:xfrm xmlns:a="http://schemas.openxmlformats.org/drawingml/2006/main">
            <a:off x="3800475" y="4762500"/>
            <a:ext cx="2676525" cy="0"/>
          </a:xfrm>
          <a:prstGeom xmlns:a="http://schemas.openxmlformats.org/drawingml/2006/main" prst="line">
            <a:avLst/>
          </a:prstGeom>
          <a:noFill xmlns:a="http://schemas.openxmlformats.org/drawingml/2006/main"/>
          <a:ln xmlns:a="http://schemas.openxmlformats.org/drawingml/2006/main" w="9525">
            <a:solidFill>
              <a:srgbClr val="C7D5DE"/>
            </a:solidFill>
          </a:ln>
        </p:spPr>
      </p:sp>
      <p:sp>
        <p:nvSpPr>
          <p:cNvPr id="43" name="">
            <a:extLst xmlns:a="http://schemas.openxmlformats.org/drawingml/2006/main">
              <a:ext uri="{FF2B5EF4-FFF2-40B4-BE49-F238E27FC236}">
                <a16:creationId xmlns:a16="http://schemas.microsoft.com/office/drawing/2014/main" id="{D0A5D3B2-BE60-4728-B432-BB301B219D2F}"/>
              </a:ext>
            </a:extLst>
          </p:cNvPr>
          <p:cNvSpPr>
            <a:spLocks xmlns:a="http://schemas.openxmlformats.org/drawingml/2006/main" noGrp="1"/>
          </p:cNvSpPr>
          <p:nvPr/>
        </p:nvSpPr>
        <p:spPr>
          <a:xfrm xmlns:a="http://schemas.openxmlformats.org/drawingml/2006/main">
            <a:off x="3876675" y="4810125"/>
            <a:ext cx="2524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F6C76"/>
                </a:solidFill>
                <a:latin typeface="Arial"/>
                <a:ea typeface="Arial"/>
                <a:cs typeface="Arial"/>
              </a:defRPr>
            </a:pPr>
            <a:r>
              <a:rPr sz="975" b="0">
                <a:solidFill>
                  <a:srgbClr val="5F6C76"/>
                </a:solidFill>
                <a:latin typeface="Arial"/>
                <a:ea typeface="Arial"/>
                <a:cs typeface="Arial"/>
              </a:rPr>
              <a:t>public use-case methods</a:t>
            </a:r>
          </a:p>
        </p:txBody>
      </p:sp>
      <p:sp>
        <p:nvSpPr>
          <p:cNvPr id="44" name="">
            <a:extLst xmlns:a="http://schemas.openxmlformats.org/drawingml/2006/main">
              <a:ext uri="{FF2B5EF4-FFF2-40B4-BE49-F238E27FC236}">
                <a16:creationId xmlns:a16="http://schemas.microsoft.com/office/drawing/2014/main" id="{BCB0AD9C-1460-443D-AC63-DC04F75003BA}"/>
              </a:ext>
            </a:extLst>
          </p:cNvPr>
          <p:cNvSpPr>
            <a:spLocks xmlns:a="http://schemas.openxmlformats.org/drawingml/2006/main" noGrp="1"/>
          </p:cNvSpPr>
          <p:nvPr/>
        </p:nvSpPr>
        <p:spPr>
          <a:xfrm xmlns:a="http://schemas.openxmlformats.org/drawingml/2006/main">
            <a:off x="733425" y="5353050"/>
            <a:ext cx="2600325" cy="542925"/>
          </a:xfrm>
          <a:prstGeom xmlns:a="http://schemas.openxmlformats.org/drawingml/2006/main" prst="rect">
            <a:avLst/>
          </a:prstGeom>
          <a:solidFill xmlns:a="http://schemas.openxmlformats.org/drawingml/2006/main">
            <a:srgbClr val="FFFFFF"/>
          </a:solidFill>
          <a:ln xmlns:a="http://schemas.openxmlformats.org/drawingml/2006/main" w="15240">
            <a:solidFill>
              <a:srgbClr val="16324C"/>
            </a:solidFill>
          </a:ln>
        </p:spPr>
      </p:sp>
      <p:sp>
        <p:nvSpPr>
          <p:cNvPr id="45" name="">
            <a:extLst xmlns:a="http://schemas.openxmlformats.org/drawingml/2006/main">
              <a:ext uri="{FF2B5EF4-FFF2-40B4-BE49-F238E27FC236}">
                <a16:creationId xmlns:a16="http://schemas.microsoft.com/office/drawing/2014/main" id="{C6766D97-43E8-4FCF-B64E-F67617676D42}"/>
              </a:ext>
            </a:extLst>
          </p:cNvPr>
          <p:cNvSpPr>
            <a:spLocks xmlns:a="http://schemas.openxmlformats.org/drawingml/2006/main" noGrp="1"/>
          </p:cNvSpPr>
          <p:nvPr/>
        </p:nvSpPr>
        <p:spPr>
          <a:xfrm xmlns:a="http://schemas.openxmlformats.org/drawingml/2006/main">
            <a:off x="809625" y="5410200"/>
            <a:ext cx="2447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16324C"/>
                </a:solidFill>
                <a:latin typeface="Arial"/>
                <a:ea typeface="Arial"/>
                <a:cs typeface="Arial"/>
              </a:defRPr>
            </a:pPr>
            <a:r>
              <a:rPr sz="1050" b="1">
                <a:solidFill>
                  <a:srgbClr val="16324C"/>
                </a:solidFill>
                <a:latin typeface="Arial"/>
                <a:ea typeface="Arial"/>
                <a:cs typeface="Arial"/>
              </a:rPr>
              <a:t>EntityFactory  «Factory»</a:t>
            </a:r>
          </a:p>
        </p:txBody>
      </p:sp>
      <p:sp>
        <p:nvSpPr>
          <p:cNvPr id="46" name="">
            <a:extLst xmlns:a="http://schemas.openxmlformats.org/drawingml/2006/main">
              <a:ext uri="{FF2B5EF4-FFF2-40B4-BE49-F238E27FC236}">
                <a16:creationId xmlns:a16="http://schemas.microsoft.com/office/drawing/2014/main" id="{1AA47E8F-E70E-4A8A-9EB6-FA7F1FE249DA}"/>
              </a:ext>
            </a:extLst>
          </p:cNvPr>
          <p:cNvSpPr>
            <a:spLocks xmlns:a="http://schemas.openxmlformats.org/drawingml/2006/main" noGrp="1"/>
          </p:cNvSpPr>
          <p:nvPr/>
        </p:nvSpPr>
        <p:spPr>
          <a:xfrm xmlns:a="http://schemas.openxmlformats.org/drawingml/2006/main">
            <a:off x="733425" y="5648325"/>
            <a:ext cx="2600325" cy="0"/>
          </a:xfrm>
          <a:prstGeom xmlns:a="http://schemas.openxmlformats.org/drawingml/2006/main" prst="line">
            <a:avLst/>
          </a:prstGeom>
          <a:noFill xmlns:a="http://schemas.openxmlformats.org/drawingml/2006/main"/>
          <a:ln xmlns:a="http://schemas.openxmlformats.org/drawingml/2006/main" w="9525">
            <a:solidFill>
              <a:srgbClr val="C7D5DE"/>
            </a:solidFill>
          </a:ln>
        </p:spPr>
      </p:sp>
      <p:sp>
        <p:nvSpPr>
          <p:cNvPr id="47" name="">
            <a:extLst xmlns:a="http://schemas.openxmlformats.org/drawingml/2006/main">
              <a:ext uri="{FF2B5EF4-FFF2-40B4-BE49-F238E27FC236}">
                <a16:creationId xmlns:a16="http://schemas.microsoft.com/office/drawing/2014/main" id="{0DB2FCFC-2052-4084-848F-505AFE3E3E21}"/>
              </a:ext>
            </a:extLst>
          </p:cNvPr>
          <p:cNvSpPr>
            <a:spLocks xmlns:a="http://schemas.openxmlformats.org/drawingml/2006/main" noGrp="1"/>
          </p:cNvSpPr>
          <p:nvPr/>
        </p:nvSpPr>
        <p:spPr>
          <a:xfrm xmlns:a="http://schemas.openxmlformats.org/drawingml/2006/main">
            <a:off x="809625" y="5695950"/>
            <a:ext cx="24479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F6C76"/>
                </a:solidFill>
                <a:latin typeface="Arial"/>
                <a:ea typeface="Arial"/>
                <a:cs typeface="Arial"/>
              </a:defRPr>
            </a:pPr>
            <a:r>
              <a:rPr sz="975" b="0">
                <a:solidFill>
                  <a:srgbClr val="5F6C76"/>
                </a:solidFill>
                <a:latin typeface="Arial"/>
                <a:ea typeface="Arial"/>
                <a:cs typeface="Arial"/>
              </a:rPr>
              <a:t>creates users; equipment</a:t>
            </a:r>
          </a:p>
        </p:txBody>
      </p:sp>
      <p:sp>
        <p:nvSpPr>
          <p:cNvPr id="48" name="">
            <a:extLst xmlns:a="http://schemas.openxmlformats.org/drawingml/2006/main">
              <a:ext uri="{FF2B5EF4-FFF2-40B4-BE49-F238E27FC236}">
                <a16:creationId xmlns:a16="http://schemas.microsoft.com/office/drawing/2014/main" id="{BE8B1D5D-2E0E-4877-969F-68283201879F}"/>
              </a:ext>
            </a:extLst>
          </p:cNvPr>
          <p:cNvSpPr>
            <a:spLocks xmlns:a="http://schemas.openxmlformats.org/drawingml/2006/main" noGrp="1"/>
          </p:cNvSpPr>
          <p:nvPr/>
        </p:nvSpPr>
        <p:spPr>
          <a:xfrm xmlns:a="http://schemas.openxmlformats.org/drawingml/2006/main">
            <a:off x="3733800" y="5353050"/>
            <a:ext cx="2400300" cy="542925"/>
          </a:xfrm>
          <a:prstGeom xmlns:a="http://schemas.openxmlformats.org/drawingml/2006/main" prst="rect">
            <a:avLst/>
          </a:prstGeom>
          <a:solidFill xmlns:a="http://schemas.openxmlformats.org/drawingml/2006/main">
            <a:srgbClr val="FFFFFF"/>
          </a:solidFill>
          <a:ln xmlns:a="http://schemas.openxmlformats.org/drawingml/2006/main" w="15240">
            <a:solidFill>
              <a:srgbClr val="16324C"/>
            </a:solidFill>
          </a:ln>
        </p:spPr>
      </p:sp>
      <p:sp>
        <p:nvSpPr>
          <p:cNvPr id="49" name="">
            <a:extLst xmlns:a="http://schemas.openxmlformats.org/drawingml/2006/main">
              <a:ext uri="{FF2B5EF4-FFF2-40B4-BE49-F238E27FC236}">
                <a16:creationId xmlns:a16="http://schemas.microsoft.com/office/drawing/2014/main" id="{5531D67E-598E-4B94-8B1D-55DE37BF1F54}"/>
              </a:ext>
            </a:extLst>
          </p:cNvPr>
          <p:cNvSpPr>
            <a:spLocks xmlns:a="http://schemas.openxmlformats.org/drawingml/2006/main" noGrp="1"/>
          </p:cNvSpPr>
          <p:nvPr/>
        </p:nvSpPr>
        <p:spPr>
          <a:xfrm xmlns:a="http://schemas.openxmlformats.org/drawingml/2006/main">
            <a:off x="3810000" y="5410200"/>
            <a:ext cx="224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324C"/>
                </a:solidFill>
                <a:latin typeface="Arial"/>
                <a:ea typeface="Arial"/>
                <a:cs typeface="Arial"/>
              </a:defRPr>
            </a:pPr>
            <a:r>
              <a:rPr sz="1275" b="1">
                <a:solidFill>
                  <a:srgbClr val="16324C"/>
                </a:solidFill>
                <a:latin typeface="Arial"/>
                <a:ea typeface="Arial"/>
                <a:cs typeface="Arial"/>
              </a:rPr>
              <a:t>GenericRepository&lt;T&gt;</a:t>
            </a:r>
          </a:p>
        </p:txBody>
      </p:sp>
      <p:sp>
        <p:nvSpPr>
          <p:cNvPr id="50" name="">
            <a:extLst xmlns:a="http://schemas.openxmlformats.org/drawingml/2006/main">
              <a:ext uri="{FF2B5EF4-FFF2-40B4-BE49-F238E27FC236}">
                <a16:creationId xmlns:a16="http://schemas.microsoft.com/office/drawing/2014/main" id="{7431050B-B87D-4151-A77D-B2CBEC048097}"/>
              </a:ext>
            </a:extLst>
          </p:cNvPr>
          <p:cNvSpPr>
            <a:spLocks xmlns:a="http://schemas.openxmlformats.org/drawingml/2006/main" noGrp="1"/>
          </p:cNvSpPr>
          <p:nvPr/>
        </p:nvSpPr>
        <p:spPr>
          <a:xfrm xmlns:a="http://schemas.openxmlformats.org/drawingml/2006/main">
            <a:off x="3733800" y="5648325"/>
            <a:ext cx="2400300" cy="0"/>
          </a:xfrm>
          <a:prstGeom xmlns:a="http://schemas.openxmlformats.org/drawingml/2006/main" prst="line">
            <a:avLst/>
          </a:prstGeom>
          <a:noFill xmlns:a="http://schemas.openxmlformats.org/drawingml/2006/main"/>
          <a:ln xmlns:a="http://schemas.openxmlformats.org/drawingml/2006/main" w="9525">
            <a:solidFill>
              <a:srgbClr val="C7D5DE"/>
            </a:solidFill>
          </a:ln>
        </p:spPr>
      </p:sp>
      <p:sp>
        <p:nvSpPr>
          <p:cNvPr id="51" name="">
            <a:extLst xmlns:a="http://schemas.openxmlformats.org/drawingml/2006/main">
              <a:ext uri="{FF2B5EF4-FFF2-40B4-BE49-F238E27FC236}">
                <a16:creationId xmlns:a16="http://schemas.microsoft.com/office/drawing/2014/main" id="{F258CADE-1DCC-4BA9-9ECB-94321C07A8CE}"/>
              </a:ext>
            </a:extLst>
          </p:cNvPr>
          <p:cNvSpPr>
            <a:spLocks xmlns:a="http://schemas.openxmlformats.org/drawingml/2006/main" noGrp="1"/>
          </p:cNvSpPr>
          <p:nvPr/>
        </p:nvSpPr>
        <p:spPr>
          <a:xfrm xmlns:a="http://schemas.openxmlformats.org/drawingml/2006/main">
            <a:off x="3810000" y="5695950"/>
            <a:ext cx="22479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F6C76"/>
                </a:solidFill>
                <a:latin typeface="Arial"/>
                <a:ea typeface="Arial"/>
                <a:cs typeface="Arial"/>
              </a:defRPr>
            </a:pPr>
            <a:r>
              <a:rPr sz="975" b="0">
                <a:solidFill>
                  <a:srgbClr val="5F6C76"/>
                </a:solidFill>
                <a:latin typeface="Arial"/>
                <a:ea typeface="Arial"/>
                <a:cs typeface="Arial"/>
              </a:rPr>
              <a:t>typed in-memory IDs</a:t>
            </a:r>
          </a:p>
        </p:txBody>
      </p:sp>
      <p:sp>
        <p:nvSpPr>
          <p:cNvPr id="52" name="">
            <a:extLst xmlns:a="http://schemas.openxmlformats.org/drawingml/2006/main">
              <a:ext uri="{FF2B5EF4-FFF2-40B4-BE49-F238E27FC236}">
                <a16:creationId xmlns:a16="http://schemas.microsoft.com/office/drawing/2014/main" id="{8A3690D2-DEC2-443C-96C0-54BC140CD70A}"/>
              </a:ext>
            </a:extLst>
          </p:cNvPr>
          <p:cNvSpPr>
            <a:spLocks xmlns:a="http://schemas.openxmlformats.org/drawingml/2006/main" noGrp="1"/>
          </p:cNvSpPr>
          <p:nvPr/>
        </p:nvSpPr>
        <p:spPr>
          <a:xfrm xmlns:a="http://schemas.openxmlformats.org/drawingml/2006/main">
            <a:off x="6581775" y="5353050"/>
            <a:ext cx="2190750" cy="542925"/>
          </a:xfrm>
          <a:prstGeom xmlns:a="http://schemas.openxmlformats.org/drawingml/2006/main" prst="rect">
            <a:avLst/>
          </a:prstGeom>
          <a:solidFill xmlns:a="http://schemas.openxmlformats.org/drawingml/2006/main">
            <a:srgbClr val="FFFFFF"/>
          </a:solidFill>
          <a:ln xmlns:a="http://schemas.openxmlformats.org/drawingml/2006/main" w="15240">
            <a:solidFill>
              <a:srgbClr val="16324C"/>
            </a:solidFill>
          </a:ln>
        </p:spPr>
      </p:sp>
      <p:sp>
        <p:nvSpPr>
          <p:cNvPr id="53" name="">
            <a:extLst xmlns:a="http://schemas.openxmlformats.org/drawingml/2006/main">
              <a:ext uri="{FF2B5EF4-FFF2-40B4-BE49-F238E27FC236}">
                <a16:creationId xmlns:a16="http://schemas.microsoft.com/office/drawing/2014/main" id="{0E9E637A-A039-4DF3-9F2B-8AE20C2822F3}"/>
              </a:ext>
            </a:extLst>
          </p:cNvPr>
          <p:cNvSpPr>
            <a:spLocks xmlns:a="http://schemas.openxmlformats.org/drawingml/2006/main" noGrp="1"/>
          </p:cNvSpPr>
          <p:nvPr/>
        </p:nvSpPr>
        <p:spPr>
          <a:xfrm xmlns:a="http://schemas.openxmlformats.org/drawingml/2006/main">
            <a:off x="6657975" y="5410200"/>
            <a:ext cx="2038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16324C"/>
                </a:solidFill>
                <a:latin typeface="Arial"/>
                <a:ea typeface="Arial"/>
                <a:cs typeface="Arial"/>
              </a:defRPr>
            </a:pPr>
            <a:r>
              <a:rPr sz="1050" b="1">
                <a:solidFill>
                  <a:srgbClr val="16324C"/>
                </a:solidFill>
                <a:latin typeface="Arial"/>
                <a:ea typeface="Arial"/>
                <a:cs typeface="Arial"/>
              </a:rPr>
              <a:t>InvalidBookingException</a:t>
            </a:r>
          </a:p>
        </p:txBody>
      </p:sp>
      <p:sp>
        <p:nvSpPr>
          <p:cNvPr id="54" name="">
            <a:extLst xmlns:a="http://schemas.openxmlformats.org/drawingml/2006/main">
              <a:ext uri="{FF2B5EF4-FFF2-40B4-BE49-F238E27FC236}">
                <a16:creationId xmlns:a16="http://schemas.microsoft.com/office/drawing/2014/main" id="{4640255E-CEC9-469C-9531-2556243B7B1B}"/>
              </a:ext>
            </a:extLst>
          </p:cNvPr>
          <p:cNvSpPr>
            <a:spLocks xmlns:a="http://schemas.openxmlformats.org/drawingml/2006/main" noGrp="1"/>
          </p:cNvSpPr>
          <p:nvPr/>
        </p:nvSpPr>
        <p:spPr>
          <a:xfrm xmlns:a="http://schemas.openxmlformats.org/drawingml/2006/main">
            <a:off x="8915400" y="5353050"/>
            <a:ext cx="2619375" cy="542925"/>
          </a:xfrm>
          <a:prstGeom xmlns:a="http://schemas.openxmlformats.org/drawingml/2006/main" prst="rect">
            <a:avLst/>
          </a:prstGeom>
          <a:solidFill xmlns:a="http://schemas.openxmlformats.org/drawingml/2006/main">
            <a:srgbClr val="FFFFFF"/>
          </a:solidFill>
          <a:ln xmlns:a="http://schemas.openxmlformats.org/drawingml/2006/main" w="15240">
            <a:solidFill>
              <a:srgbClr val="16324C"/>
            </a:solidFill>
          </a:ln>
        </p:spPr>
      </p:sp>
      <p:sp>
        <p:nvSpPr>
          <p:cNvPr id="55" name="">
            <a:extLst xmlns:a="http://schemas.openxmlformats.org/drawingml/2006/main">
              <a:ext uri="{FF2B5EF4-FFF2-40B4-BE49-F238E27FC236}">
                <a16:creationId xmlns:a16="http://schemas.microsoft.com/office/drawing/2014/main" id="{AF937A3C-E7C9-48A0-BF51-4540133F4CAD}"/>
              </a:ext>
            </a:extLst>
          </p:cNvPr>
          <p:cNvSpPr>
            <a:spLocks xmlns:a="http://schemas.openxmlformats.org/drawingml/2006/main" noGrp="1"/>
          </p:cNvSpPr>
          <p:nvPr/>
        </p:nvSpPr>
        <p:spPr>
          <a:xfrm xmlns:a="http://schemas.openxmlformats.org/drawingml/2006/main">
            <a:off x="8991600" y="5410200"/>
            <a:ext cx="24669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16324C"/>
                </a:solidFill>
                <a:latin typeface="Arial"/>
                <a:ea typeface="Arial"/>
                <a:cs typeface="Arial"/>
              </a:defRPr>
            </a:pPr>
            <a:r>
              <a:rPr sz="1050" b="1">
                <a:solidFill>
                  <a:srgbClr val="16324C"/>
                </a:solidFill>
                <a:latin typeface="Arial"/>
                <a:ea typeface="Arial"/>
                <a:cs typeface="Arial"/>
              </a:rPr>
              <a:t>UnauthorizedAccessException</a:t>
            </a:r>
          </a:p>
        </p:txBody>
      </p:sp>
      <p:sp>
        <p:nvSpPr>
          <p:cNvPr id="56" name="">
            <a:extLst xmlns:a="http://schemas.openxmlformats.org/drawingml/2006/main">
              <a:ext uri="{FF2B5EF4-FFF2-40B4-BE49-F238E27FC236}">
                <a16:creationId xmlns:a16="http://schemas.microsoft.com/office/drawing/2014/main" id="{DFB49467-4991-473F-A30B-0B7F019DCB46}"/>
              </a:ext>
            </a:extLst>
          </p:cNvPr>
          <p:cNvSpPr>
            <a:spLocks xmlns:a="http://schemas.openxmlformats.org/drawingml/2006/main" noGrp="1"/>
          </p:cNvSpPr>
          <p:nvPr/>
        </p:nvSpPr>
        <p:spPr>
          <a:xfrm xmlns:a="http://schemas.openxmlformats.org/drawingml/2006/main">
            <a:off x="6657975" y="6048375"/>
            <a:ext cx="2200275" cy="466725"/>
          </a:xfrm>
          <a:prstGeom xmlns:a="http://schemas.openxmlformats.org/drawingml/2006/main" prst="rect">
            <a:avLst/>
          </a:prstGeom>
          <a:solidFill xmlns:a="http://schemas.openxmlformats.org/drawingml/2006/main">
            <a:srgbClr val="FFFFFF"/>
          </a:solidFill>
          <a:ln xmlns:a="http://schemas.openxmlformats.org/drawingml/2006/main" w="15240">
            <a:solidFill>
              <a:srgbClr val="16324C"/>
            </a:solidFill>
          </a:ln>
        </p:spPr>
      </p:sp>
      <p:sp>
        <p:nvSpPr>
          <p:cNvPr id="57" name="">
            <a:extLst xmlns:a="http://schemas.openxmlformats.org/drawingml/2006/main">
              <a:ext uri="{FF2B5EF4-FFF2-40B4-BE49-F238E27FC236}">
                <a16:creationId xmlns:a16="http://schemas.microsoft.com/office/drawing/2014/main" id="{FCC60987-B6A2-4B49-B65A-C8399B2B8774}"/>
              </a:ext>
            </a:extLst>
          </p:cNvPr>
          <p:cNvSpPr>
            <a:spLocks xmlns:a="http://schemas.openxmlformats.org/drawingml/2006/main" noGrp="1"/>
          </p:cNvSpPr>
          <p:nvPr/>
        </p:nvSpPr>
        <p:spPr>
          <a:xfrm xmlns:a="http://schemas.openxmlformats.org/drawingml/2006/main">
            <a:off x="6734175" y="6105525"/>
            <a:ext cx="2047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16324C"/>
                </a:solidFill>
                <a:latin typeface="Arial"/>
                <a:ea typeface="Arial"/>
                <a:cs typeface="Arial"/>
              </a:defRPr>
            </a:pPr>
            <a:r>
              <a:rPr sz="1050" b="1">
                <a:solidFill>
                  <a:srgbClr val="16324C"/>
                </a:solidFill>
                <a:latin typeface="Arial"/>
                <a:ea typeface="Arial"/>
                <a:cs typeface="Arial"/>
              </a:rPr>
              <a:t>DuplicateDataException</a:t>
            </a:r>
          </a:p>
        </p:txBody>
      </p:sp>
      <p:sp>
        <p:nvSpPr>
          <p:cNvPr id="58" name="">
            <a:extLst xmlns:a="http://schemas.openxmlformats.org/drawingml/2006/main">
              <a:ext uri="{FF2B5EF4-FFF2-40B4-BE49-F238E27FC236}">
                <a16:creationId xmlns:a16="http://schemas.microsoft.com/office/drawing/2014/main" id="{8ED9B47E-49C6-47F3-AD15-CB40AAF73E09}"/>
              </a:ext>
            </a:extLst>
          </p:cNvPr>
          <p:cNvSpPr>
            <a:spLocks xmlns:a="http://schemas.openxmlformats.org/drawingml/2006/main" noGrp="1"/>
          </p:cNvSpPr>
          <p:nvPr/>
        </p:nvSpPr>
        <p:spPr>
          <a:xfrm xmlns:a="http://schemas.openxmlformats.org/drawingml/2006/main">
            <a:off x="5133975" y="3857625"/>
            <a:ext cx="0" cy="609600"/>
          </a:xfrm>
          <a:prstGeom xmlns:a="http://schemas.openxmlformats.org/drawingml/2006/main" prst="line">
            <a:avLst/>
          </a:prstGeom>
          <a:noFill xmlns:a="http://schemas.openxmlformats.org/drawingml/2006/main"/>
          <a:ln xmlns:a="http://schemas.openxmlformats.org/drawingml/2006/main" w="19050">
            <a:solidFill>
              <a:srgbClr val="167D86"/>
            </a:solidFill>
          </a:ln>
        </p:spPr>
      </p:sp>
      <p:sp>
        <p:nvSpPr>
          <p:cNvPr id="59" name="">
            <a:extLst xmlns:a="http://schemas.openxmlformats.org/drawingml/2006/main">
              <a:ext uri="{FF2B5EF4-FFF2-40B4-BE49-F238E27FC236}">
                <a16:creationId xmlns:a16="http://schemas.microsoft.com/office/drawing/2014/main" id="{176FD82C-EE24-4146-80D4-18568FE347DB}"/>
              </a:ext>
            </a:extLst>
          </p:cNvPr>
          <p:cNvSpPr>
            <a:spLocks xmlns:a="http://schemas.openxmlformats.org/drawingml/2006/main" noGrp="1"/>
          </p:cNvSpPr>
          <p:nvPr/>
        </p:nvSpPr>
        <p:spPr>
          <a:xfrm xmlns:a="http://schemas.openxmlformats.org/drawingml/2006/main">
            <a:off x="5133975" y="5057775"/>
            <a:ext cx="0" cy="295275"/>
          </a:xfrm>
          <a:prstGeom xmlns:a="http://schemas.openxmlformats.org/drawingml/2006/main" prst="line">
            <a:avLst/>
          </a:prstGeom>
          <a:noFill xmlns:a="http://schemas.openxmlformats.org/drawingml/2006/main"/>
          <a:ln xmlns:a="http://schemas.openxmlformats.org/drawingml/2006/main" w="19050">
            <a:solidFill>
              <a:srgbClr val="167D86"/>
            </a:solidFill>
          </a:ln>
        </p:spPr>
      </p:sp>
      <p:sp>
        <p:nvSpPr>
          <p:cNvPr id="60" name="">
            <a:extLst xmlns:a="http://schemas.openxmlformats.org/drawingml/2006/main">
              <a:ext uri="{FF2B5EF4-FFF2-40B4-BE49-F238E27FC236}">
                <a16:creationId xmlns:a16="http://schemas.microsoft.com/office/drawing/2014/main" id="{EE6DB458-CF63-4A99-9BC4-4F94FEE6B647}"/>
              </a:ext>
            </a:extLst>
          </p:cNvPr>
          <p:cNvSpPr>
            <a:spLocks xmlns:a="http://schemas.openxmlformats.org/drawingml/2006/main" noGrp="1"/>
          </p:cNvSpPr>
          <p:nvPr/>
        </p:nvSpPr>
        <p:spPr>
          <a:xfrm xmlns:a="http://schemas.openxmlformats.org/drawingml/2006/main">
            <a:off x="704850" y="6191250"/>
            <a:ext cx="581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F6C76"/>
                </a:solidFill>
                <a:latin typeface="Arial"/>
                <a:ea typeface="Arial"/>
                <a:cs typeface="Arial"/>
              </a:defRPr>
            </a:pPr>
            <a:r>
              <a:rPr sz="1275" b="0">
                <a:solidFill>
                  <a:srgbClr val="5F6C76"/>
                </a:solidFill>
                <a:latin typeface="Arial"/>
                <a:ea typeface="Arial"/>
                <a:cs typeface="Arial"/>
              </a:rPr>
              <a:t>15 top-level production files across 6 packages</a:t>
            </a:r>
          </a:p>
        </p:txBody>
      </p:sp>
    </p:spTree>
    <p:extLst>
      <p:ext uri="{BB962C8B-B14F-4D97-AF65-F5344CB8AC3E}">
        <p14:creationId xmlns:p14="http://schemas.microsoft.com/office/powerpoint/2010/main" val="105943829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B65121D-BDFE-4619-9761-BAC1404AA604}"/>
              </a:ext>
            </a:extLst>
          </p:cNvPr>
          <p:cNvSpPr>
            <a:spLocks xmlns:a="http://schemas.openxmlformats.org/drawingml/2006/main" noGrp="1"/>
          </p:cNvSpPr>
          <p:nvPr/>
        </p:nvSpPr>
        <p:spPr>
          <a:xfrm xmlns:a="http://schemas.openxmlformats.org/drawingml/2006/main">
            <a:off x="609600" y="4191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C"/>
                </a:solidFill>
                <a:latin typeface="Arial"/>
                <a:ea typeface="Arial"/>
                <a:cs typeface="Arial"/>
              </a:defRPr>
            </a:pPr>
            <a:r>
              <a:rPr sz="2700" b="1">
                <a:solidFill>
                  <a:srgbClr val="16324C"/>
                </a:solidFill>
                <a:latin typeface="Arial"/>
                <a:ea typeface="Arial"/>
                <a:cs typeface="Arial"/>
              </a:rPr>
              <a:t>Factory, Facade and Observer</a:t>
            </a:r>
          </a:p>
        </p:txBody>
      </p:sp>
      <p:sp>
        <p:nvSpPr>
          <p:cNvPr id="2" name="">
            <a:extLst xmlns:a="http://schemas.openxmlformats.org/drawingml/2006/main">
              <a:ext uri="{FF2B5EF4-FFF2-40B4-BE49-F238E27FC236}">
                <a16:creationId xmlns:a16="http://schemas.microsoft.com/office/drawing/2014/main" id="{D5C2DF20-2F3F-461B-8AF8-57252D9BFA32}"/>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38100">
            <a:solidFill>
              <a:srgbClr val="167D86"/>
            </a:solidFill>
          </a:ln>
        </p:spPr>
      </p:sp>
      <p:sp>
        <p:nvSpPr>
          <p:cNvPr id="3" name="">
            <a:extLst xmlns:a="http://schemas.openxmlformats.org/drawingml/2006/main">
              <a:ext uri="{FF2B5EF4-FFF2-40B4-BE49-F238E27FC236}">
                <a16:creationId xmlns:a16="http://schemas.microsoft.com/office/drawing/2014/main" id="{318E3264-C0E8-489C-9465-4D1C4CFC82D0}"/>
              </a:ext>
            </a:extLst>
          </p:cNvPr>
          <p:cNvSpPr>
            <a:spLocks xmlns:a="http://schemas.openxmlformats.org/drawingml/2006/main" noGrp="1"/>
          </p:cNvSpPr>
          <p:nvPr/>
        </p:nvSpPr>
        <p:spPr>
          <a:xfrm xmlns:a="http://schemas.openxmlformats.org/drawingml/2006/main">
            <a:off x="609600" y="64484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F6C76"/>
                </a:solidFill>
                <a:latin typeface="Arial"/>
                <a:ea typeface="Arial"/>
                <a:cs typeface="Arial"/>
              </a:defRPr>
            </a:pPr>
            <a:r>
              <a:rPr sz="975" b="0">
                <a:solidFill>
                  <a:srgbClr val="5F6C76"/>
                </a:solidFill>
                <a:latin typeface="Arial"/>
                <a:ea typeface="Arial"/>
                <a:cs typeface="Arial"/>
              </a:rPr>
              <a:t>IWFC  /  CMP 7001 PRES1</a:t>
            </a:r>
          </a:p>
        </p:txBody>
      </p:sp>
      <p:sp>
        <p:nvSpPr>
          <p:cNvPr id="4" name="">
            <a:extLst xmlns:a="http://schemas.openxmlformats.org/drawingml/2006/main">
              <a:ext uri="{FF2B5EF4-FFF2-40B4-BE49-F238E27FC236}">
                <a16:creationId xmlns:a16="http://schemas.microsoft.com/office/drawing/2014/main" id="{D194F278-5A7A-4566-A7E0-EB3DA570E90B}"/>
              </a:ext>
            </a:extLst>
          </p:cNvPr>
          <p:cNvSpPr>
            <a:spLocks xmlns:a="http://schemas.openxmlformats.org/drawingml/2006/main" noGrp="1"/>
          </p:cNvSpPr>
          <p:nvPr/>
        </p:nvSpPr>
        <p:spPr>
          <a:xfrm xmlns:a="http://schemas.openxmlformats.org/drawingml/2006/main">
            <a:off x="11068050" y="642937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5F6C76"/>
                </a:solidFill>
                <a:latin typeface="Arial"/>
                <a:ea typeface="Arial"/>
                <a:cs typeface="Arial"/>
              </a:defRPr>
            </a:pPr>
            <a:r>
              <a:rPr sz="975" b="1">
                <a:solidFill>
                  <a:srgbClr val="5F6C76"/>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8EC347B8-0E74-43C0-B9E2-E39AC86EB113}"/>
              </a:ext>
            </a:extLst>
          </p:cNvPr>
          <p:cNvSpPr>
            <a:spLocks xmlns:a="http://schemas.openxmlformats.org/drawingml/2006/main" noGrp="1"/>
          </p:cNvSpPr>
          <p:nvPr/>
        </p:nvSpPr>
        <p:spPr>
          <a:xfrm xmlns:a="http://schemas.openxmlformats.org/drawingml/2006/main">
            <a:off x="704850" y="1809750"/>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324C"/>
                </a:solidFill>
                <a:latin typeface="Arial"/>
                <a:ea typeface="Arial"/>
                <a:cs typeface="Arial"/>
              </a:defRPr>
            </a:pPr>
            <a:r>
              <a:rPr sz="1950" b="1">
                <a:solidFill>
                  <a:srgbClr val="16324C"/>
                </a:solidFill>
                <a:latin typeface="Arial"/>
                <a:ea typeface="Arial"/>
                <a:cs typeface="Arial"/>
              </a:rPr>
              <a:t>Factory</a:t>
            </a:r>
          </a:p>
        </p:txBody>
      </p:sp>
      <p:sp>
        <p:nvSpPr>
          <p:cNvPr id="6" name="">
            <a:extLst xmlns:a="http://schemas.openxmlformats.org/drawingml/2006/main">
              <a:ext uri="{FF2B5EF4-FFF2-40B4-BE49-F238E27FC236}">
                <a16:creationId xmlns:a16="http://schemas.microsoft.com/office/drawing/2014/main" id="{B5224D56-8E58-44FA-8107-C6230346CE4B}"/>
              </a:ext>
            </a:extLst>
          </p:cNvPr>
          <p:cNvSpPr>
            <a:spLocks xmlns:a="http://schemas.openxmlformats.org/drawingml/2006/main" noGrp="1"/>
          </p:cNvSpPr>
          <p:nvPr/>
        </p:nvSpPr>
        <p:spPr>
          <a:xfrm xmlns:a="http://schemas.openxmlformats.org/drawingml/2006/main">
            <a:off x="704850" y="2305050"/>
            <a:ext cx="3286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C2933"/>
                </a:solidFill>
                <a:latin typeface="Arial"/>
                <a:ea typeface="Arial"/>
                <a:cs typeface="Arial"/>
              </a:defRPr>
            </a:pPr>
            <a:r>
              <a:rPr sz="1575" b="0">
                <a:solidFill>
                  <a:srgbClr val="1C2933"/>
                </a:solidFill>
                <a:latin typeface="Arial"/>
                <a:ea typeface="Arial"/>
                <a:cs typeface="Arial"/>
              </a:rPr>
              <a:t>EntityFactory creates validated roles and equipment.</a:t>
            </a:r>
          </a:p>
        </p:txBody>
      </p:sp>
      <p:sp>
        <p:nvSpPr>
          <p:cNvPr id="7" name="">
            <a:extLst xmlns:a="http://schemas.openxmlformats.org/drawingml/2006/main">
              <a:ext uri="{FF2B5EF4-FFF2-40B4-BE49-F238E27FC236}">
                <a16:creationId xmlns:a16="http://schemas.microsoft.com/office/drawing/2014/main" id="{585A878F-5D32-4EA9-8561-42DD82707A29}"/>
              </a:ext>
            </a:extLst>
          </p:cNvPr>
          <p:cNvSpPr>
            <a:spLocks xmlns:a="http://schemas.openxmlformats.org/drawingml/2006/main" noGrp="1"/>
          </p:cNvSpPr>
          <p:nvPr/>
        </p:nvSpPr>
        <p:spPr>
          <a:xfrm xmlns:a="http://schemas.openxmlformats.org/drawingml/2006/main">
            <a:off x="4457700" y="1809750"/>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324C"/>
                </a:solidFill>
                <a:latin typeface="Arial"/>
                <a:ea typeface="Arial"/>
                <a:cs typeface="Arial"/>
              </a:defRPr>
            </a:pPr>
            <a:r>
              <a:rPr sz="1950" b="1">
                <a:solidFill>
                  <a:srgbClr val="16324C"/>
                </a:solidFill>
                <a:latin typeface="Arial"/>
                <a:ea typeface="Arial"/>
                <a:cs typeface="Arial"/>
              </a:rPr>
              <a:t>Facade</a:t>
            </a:r>
          </a:p>
        </p:txBody>
      </p:sp>
      <p:sp>
        <p:nvSpPr>
          <p:cNvPr id="8" name="">
            <a:extLst xmlns:a="http://schemas.openxmlformats.org/drawingml/2006/main">
              <a:ext uri="{FF2B5EF4-FFF2-40B4-BE49-F238E27FC236}">
                <a16:creationId xmlns:a16="http://schemas.microsoft.com/office/drawing/2014/main" id="{BDA64C2E-D877-40B6-B6B6-D1E296184C3B}"/>
              </a:ext>
            </a:extLst>
          </p:cNvPr>
          <p:cNvSpPr>
            <a:spLocks xmlns:a="http://schemas.openxmlformats.org/drawingml/2006/main" noGrp="1"/>
          </p:cNvSpPr>
          <p:nvPr/>
        </p:nvSpPr>
        <p:spPr>
          <a:xfrm xmlns:a="http://schemas.openxmlformats.org/drawingml/2006/main">
            <a:off x="4457700" y="2305050"/>
            <a:ext cx="3286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C2933"/>
                </a:solidFill>
                <a:latin typeface="Arial"/>
                <a:ea typeface="Arial"/>
                <a:cs typeface="Arial"/>
              </a:defRPr>
            </a:pPr>
            <a:r>
              <a:rPr sz="1575" b="0">
                <a:solidFill>
                  <a:srgbClr val="1C2933"/>
                </a:solidFill>
                <a:latin typeface="Arial"/>
                <a:ea typeface="Arial"/>
                <a:cs typeface="Arial"/>
              </a:rPr>
              <a:t>IWFCFacade checks the actor and coordinates each use case.</a:t>
            </a:r>
          </a:p>
        </p:txBody>
      </p:sp>
      <p:sp>
        <p:nvSpPr>
          <p:cNvPr id="9" name="">
            <a:extLst xmlns:a="http://schemas.openxmlformats.org/drawingml/2006/main">
              <a:ext uri="{FF2B5EF4-FFF2-40B4-BE49-F238E27FC236}">
                <a16:creationId xmlns:a16="http://schemas.microsoft.com/office/drawing/2014/main" id="{E8A76095-9327-40BB-8409-303DE7BA6B85}"/>
              </a:ext>
            </a:extLst>
          </p:cNvPr>
          <p:cNvSpPr>
            <a:spLocks xmlns:a="http://schemas.openxmlformats.org/drawingml/2006/main" noGrp="1"/>
          </p:cNvSpPr>
          <p:nvPr/>
        </p:nvSpPr>
        <p:spPr>
          <a:xfrm xmlns:a="http://schemas.openxmlformats.org/drawingml/2006/main">
            <a:off x="8210550" y="18097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324C"/>
                </a:solidFill>
                <a:latin typeface="Arial"/>
                <a:ea typeface="Arial"/>
                <a:cs typeface="Arial"/>
              </a:defRPr>
            </a:pPr>
            <a:r>
              <a:rPr sz="1950" b="1">
                <a:solidFill>
                  <a:srgbClr val="16324C"/>
                </a:solidFill>
                <a:latin typeface="Arial"/>
                <a:ea typeface="Arial"/>
                <a:cs typeface="Arial"/>
              </a:rPr>
              <a:t>Observer</a:t>
            </a:r>
          </a:p>
        </p:txBody>
      </p:sp>
      <p:sp>
        <p:nvSpPr>
          <p:cNvPr id="10" name="">
            <a:extLst xmlns:a="http://schemas.openxmlformats.org/drawingml/2006/main">
              <a:ext uri="{FF2B5EF4-FFF2-40B4-BE49-F238E27FC236}">
                <a16:creationId xmlns:a16="http://schemas.microsoft.com/office/drawing/2014/main" id="{D092E42D-9304-4E4C-AEA8-AB4A40A1A3A4}"/>
              </a:ext>
            </a:extLst>
          </p:cNvPr>
          <p:cNvSpPr>
            <a:spLocks xmlns:a="http://schemas.openxmlformats.org/drawingml/2006/main" noGrp="1"/>
          </p:cNvSpPr>
          <p:nvPr/>
        </p:nvSpPr>
        <p:spPr>
          <a:xfrm xmlns:a="http://schemas.openxmlformats.org/drawingml/2006/main">
            <a:off x="8210550" y="230505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C2933"/>
                </a:solidFill>
                <a:latin typeface="Arial"/>
                <a:ea typeface="Arial"/>
                <a:cs typeface="Arial"/>
              </a:defRPr>
            </a:pPr>
            <a:r>
              <a:rPr sz="1575" b="0">
                <a:solidFill>
                  <a:srgbClr val="1C2933"/>
                </a:solidFill>
                <a:latin typeface="Arial"/>
                <a:ea typeface="Arial"/>
                <a:cs typeface="Arial"/>
              </a:rPr>
              <a:t>MaintenanceService routes relevant events to active users.</a:t>
            </a:r>
          </a:p>
        </p:txBody>
      </p:sp>
      <p:sp>
        <p:nvSpPr>
          <p:cNvPr id="11" name="">
            <a:extLst xmlns:a="http://schemas.openxmlformats.org/drawingml/2006/main">
              <a:ext uri="{FF2B5EF4-FFF2-40B4-BE49-F238E27FC236}">
                <a16:creationId xmlns:a16="http://schemas.microsoft.com/office/drawing/2014/main" id="{A33ACFA5-1523-41CF-87C0-D1107E17CB13}"/>
              </a:ext>
            </a:extLst>
          </p:cNvPr>
          <p:cNvSpPr>
            <a:spLocks xmlns:a="http://schemas.openxmlformats.org/drawingml/2006/main" noGrp="1"/>
          </p:cNvSpPr>
          <p:nvPr/>
        </p:nvSpPr>
        <p:spPr>
          <a:xfrm xmlns:a="http://schemas.openxmlformats.org/drawingml/2006/main">
            <a:off x="704850" y="4429125"/>
            <a:ext cx="10725150" cy="0"/>
          </a:xfrm>
          <a:prstGeom xmlns:a="http://schemas.openxmlformats.org/drawingml/2006/main" prst="line">
            <a:avLst/>
          </a:prstGeom>
          <a:noFill xmlns:a="http://schemas.openxmlformats.org/drawingml/2006/main"/>
          <a:ln xmlns:a="http://schemas.openxmlformats.org/drawingml/2006/main" w="19050">
            <a:solidFill>
              <a:srgbClr val="C7D5DE"/>
            </a:solidFill>
          </a:ln>
        </p:spPr>
      </p:sp>
      <p:sp>
        <p:nvSpPr>
          <p:cNvPr id="12" name="">
            <a:extLst xmlns:a="http://schemas.openxmlformats.org/drawingml/2006/main">
              <a:ext uri="{FF2B5EF4-FFF2-40B4-BE49-F238E27FC236}">
                <a16:creationId xmlns:a16="http://schemas.microsoft.com/office/drawing/2014/main" id="{374F2BBF-D7F7-4D44-A44A-EC0D72DEA5F9}"/>
              </a:ext>
            </a:extLst>
          </p:cNvPr>
          <p:cNvSpPr>
            <a:spLocks xmlns:a="http://schemas.openxmlformats.org/drawingml/2006/main" noGrp="1"/>
          </p:cNvSpPr>
          <p:nvPr/>
        </p:nvSpPr>
        <p:spPr>
          <a:xfrm xmlns:a="http://schemas.openxmlformats.org/drawingml/2006/main">
            <a:off x="704850" y="47815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324C"/>
                </a:solidFill>
                <a:latin typeface="Arial"/>
                <a:ea typeface="Arial"/>
                <a:cs typeface="Arial"/>
              </a:defRPr>
            </a:pPr>
            <a:r>
              <a:rPr sz="1725" b="1">
                <a:solidFill>
                  <a:srgbClr val="16324C"/>
                </a:solidFill>
                <a:latin typeface="Arial"/>
                <a:ea typeface="Arial"/>
                <a:cs typeface="Arial"/>
              </a:rPr>
              <a:t>Example: fault reported  →  active Administrators notified  →  assignment  →  reporting Instructor notified</a:t>
            </a:r>
          </a:p>
        </p:txBody>
      </p:sp>
    </p:spTree>
    <p:extLst>
      <p:ext uri="{BB962C8B-B14F-4D97-AF65-F5344CB8AC3E}">
        <p14:creationId xmlns:p14="http://schemas.microsoft.com/office/powerpoint/2010/main" val="144634890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3D74A78-A7EF-4F75-8376-B2C9AE138082}"/>
              </a:ext>
            </a:extLst>
          </p:cNvPr>
          <p:cNvSpPr>
            <a:spLocks xmlns:a="http://schemas.openxmlformats.org/drawingml/2006/main" noGrp="1"/>
          </p:cNvSpPr>
          <p:nvPr/>
        </p:nvSpPr>
        <p:spPr>
          <a:xfrm xmlns:a="http://schemas.openxmlformats.org/drawingml/2006/main">
            <a:off x="609600" y="4191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C"/>
                </a:solidFill>
                <a:latin typeface="Arial"/>
                <a:ea typeface="Arial"/>
                <a:cs typeface="Arial"/>
              </a:defRPr>
            </a:pPr>
            <a:r>
              <a:rPr sz="2700" b="1">
                <a:solidFill>
                  <a:srgbClr val="16324C"/>
                </a:solidFill>
                <a:latin typeface="Arial"/>
                <a:ea typeface="Arial"/>
                <a:cs typeface="Arial"/>
              </a:rPr>
              <a:t>Object-oriented design choices</a:t>
            </a:r>
          </a:p>
        </p:txBody>
      </p:sp>
      <p:sp>
        <p:nvSpPr>
          <p:cNvPr id="2" name="">
            <a:extLst xmlns:a="http://schemas.openxmlformats.org/drawingml/2006/main">
              <a:ext uri="{FF2B5EF4-FFF2-40B4-BE49-F238E27FC236}">
                <a16:creationId xmlns:a16="http://schemas.microsoft.com/office/drawing/2014/main" id="{F7C00A6F-6D0B-4952-9045-357AB338E49F}"/>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38100">
            <a:solidFill>
              <a:srgbClr val="167D86"/>
            </a:solidFill>
          </a:ln>
        </p:spPr>
      </p:sp>
      <p:sp>
        <p:nvSpPr>
          <p:cNvPr id="3" name="">
            <a:extLst xmlns:a="http://schemas.openxmlformats.org/drawingml/2006/main">
              <a:ext uri="{FF2B5EF4-FFF2-40B4-BE49-F238E27FC236}">
                <a16:creationId xmlns:a16="http://schemas.microsoft.com/office/drawing/2014/main" id="{AF5A5257-437C-4324-A778-7AF193D3BB93}"/>
              </a:ext>
            </a:extLst>
          </p:cNvPr>
          <p:cNvSpPr>
            <a:spLocks xmlns:a="http://schemas.openxmlformats.org/drawingml/2006/main" noGrp="1"/>
          </p:cNvSpPr>
          <p:nvPr/>
        </p:nvSpPr>
        <p:spPr>
          <a:xfrm xmlns:a="http://schemas.openxmlformats.org/drawingml/2006/main">
            <a:off x="609600" y="64484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F6C76"/>
                </a:solidFill>
                <a:latin typeface="Arial"/>
                <a:ea typeface="Arial"/>
                <a:cs typeface="Arial"/>
              </a:defRPr>
            </a:pPr>
            <a:r>
              <a:rPr sz="975" b="0">
                <a:solidFill>
                  <a:srgbClr val="5F6C76"/>
                </a:solidFill>
                <a:latin typeface="Arial"/>
                <a:ea typeface="Arial"/>
                <a:cs typeface="Arial"/>
              </a:rPr>
              <a:t>IWFC  /  CMP 7001 PRES1</a:t>
            </a:r>
          </a:p>
        </p:txBody>
      </p:sp>
      <p:sp>
        <p:nvSpPr>
          <p:cNvPr id="4" name="">
            <a:extLst xmlns:a="http://schemas.openxmlformats.org/drawingml/2006/main">
              <a:ext uri="{FF2B5EF4-FFF2-40B4-BE49-F238E27FC236}">
                <a16:creationId xmlns:a16="http://schemas.microsoft.com/office/drawing/2014/main" id="{F460C380-59D0-4C4C-8D68-5924D60023AB}"/>
              </a:ext>
            </a:extLst>
          </p:cNvPr>
          <p:cNvSpPr>
            <a:spLocks xmlns:a="http://schemas.openxmlformats.org/drawingml/2006/main" noGrp="1"/>
          </p:cNvSpPr>
          <p:nvPr/>
        </p:nvSpPr>
        <p:spPr>
          <a:xfrm xmlns:a="http://schemas.openxmlformats.org/drawingml/2006/main">
            <a:off x="11068050" y="642937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5F6C76"/>
                </a:solidFill>
                <a:latin typeface="Arial"/>
                <a:ea typeface="Arial"/>
                <a:cs typeface="Arial"/>
              </a:defRPr>
            </a:pPr>
            <a:r>
              <a:rPr sz="975" b="1">
                <a:solidFill>
                  <a:srgbClr val="5F6C76"/>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C49FCFE9-D3D2-42BE-98A1-671D77BAD24D}"/>
              </a:ext>
            </a:extLst>
          </p:cNvPr>
          <p:cNvSpPr>
            <a:spLocks xmlns:a="http://schemas.openxmlformats.org/drawingml/2006/main" noGrp="1"/>
          </p:cNvSpPr>
          <p:nvPr/>
        </p:nvSpPr>
        <p:spPr>
          <a:xfrm xmlns:a="http://schemas.openxmlformats.org/drawingml/2006/main">
            <a:off x="714375" y="16764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7D86"/>
                </a:solidFill>
                <a:latin typeface="Arial"/>
                <a:ea typeface="Arial"/>
                <a:cs typeface="Arial"/>
              </a:defRPr>
            </a:pPr>
            <a:r>
              <a:rPr sz="1200" b="1">
                <a:solidFill>
                  <a:srgbClr val="167D86"/>
                </a:solidFill>
                <a:latin typeface="Arial"/>
                <a:ea typeface="Arial"/>
                <a:cs typeface="Arial"/>
              </a:rPr>
              <a:t>ABSTRACTION AND POLYMORPHISM</a:t>
            </a:r>
          </a:p>
        </p:txBody>
      </p:sp>
      <p:sp>
        <p:nvSpPr>
          <p:cNvPr id="6" name="">
            <a:extLst xmlns:a="http://schemas.openxmlformats.org/drawingml/2006/main">
              <a:ext uri="{FF2B5EF4-FFF2-40B4-BE49-F238E27FC236}">
                <a16:creationId xmlns:a16="http://schemas.microsoft.com/office/drawing/2014/main" id="{01C9664C-8246-4DC6-A94D-FE9B03692C7C}"/>
              </a:ext>
            </a:extLst>
          </p:cNvPr>
          <p:cNvSpPr>
            <a:spLocks xmlns:a="http://schemas.openxmlformats.org/drawingml/2006/main" noGrp="1"/>
          </p:cNvSpPr>
          <p:nvPr/>
        </p:nvSpPr>
        <p:spPr>
          <a:xfrm xmlns:a="http://schemas.openxmlformats.org/drawingml/2006/main">
            <a:off x="714375" y="20193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324C"/>
                </a:solidFill>
                <a:latin typeface="Arial"/>
                <a:ea typeface="Arial"/>
                <a:cs typeface="Arial"/>
              </a:defRPr>
            </a:pPr>
            <a:r>
              <a:rPr sz="2250" b="1">
                <a:solidFill>
                  <a:srgbClr val="16324C"/>
                </a:solidFill>
                <a:latin typeface="Arial"/>
                <a:ea typeface="Arial"/>
                <a:cs typeface="Arial"/>
              </a:rPr>
              <a:t>User  →  Administrator / Instructor / Member</a:t>
            </a:r>
          </a:p>
        </p:txBody>
      </p:sp>
      <p:sp>
        <p:nvSpPr>
          <p:cNvPr id="7" name="">
            <a:extLst xmlns:a="http://schemas.openxmlformats.org/drawingml/2006/main">
              <a:ext uri="{FF2B5EF4-FFF2-40B4-BE49-F238E27FC236}">
                <a16:creationId xmlns:a16="http://schemas.microsoft.com/office/drawing/2014/main" id="{2BF840E2-CA33-42BB-BFB6-774ED862C801}"/>
              </a:ext>
            </a:extLst>
          </p:cNvPr>
          <p:cNvSpPr>
            <a:spLocks xmlns:a="http://schemas.openxmlformats.org/drawingml/2006/main" noGrp="1"/>
          </p:cNvSpPr>
          <p:nvPr/>
        </p:nvSpPr>
        <p:spPr>
          <a:xfrm xmlns:a="http://schemas.openxmlformats.org/drawingml/2006/main">
            <a:off x="714375" y="2952750"/>
            <a:ext cx="10525125" cy="0"/>
          </a:xfrm>
          <a:prstGeom xmlns:a="http://schemas.openxmlformats.org/drawingml/2006/main" prst="line">
            <a:avLst/>
          </a:prstGeom>
          <a:noFill xmlns:a="http://schemas.openxmlformats.org/drawingml/2006/main"/>
          <a:ln xmlns:a="http://schemas.openxmlformats.org/drawingml/2006/main" w="19050">
            <a:solidFill>
              <a:srgbClr val="C7D5DE"/>
            </a:solidFill>
          </a:ln>
        </p:spPr>
      </p:sp>
      <p:sp>
        <p:nvSpPr>
          <p:cNvPr id="8" name="">
            <a:extLst xmlns:a="http://schemas.openxmlformats.org/drawingml/2006/main">
              <a:ext uri="{FF2B5EF4-FFF2-40B4-BE49-F238E27FC236}">
                <a16:creationId xmlns:a16="http://schemas.microsoft.com/office/drawing/2014/main" id="{755E6AD1-4B5C-4DDB-80A4-98F74238C603}"/>
              </a:ext>
            </a:extLst>
          </p:cNvPr>
          <p:cNvSpPr>
            <a:spLocks xmlns:a="http://schemas.openxmlformats.org/drawingml/2006/main" noGrp="1"/>
          </p:cNvSpPr>
          <p:nvPr/>
        </p:nvSpPr>
        <p:spPr>
          <a:xfrm xmlns:a="http://schemas.openxmlformats.org/drawingml/2006/main">
            <a:off x="714375" y="332422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7D86"/>
                </a:solidFill>
                <a:latin typeface="Arial"/>
                <a:ea typeface="Arial"/>
                <a:cs typeface="Arial"/>
              </a:defRPr>
            </a:pPr>
            <a:r>
              <a:rPr sz="1200" b="1">
                <a:solidFill>
                  <a:srgbClr val="167D86"/>
                </a:solidFill>
                <a:latin typeface="Arial"/>
                <a:ea typeface="Arial"/>
                <a:cs typeface="Arial"/>
              </a:rPr>
              <a:t>GENERICS AND COLLECTIONS</a:t>
            </a:r>
          </a:p>
        </p:txBody>
      </p:sp>
      <p:sp>
        <p:nvSpPr>
          <p:cNvPr id="9" name="">
            <a:extLst xmlns:a="http://schemas.openxmlformats.org/drawingml/2006/main">
              <a:ext uri="{FF2B5EF4-FFF2-40B4-BE49-F238E27FC236}">
                <a16:creationId xmlns:a16="http://schemas.microsoft.com/office/drawing/2014/main" id="{98AF8602-684E-4AB1-885F-F44A42489013}"/>
              </a:ext>
            </a:extLst>
          </p:cNvPr>
          <p:cNvSpPr>
            <a:spLocks xmlns:a="http://schemas.openxmlformats.org/drawingml/2006/main" noGrp="1"/>
          </p:cNvSpPr>
          <p:nvPr/>
        </p:nvSpPr>
        <p:spPr>
          <a:xfrm xmlns:a="http://schemas.openxmlformats.org/drawingml/2006/main">
            <a:off x="714375" y="37147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2933"/>
                </a:solidFill>
                <a:latin typeface="Arial"/>
                <a:ea typeface="Arial"/>
                <a:cs typeface="Arial"/>
              </a:defRPr>
            </a:pPr>
            <a:r>
              <a:rPr sz="1800" b="0">
                <a:solidFill>
                  <a:srgbClr val="1C2933"/>
                </a:solidFill>
                <a:latin typeface="Arial"/>
                <a:ea typeface="Arial"/>
                <a:cs typeface="Arial"/>
              </a:rPr>
              <a:t>GenericRepository&lt;T&gt; serves User, Equipment, FitnessSession and MaintenanceRequest.</a:t>
            </a:r>
          </a:p>
        </p:txBody>
      </p:sp>
      <p:sp>
        <p:nvSpPr>
          <p:cNvPr id="10" name="">
            <a:extLst xmlns:a="http://schemas.openxmlformats.org/drawingml/2006/main">
              <a:ext uri="{FF2B5EF4-FFF2-40B4-BE49-F238E27FC236}">
                <a16:creationId xmlns:a16="http://schemas.microsoft.com/office/drawing/2014/main" id="{06C93DDC-4E3B-4245-93F3-E792BF8573C7}"/>
              </a:ext>
            </a:extLst>
          </p:cNvPr>
          <p:cNvSpPr>
            <a:spLocks xmlns:a="http://schemas.openxmlformats.org/drawingml/2006/main" noGrp="1"/>
          </p:cNvSpPr>
          <p:nvPr/>
        </p:nvSpPr>
        <p:spPr>
          <a:xfrm xmlns:a="http://schemas.openxmlformats.org/drawingml/2006/main">
            <a:off x="714375" y="4705350"/>
            <a:ext cx="1047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324C"/>
                </a:solidFill>
                <a:latin typeface="Arial"/>
                <a:ea typeface="Arial"/>
                <a:cs typeface="Arial"/>
              </a:defRPr>
            </a:pPr>
            <a:r>
              <a:rPr sz="1875" b="1">
                <a:solidFill>
                  <a:srgbClr val="16324C"/>
                </a:solidFill>
                <a:latin typeface="Arial"/>
                <a:ea typeface="Arial"/>
                <a:cs typeface="Arial"/>
              </a:rPr>
              <a:t>Map: lookup     Set: uniqueness     List: ordered views</a:t>
            </a:r>
          </a:p>
        </p:txBody>
      </p:sp>
      <p:sp>
        <p:nvSpPr>
          <p:cNvPr id="11" name="">
            <a:extLst xmlns:a="http://schemas.openxmlformats.org/drawingml/2006/main">
              <a:ext uri="{FF2B5EF4-FFF2-40B4-BE49-F238E27FC236}">
                <a16:creationId xmlns:a16="http://schemas.microsoft.com/office/drawing/2014/main" id="{7126E554-53B4-42CC-82CB-1029D0DFFD87}"/>
              </a:ext>
            </a:extLst>
          </p:cNvPr>
          <p:cNvSpPr>
            <a:spLocks xmlns:a="http://schemas.openxmlformats.org/drawingml/2006/main" noGrp="1"/>
          </p:cNvSpPr>
          <p:nvPr/>
        </p:nvSpPr>
        <p:spPr>
          <a:xfrm xmlns:a="http://schemas.openxmlformats.org/drawingml/2006/main">
            <a:off x="714375" y="5524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F6C76"/>
                </a:solidFill>
                <a:latin typeface="Arial"/>
                <a:ea typeface="Arial"/>
                <a:cs typeface="Arial"/>
              </a:defRPr>
            </a:pPr>
            <a:r>
              <a:rPr sz="1575" b="0">
                <a:solidFill>
                  <a:srgbClr val="5F6C76"/>
                </a:solidFill>
                <a:latin typeface="Arial"/>
                <a:ea typeface="Arial"/>
                <a:cs typeface="Arial"/>
              </a:rPr>
              <a:t>Private fields and guarded methods protect entity state.</a:t>
            </a:r>
          </a:p>
        </p:txBody>
      </p:sp>
    </p:spTree>
    <p:extLst>
      <p:ext uri="{BB962C8B-B14F-4D97-AF65-F5344CB8AC3E}">
        <p14:creationId xmlns:p14="http://schemas.microsoft.com/office/powerpoint/2010/main" val="180748826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C260892-1E59-45E0-9ED4-0259F9428489}"/>
              </a:ext>
            </a:extLst>
          </p:cNvPr>
          <p:cNvSpPr>
            <a:spLocks xmlns:a="http://schemas.openxmlformats.org/drawingml/2006/main" noGrp="1"/>
          </p:cNvSpPr>
          <p:nvPr/>
        </p:nvSpPr>
        <p:spPr>
          <a:xfrm xmlns:a="http://schemas.openxmlformats.org/drawingml/2006/main">
            <a:off x="609600" y="4191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C"/>
                </a:solidFill>
                <a:latin typeface="Arial"/>
                <a:ea typeface="Arial"/>
                <a:cs typeface="Arial"/>
              </a:defRPr>
            </a:pPr>
            <a:r>
              <a:rPr sz="2700" b="1">
                <a:solidFill>
                  <a:srgbClr val="16324C"/>
                </a:solidFill>
                <a:latin typeface="Arial"/>
                <a:ea typeface="Arial"/>
                <a:cs typeface="Arial"/>
              </a:rPr>
              <a:t>Validation and exception paths</a:t>
            </a:r>
          </a:p>
        </p:txBody>
      </p:sp>
      <p:sp>
        <p:nvSpPr>
          <p:cNvPr id="2" name="">
            <a:extLst xmlns:a="http://schemas.openxmlformats.org/drawingml/2006/main">
              <a:ext uri="{FF2B5EF4-FFF2-40B4-BE49-F238E27FC236}">
                <a16:creationId xmlns:a16="http://schemas.microsoft.com/office/drawing/2014/main" id="{9F4B2A3C-7409-4FCD-A695-1C226EF6EB84}"/>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38100">
            <a:solidFill>
              <a:srgbClr val="167D86"/>
            </a:solidFill>
          </a:ln>
        </p:spPr>
      </p:sp>
      <p:sp>
        <p:nvSpPr>
          <p:cNvPr id="3" name="">
            <a:extLst xmlns:a="http://schemas.openxmlformats.org/drawingml/2006/main">
              <a:ext uri="{FF2B5EF4-FFF2-40B4-BE49-F238E27FC236}">
                <a16:creationId xmlns:a16="http://schemas.microsoft.com/office/drawing/2014/main" id="{D3F95D60-3724-4005-B71C-58D1F23CF300}"/>
              </a:ext>
            </a:extLst>
          </p:cNvPr>
          <p:cNvSpPr>
            <a:spLocks xmlns:a="http://schemas.openxmlformats.org/drawingml/2006/main" noGrp="1"/>
          </p:cNvSpPr>
          <p:nvPr/>
        </p:nvSpPr>
        <p:spPr>
          <a:xfrm xmlns:a="http://schemas.openxmlformats.org/drawingml/2006/main">
            <a:off x="609600" y="64484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F6C76"/>
                </a:solidFill>
                <a:latin typeface="Arial"/>
                <a:ea typeface="Arial"/>
                <a:cs typeface="Arial"/>
              </a:defRPr>
            </a:pPr>
            <a:r>
              <a:rPr sz="975" b="0">
                <a:solidFill>
                  <a:srgbClr val="5F6C76"/>
                </a:solidFill>
                <a:latin typeface="Arial"/>
                <a:ea typeface="Arial"/>
                <a:cs typeface="Arial"/>
              </a:rPr>
              <a:t>IWFC  /  CMP 7001 PRES1</a:t>
            </a:r>
          </a:p>
        </p:txBody>
      </p:sp>
      <p:sp>
        <p:nvSpPr>
          <p:cNvPr id="4" name="">
            <a:extLst xmlns:a="http://schemas.openxmlformats.org/drawingml/2006/main">
              <a:ext uri="{FF2B5EF4-FFF2-40B4-BE49-F238E27FC236}">
                <a16:creationId xmlns:a16="http://schemas.microsoft.com/office/drawing/2014/main" id="{F92645BB-A143-4540-833B-E7A2F8647B3D}"/>
              </a:ext>
            </a:extLst>
          </p:cNvPr>
          <p:cNvSpPr>
            <a:spLocks xmlns:a="http://schemas.openxmlformats.org/drawingml/2006/main" noGrp="1"/>
          </p:cNvSpPr>
          <p:nvPr/>
        </p:nvSpPr>
        <p:spPr>
          <a:xfrm xmlns:a="http://schemas.openxmlformats.org/drawingml/2006/main">
            <a:off x="11068050" y="642937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5F6C76"/>
                </a:solidFill>
                <a:latin typeface="Arial"/>
                <a:ea typeface="Arial"/>
                <a:cs typeface="Arial"/>
              </a:defRPr>
            </a:pPr>
            <a:r>
              <a:rPr sz="975" b="1">
                <a:solidFill>
                  <a:srgbClr val="5F6C76"/>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DE7BF776-3758-41A7-8722-80D87F48D586}"/>
              </a:ext>
            </a:extLst>
          </p:cNvPr>
          <p:cNvSpPr>
            <a:spLocks xmlns:a="http://schemas.openxmlformats.org/drawingml/2006/main" noGrp="1"/>
          </p:cNvSpPr>
          <p:nvPr/>
        </p:nvSpPr>
        <p:spPr>
          <a:xfrm xmlns:a="http://schemas.openxmlformats.org/drawingml/2006/main">
            <a:off x="714375" y="1666875"/>
            <a:ext cx="3905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324C"/>
                </a:solidFill>
                <a:latin typeface="Arial"/>
                <a:ea typeface="Arial"/>
                <a:cs typeface="Arial"/>
              </a:defRPr>
            </a:pPr>
            <a:r>
              <a:rPr sz="1725" b="1">
                <a:solidFill>
                  <a:srgbClr val="16324C"/>
                </a:solidFill>
                <a:latin typeface="Arial"/>
                <a:ea typeface="Arial"/>
                <a:cs typeface="Arial"/>
              </a:rPr>
              <a:t>InvalidBookingException</a:t>
            </a:r>
          </a:p>
        </p:txBody>
      </p:sp>
      <p:sp>
        <p:nvSpPr>
          <p:cNvPr id="6" name="">
            <a:extLst xmlns:a="http://schemas.openxmlformats.org/drawingml/2006/main">
              <a:ext uri="{FF2B5EF4-FFF2-40B4-BE49-F238E27FC236}">
                <a16:creationId xmlns:a16="http://schemas.microsoft.com/office/drawing/2014/main" id="{120DC3B5-BD3A-48E7-A5BE-092E5DC3BFCE}"/>
              </a:ext>
            </a:extLst>
          </p:cNvPr>
          <p:cNvSpPr>
            <a:spLocks xmlns:a="http://schemas.openxmlformats.org/drawingml/2006/main" noGrp="1"/>
          </p:cNvSpPr>
          <p:nvPr/>
        </p:nvSpPr>
        <p:spPr>
          <a:xfrm xmlns:a="http://schemas.openxmlformats.org/drawingml/2006/main">
            <a:off x="4705350" y="1666875"/>
            <a:ext cx="666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C2933"/>
                </a:solidFill>
                <a:latin typeface="Arial"/>
                <a:ea typeface="Arial"/>
                <a:cs typeface="Arial"/>
              </a:defRPr>
            </a:pPr>
            <a:r>
              <a:rPr sz="1575" b="0">
                <a:solidFill>
                  <a:srgbClr val="1C2933"/>
                </a:solidFill>
                <a:latin typeface="Arial"/>
                <a:ea typeface="Arial"/>
                <a:cs typeface="Arial"/>
              </a:rPr>
              <a:t>Hours, conflicts, unavailable equipment, full or repeat booking</a:t>
            </a:r>
          </a:p>
        </p:txBody>
      </p:sp>
      <p:sp>
        <p:nvSpPr>
          <p:cNvPr id="7" name="">
            <a:extLst xmlns:a="http://schemas.openxmlformats.org/drawingml/2006/main">
              <a:ext uri="{FF2B5EF4-FFF2-40B4-BE49-F238E27FC236}">
                <a16:creationId xmlns:a16="http://schemas.microsoft.com/office/drawing/2014/main" id="{F63AD4BC-64BC-4D51-A07F-EB784CA67E11}"/>
              </a:ext>
            </a:extLst>
          </p:cNvPr>
          <p:cNvSpPr>
            <a:spLocks xmlns:a="http://schemas.openxmlformats.org/drawingml/2006/main" noGrp="1"/>
          </p:cNvSpPr>
          <p:nvPr/>
        </p:nvSpPr>
        <p:spPr>
          <a:xfrm xmlns:a="http://schemas.openxmlformats.org/drawingml/2006/main">
            <a:off x="714375" y="2438400"/>
            <a:ext cx="10668000" cy="0"/>
          </a:xfrm>
          <a:prstGeom xmlns:a="http://schemas.openxmlformats.org/drawingml/2006/main" prst="line">
            <a:avLst/>
          </a:prstGeom>
          <a:noFill xmlns:a="http://schemas.openxmlformats.org/drawingml/2006/main"/>
          <a:ln xmlns:a="http://schemas.openxmlformats.org/drawingml/2006/main" w="9525">
            <a:solidFill>
              <a:srgbClr val="C7D5DE"/>
            </a:solidFill>
          </a:ln>
        </p:spPr>
      </p:sp>
      <p:sp>
        <p:nvSpPr>
          <p:cNvPr id="8" name="">
            <a:extLst xmlns:a="http://schemas.openxmlformats.org/drawingml/2006/main">
              <a:ext uri="{FF2B5EF4-FFF2-40B4-BE49-F238E27FC236}">
                <a16:creationId xmlns:a16="http://schemas.microsoft.com/office/drawing/2014/main" id="{C47BB15F-7FFC-4B95-9AD6-ED15FEA78BD2}"/>
              </a:ext>
            </a:extLst>
          </p:cNvPr>
          <p:cNvSpPr>
            <a:spLocks xmlns:a="http://schemas.openxmlformats.org/drawingml/2006/main" noGrp="1"/>
          </p:cNvSpPr>
          <p:nvPr/>
        </p:nvSpPr>
        <p:spPr>
          <a:xfrm xmlns:a="http://schemas.openxmlformats.org/drawingml/2006/main">
            <a:off x="714375" y="2724150"/>
            <a:ext cx="3905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324C"/>
                </a:solidFill>
                <a:latin typeface="Arial"/>
                <a:ea typeface="Arial"/>
                <a:cs typeface="Arial"/>
              </a:defRPr>
            </a:pPr>
            <a:r>
              <a:rPr sz="1725" b="1">
                <a:solidFill>
                  <a:srgbClr val="16324C"/>
                </a:solidFill>
                <a:latin typeface="Arial"/>
                <a:ea typeface="Arial"/>
                <a:cs typeface="Arial"/>
              </a:rPr>
              <a:t>UnauthorizedAccessException</a:t>
            </a:r>
          </a:p>
        </p:txBody>
      </p:sp>
      <p:sp>
        <p:nvSpPr>
          <p:cNvPr id="9" name="">
            <a:extLst xmlns:a="http://schemas.openxmlformats.org/drawingml/2006/main">
              <a:ext uri="{FF2B5EF4-FFF2-40B4-BE49-F238E27FC236}">
                <a16:creationId xmlns:a16="http://schemas.microsoft.com/office/drawing/2014/main" id="{862A3DCC-5275-473A-AFB1-0CF1AE0C1BD2}"/>
              </a:ext>
            </a:extLst>
          </p:cNvPr>
          <p:cNvSpPr>
            <a:spLocks xmlns:a="http://schemas.openxmlformats.org/drawingml/2006/main" noGrp="1"/>
          </p:cNvSpPr>
          <p:nvPr/>
        </p:nvSpPr>
        <p:spPr>
          <a:xfrm xmlns:a="http://schemas.openxmlformats.org/drawingml/2006/main">
            <a:off x="4705350" y="2724150"/>
            <a:ext cx="666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C2933"/>
                </a:solidFill>
                <a:latin typeface="Arial"/>
                <a:ea typeface="Arial"/>
                <a:cs typeface="Arial"/>
              </a:defRPr>
            </a:pPr>
            <a:r>
              <a:rPr sz="1575" b="0">
                <a:solidFill>
                  <a:srgbClr val="1C2933"/>
                </a:solidFill>
                <a:latin typeface="Arial"/>
                <a:ea typeface="Arial"/>
                <a:cs typeface="Arial"/>
              </a:rPr>
              <a:t>Wrong role, inactive or unregistered actor</a:t>
            </a:r>
          </a:p>
        </p:txBody>
      </p:sp>
      <p:sp>
        <p:nvSpPr>
          <p:cNvPr id="10" name="">
            <a:extLst xmlns:a="http://schemas.openxmlformats.org/drawingml/2006/main">
              <a:ext uri="{FF2B5EF4-FFF2-40B4-BE49-F238E27FC236}">
                <a16:creationId xmlns:a16="http://schemas.microsoft.com/office/drawing/2014/main" id="{C01E6B73-025C-453E-BBBC-32F4E3051F6D}"/>
              </a:ext>
            </a:extLst>
          </p:cNvPr>
          <p:cNvSpPr>
            <a:spLocks xmlns:a="http://schemas.openxmlformats.org/drawingml/2006/main" noGrp="1"/>
          </p:cNvSpPr>
          <p:nvPr/>
        </p:nvSpPr>
        <p:spPr>
          <a:xfrm xmlns:a="http://schemas.openxmlformats.org/drawingml/2006/main">
            <a:off x="714375" y="3495675"/>
            <a:ext cx="10668000" cy="0"/>
          </a:xfrm>
          <a:prstGeom xmlns:a="http://schemas.openxmlformats.org/drawingml/2006/main" prst="line">
            <a:avLst/>
          </a:prstGeom>
          <a:noFill xmlns:a="http://schemas.openxmlformats.org/drawingml/2006/main"/>
          <a:ln xmlns:a="http://schemas.openxmlformats.org/drawingml/2006/main" w="9525">
            <a:solidFill>
              <a:srgbClr val="C7D5DE"/>
            </a:solidFill>
          </a:ln>
        </p:spPr>
      </p:sp>
      <p:sp>
        <p:nvSpPr>
          <p:cNvPr id="11" name="">
            <a:extLst xmlns:a="http://schemas.openxmlformats.org/drawingml/2006/main">
              <a:ext uri="{FF2B5EF4-FFF2-40B4-BE49-F238E27FC236}">
                <a16:creationId xmlns:a16="http://schemas.microsoft.com/office/drawing/2014/main" id="{F3EDB591-32B9-44D7-A39B-E7773C381017}"/>
              </a:ext>
            </a:extLst>
          </p:cNvPr>
          <p:cNvSpPr>
            <a:spLocks xmlns:a="http://schemas.openxmlformats.org/drawingml/2006/main" noGrp="1"/>
          </p:cNvSpPr>
          <p:nvPr/>
        </p:nvSpPr>
        <p:spPr>
          <a:xfrm xmlns:a="http://schemas.openxmlformats.org/drawingml/2006/main">
            <a:off x="714375" y="3781425"/>
            <a:ext cx="3905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324C"/>
                </a:solidFill>
                <a:latin typeface="Arial"/>
                <a:ea typeface="Arial"/>
                <a:cs typeface="Arial"/>
              </a:defRPr>
            </a:pPr>
            <a:r>
              <a:rPr sz="1725" b="1">
                <a:solidFill>
                  <a:srgbClr val="16324C"/>
                </a:solidFill>
                <a:latin typeface="Arial"/>
                <a:ea typeface="Arial"/>
                <a:cs typeface="Arial"/>
              </a:rPr>
              <a:t>DuplicateDataException</a:t>
            </a:r>
          </a:p>
        </p:txBody>
      </p:sp>
      <p:sp>
        <p:nvSpPr>
          <p:cNvPr id="12" name="">
            <a:extLst xmlns:a="http://schemas.openxmlformats.org/drawingml/2006/main">
              <a:ext uri="{FF2B5EF4-FFF2-40B4-BE49-F238E27FC236}">
                <a16:creationId xmlns:a16="http://schemas.microsoft.com/office/drawing/2014/main" id="{39C3BE96-26F9-45F7-9ACC-30744A8C1458}"/>
              </a:ext>
            </a:extLst>
          </p:cNvPr>
          <p:cNvSpPr>
            <a:spLocks xmlns:a="http://schemas.openxmlformats.org/drawingml/2006/main" noGrp="1"/>
          </p:cNvSpPr>
          <p:nvPr/>
        </p:nvSpPr>
        <p:spPr>
          <a:xfrm xmlns:a="http://schemas.openxmlformats.org/drawingml/2006/main">
            <a:off x="4705350" y="3781425"/>
            <a:ext cx="666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C2933"/>
                </a:solidFill>
                <a:latin typeface="Arial"/>
                <a:ea typeface="Arial"/>
                <a:cs typeface="Arial"/>
              </a:defRPr>
            </a:pPr>
            <a:r>
              <a:rPr sz="1575" b="0">
                <a:solidFill>
                  <a:srgbClr val="1C2933"/>
                </a:solidFill>
                <a:latin typeface="Arial"/>
                <a:ea typeface="Arial"/>
                <a:cs typeface="Arial"/>
              </a:rPr>
              <a:t>Repeated user, equipment, session or maintenance ID</a:t>
            </a:r>
          </a:p>
        </p:txBody>
      </p:sp>
      <p:sp>
        <p:nvSpPr>
          <p:cNvPr id="13" name="">
            <a:extLst xmlns:a="http://schemas.openxmlformats.org/drawingml/2006/main">
              <a:ext uri="{FF2B5EF4-FFF2-40B4-BE49-F238E27FC236}">
                <a16:creationId xmlns:a16="http://schemas.microsoft.com/office/drawing/2014/main" id="{8FDFB02F-47E3-4D6B-BE07-C48C44A027FE}"/>
              </a:ext>
            </a:extLst>
          </p:cNvPr>
          <p:cNvSpPr>
            <a:spLocks xmlns:a="http://schemas.openxmlformats.org/drawingml/2006/main" noGrp="1"/>
          </p:cNvSpPr>
          <p:nvPr/>
        </p:nvSpPr>
        <p:spPr>
          <a:xfrm xmlns:a="http://schemas.openxmlformats.org/drawingml/2006/main">
            <a:off x="714375" y="4552950"/>
            <a:ext cx="10668000" cy="0"/>
          </a:xfrm>
          <a:prstGeom xmlns:a="http://schemas.openxmlformats.org/drawingml/2006/main" prst="line">
            <a:avLst/>
          </a:prstGeom>
          <a:noFill xmlns:a="http://schemas.openxmlformats.org/drawingml/2006/main"/>
          <a:ln xmlns:a="http://schemas.openxmlformats.org/drawingml/2006/main" w="9525">
            <a:solidFill>
              <a:srgbClr val="C7D5DE"/>
            </a:solidFill>
          </a:ln>
        </p:spPr>
      </p:sp>
      <p:sp>
        <p:nvSpPr>
          <p:cNvPr id="14" name="">
            <a:extLst xmlns:a="http://schemas.openxmlformats.org/drawingml/2006/main">
              <a:ext uri="{FF2B5EF4-FFF2-40B4-BE49-F238E27FC236}">
                <a16:creationId xmlns:a16="http://schemas.microsoft.com/office/drawing/2014/main" id="{4DEAC58B-F6CE-4FFD-9BEB-C8C66AE7801F}"/>
              </a:ext>
            </a:extLst>
          </p:cNvPr>
          <p:cNvSpPr>
            <a:spLocks xmlns:a="http://schemas.openxmlformats.org/drawingml/2006/main" noGrp="1"/>
          </p:cNvSpPr>
          <p:nvPr/>
        </p:nvSpPr>
        <p:spPr>
          <a:xfrm xmlns:a="http://schemas.openxmlformats.org/drawingml/2006/main">
            <a:off x="714375" y="4838700"/>
            <a:ext cx="3905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324C"/>
                </a:solidFill>
                <a:latin typeface="Arial"/>
                <a:ea typeface="Arial"/>
                <a:cs typeface="Arial"/>
              </a:defRPr>
            </a:pPr>
            <a:r>
              <a:rPr sz="1725" b="1">
                <a:solidFill>
                  <a:srgbClr val="16324C"/>
                </a:solidFill>
                <a:latin typeface="Arial"/>
                <a:ea typeface="Arial"/>
                <a:cs typeface="Arial"/>
              </a:rPr>
              <a:t>IllegalStateException</a:t>
            </a:r>
          </a:p>
        </p:txBody>
      </p:sp>
      <p:sp>
        <p:nvSpPr>
          <p:cNvPr id="15" name="">
            <a:extLst xmlns:a="http://schemas.openxmlformats.org/drawingml/2006/main">
              <a:ext uri="{FF2B5EF4-FFF2-40B4-BE49-F238E27FC236}">
                <a16:creationId xmlns:a16="http://schemas.microsoft.com/office/drawing/2014/main" id="{1164BDA4-1279-4045-9EFA-A59F5CE7EACB}"/>
              </a:ext>
            </a:extLst>
          </p:cNvPr>
          <p:cNvSpPr>
            <a:spLocks xmlns:a="http://schemas.openxmlformats.org/drawingml/2006/main" noGrp="1"/>
          </p:cNvSpPr>
          <p:nvPr/>
        </p:nvSpPr>
        <p:spPr>
          <a:xfrm xmlns:a="http://schemas.openxmlformats.org/drawingml/2006/main">
            <a:off x="4705350" y="4838700"/>
            <a:ext cx="666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C2933"/>
                </a:solidFill>
                <a:latin typeface="Arial"/>
                <a:ea typeface="Arial"/>
                <a:cs typeface="Arial"/>
              </a:defRPr>
            </a:pPr>
            <a:r>
              <a:rPr sz="1575" b="0">
                <a:solidFill>
                  <a:srgbClr val="1C2933"/>
                </a:solidFill>
                <a:latin typeface="Arial"/>
                <a:ea typeface="Arial"/>
                <a:cs typeface="Arial"/>
              </a:rPr>
              <a:t>Invalid maintenance status transition</a:t>
            </a:r>
          </a:p>
        </p:txBody>
      </p:sp>
      <p:sp>
        <p:nvSpPr>
          <p:cNvPr id="16" name="">
            <a:extLst xmlns:a="http://schemas.openxmlformats.org/drawingml/2006/main">
              <a:ext uri="{FF2B5EF4-FFF2-40B4-BE49-F238E27FC236}">
                <a16:creationId xmlns:a16="http://schemas.microsoft.com/office/drawing/2014/main" id="{B9A6394A-7089-4433-884B-12820D3A8C61}"/>
              </a:ext>
            </a:extLst>
          </p:cNvPr>
          <p:cNvSpPr>
            <a:spLocks xmlns:a="http://schemas.openxmlformats.org/drawingml/2006/main" noGrp="1"/>
          </p:cNvSpPr>
          <p:nvPr/>
        </p:nvSpPr>
        <p:spPr>
          <a:xfrm xmlns:a="http://schemas.openxmlformats.org/drawingml/2006/main">
            <a:off x="714375" y="5610225"/>
            <a:ext cx="10668000" cy="0"/>
          </a:xfrm>
          <a:prstGeom xmlns:a="http://schemas.openxmlformats.org/drawingml/2006/main" prst="line">
            <a:avLst/>
          </a:prstGeom>
          <a:noFill xmlns:a="http://schemas.openxmlformats.org/drawingml/2006/main"/>
          <a:ln xmlns:a="http://schemas.openxmlformats.org/drawingml/2006/main" w="9525">
            <a:solidFill>
              <a:srgbClr val="C7D5DE"/>
            </a:solidFill>
          </a:ln>
        </p:spPr>
      </p:sp>
    </p:spTree>
    <p:extLst>
      <p:ext uri="{BB962C8B-B14F-4D97-AF65-F5344CB8AC3E}">
        <p14:creationId xmlns:p14="http://schemas.microsoft.com/office/powerpoint/2010/main" val="169939576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ACA20A5-7214-4CF6-92EA-F6FFDFB0C05B}"/>
              </a:ext>
            </a:extLst>
          </p:cNvPr>
          <p:cNvSpPr>
            <a:spLocks xmlns:a="http://schemas.openxmlformats.org/drawingml/2006/main" noGrp="1"/>
          </p:cNvSpPr>
          <p:nvPr/>
        </p:nvSpPr>
        <p:spPr>
          <a:xfrm xmlns:a="http://schemas.openxmlformats.org/drawingml/2006/main">
            <a:off x="609600" y="4191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C"/>
                </a:solidFill>
                <a:latin typeface="Arial"/>
                <a:ea typeface="Arial"/>
                <a:cs typeface="Arial"/>
              </a:defRPr>
            </a:pPr>
            <a:r>
              <a:rPr sz="2700" b="1">
                <a:solidFill>
                  <a:srgbClr val="16324C"/>
                </a:solidFill>
                <a:latin typeface="Arial"/>
                <a:ea typeface="Arial"/>
                <a:cs typeface="Arial"/>
              </a:rPr>
              <a:t>Verification: 126 passing tests</a:t>
            </a:r>
          </a:p>
        </p:txBody>
      </p:sp>
      <p:sp>
        <p:nvSpPr>
          <p:cNvPr id="2" name="">
            <a:extLst xmlns:a="http://schemas.openxmlformats.org/drawingml/2006/main">
              <a:ext uri="{FF2B5EF4-FFF2-40B4-BE49-F238E27FC236}">
                <a16:creationId xmlns:a16="http://schemas.microsoft.com/office/drawing/2014/main" id="{45F06045-E01F-4F06-8E4B-ED8477D748C3}"/>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38100">
            <a:solidFill>
              <a:srgbClr val="167D86"/>
            </a:solidFill>
          </a:ln>
        </p:spPr>
      </p:sp>
      <p:sp>
        <p:nvSpPr>
          <p:cNvPr id="3" name="">
            <a:extLst xmlns:a="http://schemas.openxmlformats.org/drawingml/2006/main">
              <a:ext uri="{FF2B5EF4-FFF2-40B4-BE49-F238E27FC236}">
                <a16:creationId xmlns:a16="http://schemas.microsoft.com/office/drawing/2014/main" id="{ABB37F16-F630-478F-97B5-9C6159C2F398}"/>
              </a:ext>
            </a:extLst>
          </p:cNvPr>
          <p:cNvSpPr>
            <a:spLocks xmlns:a="http://schemas.openxmlformats.org/drawingml/2006/main" noGrp="1"/>
          </p:cNvSpPr>
          <p:nvPr/>
        </p:nvSpPr>
        <p:spPr>
          <a:xfrm xmlns:a="http://schemas.openxmlformats.org/drawingml/2006/main">
            <a:off x="609600" y="64484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F6C76"/>
                </a:solidFill>
                <a:latin typeface="Arial"/>
                <a:ea typeface="Arial"/>
                <a:cs typeface="Arial"/>
              </a:defRPr>
            </a:pPr>
            <a:r>
              <a:rPr sz="975" b="0">
                <a:solidFill>
                  <a:srgbClr val="5F6C76"/>
                </a:solidFill>
                <a:latin typeface="Arial"/>
                <a:ea typeface="Arial"/>
                <a:cs typeface="Arial"/>
              </a:rPr>
              <a:t>IWFC  /  CMP 7001 PRES1</a:t>
            </a:r>
          </a:p>
        </p:txBody>
      </p:sp>
      <p:sp>
        <p:nvSpPr>
          <p:cNvPr id="4" name="">
            <a:extLst xmlns:a="http://schemas.openxmlformats.org/drawingml/2006/main">
              <a:ext uri="{FF2B5EF4-FFF2-40B4-BE49-F238E27FC236}">
                <a16:creationId xmlns:a16="http://schemas.microsoft.com/office/drawing/2014/main" id="{092292A6-012B-43E6-87E6-ACBA234323A7}"/>
              </a:ext>
            </a:extLst>
          </p:cNvPr>
          <p:cNvSpPr>
            <a:spLocks xmlns:a="http://schemas.openxmlformats.org/drawingml/2006/main" noGrp="1"/>
          </p:cNvSpPr>
          <p:nvPr/>
        </p:nvSpPr>
        <p:spPr>
          <a:xfrm xmlns:a="http://schemas.openxmlformats.org/drawingml/2006/main">
            <a:off x="11068050" y="642937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5F6C76"/>
                </a:solidFill>
                <a:latin typeface="Arial"/>
                <a:ea typeface="Arial"/>
                <a:cs typeface="Arial"/>
              </a:defRPr>
            </a:pPr>
            <a:r>
              <a:rPr sz="975" b="1">
                <a:solidFill>
                  <a:srgbClr val="5F6C76"/>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56A05EA9-740C-45CB-84DD-D3B0791ABBC2}"/>
              </a:ext>
            </a:extLst>
          </p:cNvPr>
          <p:cNvSpPr>
            <a:spLocks xmlns:a="http://schemas.openxmlformats.org/drawingml/2006/main" noGrp="1"/>
          </p:cNvSpPr>
          <p:nvPr/>
        </p:nvSpPr>
        <p:spPr>
          <a:xfrm xmlns:a="http://schemas.openxmlformats.org/drawingml/2006/main">
            <a:off x="733425" y="1657350"/>
            <a:ext cx="42862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875" b="1">
                <a:solidFill>
                  <a:srgbClr val="167D86"/>
                </a:solidFill>
                <a:latin typeface="Arial"/>
                <a:ea typeface="Arial"/>
                <a:cs typeface="Arial"/>
              </a:defRPr>
            </a:pPr>
            <a:r>
              <a:rPr sz="7875" b="1">
                <a:solidFill>
                  <a:srgbClr val="167D86"/>
                </a:solidFill>
                <a:latin typeface="Arial"/>
                <a:ea typeface="Arial"/>
                <a:cs typeface="Arial"/>
              </a:rPr>
              <a:t>126</a:t>
            </a:r>
          </a:p>
        </p:txBody>
      </p:sp>
      <p:sp>
        <p:nvSpPr>
          <p:cNvPr id="6" name="">
            <a:extLst xmlns:a="http://schemas.openxmlformats.org/drawingml/2006/main">
              <a:ext uri="{FF2B5EF4-FFF2-40B4-BE49-F238E27FC236}">
                <a16:creationId xmlns:a16="http://schemas.microsoft.com/office/drawing/2014/main" id="{BC6E6288-DF00-4DA5-8A34-D79AAF72DC55}"/>
              </a:ext>
            </a:extLst>
          </p:cNvPr>
          <p:cNvSpPr>
            <a:spLocks xmlns:a="http://schemas.openxmlformats.org/drawingml/2006/main" noGrp="1"/>
          </p:cNvSpPr>
          <p:nvPr/>
        </p:nvSpPr>
        <p:spPr>
          <a:xfrm xmlns:a="http://schemas.openxmlformats.org/drawingml/2006/main">
            <a:off x="714375" y="33051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6324C"/>
                </a:solidFill>
                <a:latin typeface="Arial"/>
                <a:ea typeface="Arial"/>
                <a:cs typeface="Arial"/>
              </a:defRPr>
            </a:pPr>
            <a:r>
              <a:rPr sz="2550" b="1">
                <a:solidFill>
                  <a:srgbClr val="16324C"/>
                </a:solidFill>
                <a:latin typeface="Arial"/>
                <a:ea typeface="Arial"/>
                <a:cs typeface="Arial"/>
              </a:rPr>
              <a:t>passing JUnit tests</a:t>
            </a:r>
          </a:p>
        </p:txBody>
      </p:sp>
      <p:sp>
        <p:nvSpPr>
          <p:cNvPr id="7" name="">
            <a:extLst xmlns:a="http://schemas.openxmlformats.org/drawingml/2006/main">
              <a:ext uri="{FF2B5EF4-FFF2-40B4-BE49-F238E27FC236}">
                <a16:creationId xmlns:a16="http://schemas.microsoft.com/office/drawing/2014/main" id="{217873C2-80AA-4AD6-894B-110D768D3466}"/>
              </a:ext>
            </a:extLst>
          </p:cNvPr>
          <p:cNvSpPr>
            <a:spLocks xmlns:a="http://schemas.openxmlformats.org/drawingml/2006/main" noGrp="1"/>
          </p:cNvSpPr>
          <p:nvPr/>
        </p:nvSpPr>
        <p:spPr>
          <a:xfrm xmlns:a="http://schemas.openxmlformats.org/drawingml/2006/main">
            <a:off x="714375" y="40957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C2933"/>
                </a:solidFill>
                <a:latin typeface="Arial"/>
                <a:ea typeface="Arial"/>
                <a:cs typeface="Arial"/>
              </a:defRPr>
            </a:pPr>
            <a:r>
              <a:rPr sz="1950" b="0">
                <a:solidFill>
                  <a:srgbClr val="1C2933"/>
                </a:solidFill>
                <a:latin typeface="Arial"/>
                <a:ea typeface="Arial"/>
                <a:cs typeface="Arial"/>
              </a:rPr>
              <a:t>14 suites   /   0 failures   /   0 errors   /   0 skipped</a:t>
            </a:r>
          </a:p>
        </p:txBody>
      </p:sp>
      <p:sp>
        <p:nvSpPr>
          <p:cNvPr id="8" name="">
            <a:extLst xmlns:a="http://schemas.openxmlformats.org/drawingml/2006/main">
              <a:ext uri="{FF2B5EF4-FFF2-40B4-BE49-F238E27FC236}">
                <a16:creationId xmlns:a16="http://schemas.microsoft.com/office/drawing/2014/main" id="{87D6E3C6-42B0-40AA-BD7C-503173789C82}"/>
              </a:ext>
            </a:extLst>
          </p:cNvPr>
          <p:cNvSpPr>
            <a:spLocks xmlns:a="http://schemas.openxmlformats.org/drawingml/2006/main" noGrp="1"/>
          </p:cNvSpPr>
          <p:nvPr/>
        </p:nvSpPr>
        <p:spPr>
          <a:xfrm xmlns:a="http://schemas.openxmlformats.org/drawingml/2006/main">
            <a:off x="714375" y="5038725"/>
            <a:ext cx="10525125" cy="0"/>
          </a:xfrm>
          <a:prstGeom xmlns:a="http://schemas.openxmlformats.org/drawingml/2006/main" prst="line">
            <a:avLst/>
          </a:prstGeom>
          <a:noFill xmlns:a="http://schemas.openxmlformats.org/drawingml/2006/main"/>
          <a:ln xmlns:a="http://schemas.openxmlformats.org/drawingml/2006/main" w="19050">
            <a:solidFill>
              <a:srgbClr val="C7D5DE"/>
            </a:solidFill>
          </a:ln>
        </p:spPr>
      </p:sp>
      <p:sp>
        <p:nvSpPr>
          <p:cNvPr id="9" name="">
            <a:extLst xmlns:a="http://schemas.openxmlformats.org/drawingml/2006/main">
              <a:ext uri="{FF2B5EF4-FFF2-40B4-BE49-F238E27FC236}">
                <a16:creationId xmlns:a16="http://schemas.microsoft.com/office/drawing/2014/main" id="{1ED8CCFA-4948-4205-B87F-5989A2C966E5}"/>
              </a:ext>
            </a:extLst>
          </p:cNvPr>
          <p:cNvSpPr>
            <a:spLocks xmlns:a="http://schemas.openxmlformats.org/drawingml/2006/main" noGrp="1"/>
          </p:cNvSpPr>
          <p:nvPr/>
        </p:nvSpPr>
        <p:spPr>
          <a:xfrm xmlns:a="http://schemas.openxmlformats.org/drawingml/2006/main">
            <a:off x="714375" y="53816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F6C76"/>
                </a:solidFill>
                <a:latin typeface="Arial"/>
                <a:ea typeface="Arial"/>
                <a:cs typeface="Arial"/>
              </a:defRPr>
            </a:pPr>
            <a:r>
              <a:rPr sz="1650" b="0">
                <a:solidFill>
                  <a:srgbClr val="5F6C76"/>
                </a:solidFill>
                <a:latin typeface="Arial"/>
                <a:ea typeface="Arial"/>
                <a:cs typeface="Arial"/>
              </a:rPr>
              <a:t>Boundaries: 06:00–22:00  •  adjacent intervals  •  99.9 / 100 hours</a:t>
            </a:r>
          </a:p>
        </p:txBody>
      </p:sp>
    </p:spTree>
    <p:extLst>
      <p:ext uri="{BB962C8B-B14F-4D97-AF65-F5344CB8AC3E}">
        <p14:creationId xmlns:p14="http://schemas.microsoft.com/office/powerpoint/2010/main" val="63343931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2714692-5EF6-446F-833C-00C9525AE72F}"/>
              </a:ext>
            </a:extLst>
          </p:cNvPr>
          <p:cNvSpPr>
            <a:spLocks xmlns:a="http://schemas.openxmlformats.org/drawingml/2006/main" noGrp="1"/>
          </p:cNvSpPr>
          <p:nvPr/>
        </p:nvSpPr>
        <p:spPr>
          <a:xfrm xmlns:a="http://schemas.openxmlformats.org/drawingml/2006/main">
            <a:off x="609600" y="4191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C"/>
                </a:solidFill>
                <a:latin typeface="Arial"/>
                <a:ea typeface="Arial"/>
                <a:cs typeface="Arial"/>
              </a:defRPr>
            </a:pPr>
            <a:r>
              <a:rPr sz="2700" b="1">
                <a:solidFill>
                  <a:srgbClr val="16324C"/>
                </a:solidFill>
                <a:latin typeface="Arial"/>
                <a:ea typeface="Arial"/>
                <a:cs typeface="Arial"/>
              </a:rPr>
              <a:t>Integration and defect reflection</a:t>
            </a:r>
          </a:p>
        </p:txBody>
      </p:sp>
      <p:sp>
        <p:nvSpPr>
          <p:cNvPr id="2" name="">
            <a:extLst xmlns:a="http://schemas.openxmlformats.org/drawingml/2006/main">
              <a:ext uri="{FF2B5EF4-FFF2-40B4-BE49-F238E27FC236}">
                <a16:creationId xmlns:a16="http://schemas.microsoft.com/office/drawing/2014/main" id="{85AA6878-9C4E-4CB5-AF43-6A539AFE1001}"/>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38100">
            <a:solidFill>
              <a:srgbClr val="167D86"/>
            </a:solidFill>
          </a:ln>
        </p:spPr>
      </p:sp>
      <p:sp>
        <p:nvSpPr>
          <p:cNvPr id="3" name="">
            <a:extLst xmlns:a="http://schemas.openxmlformats.org/drawingml/2006/main">
              <a:ext uri="{FF2B5EF4-FFF2-40B4-BE49-F238E27FC236}">
                <a16:creationId xmlns:a16="http://schemas.microsoft.com/office/drawing/2014/main" id="{4109891D-351A-47F8-B8CE-C53C8F80004D}"/>
              </a:ext>
            </a:extLst>
          </p:cNvPr>
          <p:cNvSpPr>
            <a:spLocks xmlns:a="http://schemas.openxmlformats.org/drawingml/2006/main" noGrp="1"/>
          </p:cNvSpPr>
          <p:nvPr/>
        </p:nvSpPr>
        <p:spPr>
          <a:xfrm xmlns:a="http://schemas.openxmlformats.org/drawingml/2006/main">
            <a:off x="609600" y="64484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F6C76"/>
                </a:solidFill>
                <a:latin typeface="Arial"/>
                <a:ea typeface="Arial"/>
                <a:cs typeface="Arial"/>
              </a:defRPr>
            </a:pPr>
            <a:r>
              <a:rPr sz="975" b="0">
                <a:solidFill>
                  <a:srgbClr val="5F6C76"/>
                </a:solidFill>
                <a:latin typeface="Arial"/>
                <a:ea typeface="Arial"/>
                <a:cs typeface="Arial"/>
              </a:rPr>
              <a:t>IWFC  /  CMP 7001 PRES1</a:t>
            </a:r>
          </a:p>
        </p:txBody>
      </p:sp>
      <p:sp>
        <p:nvSpPr>
          <p:cNvPr id="4" name="">
            <a:extLst xmlns:a="http://schemas.openxmlformats.org/drawingml/2006/main">
              <a:ext uri="{FF2B5EF4-FFF2-40B4-BE49-F238E27FC236}">
                <a16:creationId xmlns:a16="http://schemas.microsoft.com/office/drawing/2014/main" id="{B90086D1-DB98-4E4D-83C5-7B96AB314417}"/>
              </a:ext>
            </a:extLst>
          </p:cNvPr>
          <p:cNvSpPr>
            <a:spLocks xmlns:a="http://schemas.openxmlformats.org/drawingml/2006/main" noGrp="1"/>
          </p:cNvSpPr>
          <p:nvPr/>
        </p:nvSpPr>
        <p:spPr>
          <a:xfrm xmlns:a="http://schemas.openxmlformats.org/drawingml/2006/main">
            <a:off x="11068050" y="642937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5F6C76"/>
                </a:solidFill>
                <a:latin typeface="Arial"/>
                <a:ea typeface="Arial"/>
                <a:cs typeface="Arial"/>
              </a:defRPr>
            </a:pPr>
            <a:r>
              <a:rPr sz="975" b="1">
                <a:solidFill>
                  <a:srgbClr val="5F6C76"/>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FF4E4A87-5343-485D-8E39-7DD0BC31D012}"/>
              </a:ext>
            </a:extLst>
          </p:cNvPr>
          <p:cNvSpPr>
            <a:spLocks xmlns:a="http://schemas.openxmlformats.org/drawingml/2006/main" noGrp="1"/>
          </p:cNvSpPr>
          <p:nvPr/>
        </p:nvSpPr>
        <p:spPr>
          <a:xfrm xmlns:a="http://schemas.openxmlformats.org/drawingml/2006/main">
            <a:off x="714375" y="17621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7D86"/>
                </a:solidFill>
                <a:latin typeface="Arial"/>
                <a:ea typeface="Arial"/>
                <a:cs typeface="Arial"/>
              </a:defRPr>
            </a:pPr>
            <a:r>
              <a:rPr sz="1200" b="1">
                <a:solidFill>
                  <a:srgbClr val="167D86"/>
                </a:solidFill>
                <a:latin typeface="Arial"/>
                <a:ea typeface="Arial"/>
                <a:cs typeface="Arial"/>
              </a:rPr>
              <a:t>SUCCESSFUL PATH</a:t>
            </a:r>
          </a:p>
        </p:txBody>
      </p:sp>
      <p:sp>
        <p:nvSpPr>
          <p:cNvPr id="6" name="">
            <a:extLst xmlns:a="http://schemas.openxmlformats.org/drawingml/2006/main">
              <a:ext uri="{FF2B5EF4-FFF2-40B4-BE49-F238E27FC236}">
                <a16:creationId xmlns:a16="http://schemas.microsoft.com/office/drawing/2014/main" id="{E64911C2-CB8B-42EA-B4DD-A5218F7EEF0B}"/>
              </a:ext>
            </a:extLst>
          </p:cNvPr>
          <p:cNvSpPr>
            <a:spLocks xmlns:a="http://schemas.openxmlformats.org/drawingml/2006/main" noGrp="1"/>
          </p:cNvSpPr>
          <p:nvPr/>
        </p:nvSpPr>
        <p:spPr>
          <a:xfrm xmlns:a="http://schemas.openxmlformats.org/drawingml/2006/main">
            <a:off x="714375" y="216217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324C"/>
                </a:solidFill>
                <a:latin typeface="Arial"/>
                <a:ea typeface="Arial"/>
                <a:cs typeface="Arial"/>
              </a:defRPr>
            </a:pPr>
            <a:r>
              <a:rPr sz="1875" b="1">
                <a:solidFill>
                  <a:srgbClr val="16324C"/>
                </a:solidFill>
                <a:latin typeface="Arial"/>
                <a:ea typeface="Arial"/>
                <a:cs typeface="Arial"/>
              </a:rPr>
              <a:t>Register  →  equip  →  schedule  →  book  →  use  →  report  →  assign  →  complete</a:t>
            </a:r>
          </a:p>
        </p:txBody>
      </p:sp>
      <p:sp>
        <p:nvSpPr>
          <p:cNvPr id="7" name="">
            <a:extLst xmlns:a="http://schemas.openxmlformats.org/drawingml/2006/main">
              <a:ext uri="{FF2B5EF4-FFF2-40B4-BE49-F238E27FC236}">
                <a16:creationId xmlns:a16="http://schemas.microsoft.com/office/drawing/2014/main" id="{FA00E0C7-284A-4D2F-96BB-A5FFC6A4E4E7}"/>
              </a:ext>
            </a:extLst>
          </p:cNvPr>
          <p:cNvSpPr>
            <a:spLocks xmlns:a="http://schemas.openxmlformats.org/drawingml/2006/main" noGrp="1"/>
          </p:cNvSpPr>
          <p:nvPr/>
        </p:nvSpPr>
        <p:spPr>
          <a:xfrm xmlns:a="http://schemas.openxmlformats.org/drawingml/2006/main">
            <a:off x="714375" y="3400425"/>
            <a:ext cx="10525125" cy="0"/>
          </a:xfrm>
          <a:prstGeom xmlns:a="http://schemas.openxmlformats.org/drawingml/2006/main" prst="line">
            <a:avLst/>
          </a:prstGeom>
          <a:noFill xmlns:a="http://schemas.openxmlformats.org/drawingml/2006/main"/>
          <a:ln xmlns:a="http://schemas.openxmlformats.org/drawingml/2006/main" w="19050">
            <a:solidFill>
              <a:srgbClr val="C7D5DE"/>
            </a:solidFill>
          </a:ln>
        </p:spPr>
      </p:sp>
      <p:sp>
        <p:nvSpPr>
          <p:cNvPr id="8" name="">
            <a:extLst xmlns:a="http://schemas.openxmlformats.org/drawingml/2006/main">
              <a:ext uri="{FF2B5EF4-FFF2-40B4-BE49-F238E27FC236}">
                <a16:creationId xmlns:a16="http://schemas.microsoft.com/office/drawing/2014/main" id="{2C5849F3-B41F-4A6A-ABE3-FD6D0050BF77}"/>
              </a:ext>
            </a:extLst>
          </p:cNvPr>
          <p:cNvSpPr>
            <a:spLocks xmlns:a="http://schemas.openxmlformats.org/drawingml/2006/main" noGrp="1"/>
          </p:cNvSpPr>
          <p:nvPr/>
        </p:nvSpPr>
        <p:spPr>
          <a:xfrm xmlns:a="http://schemas.openxmlformats.org/drawingml/2006/main">
            <a:off x="714375" y="37814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7D86"/>
                </a:solidFill>
                <a:latin typeface="Arial"/>
                <a:ea typeface="Arial"/>
                <a:cs typeface="Arial"/>
              </a:defRPr>
            </a:pPr>
            <a:r>
              <a:rPr sz="1200" b="1">
                <a:solidFill>
                  <a:srgbClr val="167D86"/>
                </a:solidFill>
                <a:latin typeface="Arial"/>
                <a:ea typeface="Arial"/>
                <a:cs typeface="Arial"/>
              </a:rPr>
              <a:t>REJECTED PATHS</a:t>
            </a:r>
          </a:p>
        </p:txBody>
      </p:sp>
      <p:sp>
        <p:nvSpPr>
          <p:cNvPr id="9" name="">
            <a:extLst xmlns:a="http://schemas.openxmlformats.org/drawingml/2006/main">
              <a:ext uri="{FF2B5EF4-FFF2-40B4-BE49-F238E27FC236}">
                <a16:creationId xmlns:a16="http://schemas.microsoft.com/office/drawing/2014/main" id="{F2EAF606-3BFD-4E71-BEF3-8CB83DD1389D}"/>
              </a:ext>
            </a:extLst>
          </p:cNvPr>
          <p:cNvSpPr>
            <a:spLocks xmlns:a="http://schemas.openxmlformats.org/drawingml/2006/main" noGrp="1"/>
          </p:cNvSpPr>
          <p:nvPr/>
        </p:nvSpPr>
        <p:spPr>
          <a:xfrm xmlns:a="http://schemas.openxmlformats.org/drawingml/2006/main">
            <a:off x="714375" y="41910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2933"/>
                </a:solidFill>
                <a:latin typeface="Arial"/>
                <a:ea typeface="Arial"/>
                <a:cs typeface="Arial"/>
              </a:defRPr>
            </a:pPr>
            <a:r>
              <a:rPr sz="1800" b="0">
                <a:solidFill>
                  <a:srgbClr val="1C2933"/>
                </a:solidFill>
                <a:latin typeface="Arial"/>
                <a:ea typeface="Arial"/>
                <a:cs typeface="Arial"/>
              </a:rPr>
              <a:t>Duplicate ID   Conflicting session   Unauthorized log   Invalid transition</a:t>
            </a:r>
          </a:p>
        </p:txBody>
      </p:sp>
      <p:sp>
        <p:nvSpPr>
          <p:cNvPr id="10" name="">
            <a:extLst xmlns:a="http://schemas.openxmlformats.org/drawingml/2006/main">
              <a:ext uri="{FF2B5EF4-FFF2-40B4-BE49-F238E27FC236}">
                <a16:creationId xmlns:a16="http://schemas.microsoft.com/office/drawing/2014/main" id="{66009460-ED10-4605-88F0-F8389B520FFE}"/>
              </a:ext>
            </a:extLst>
          </p:cNvPr>
          <p:cNvSpPr>
            <a:spLocks xmlns:a="http://schemas.openxmlformats.org/drawingml/2006/main" noGrp="1"/>
          </p:cNvSpPr>
          <p:nvPr/>
        </p:nvSpPr>
        <p:spPr>
          <a:xfrm xmlns:a="http://schemas.openxmlformats.org/drawingml/2006/main">
            <a:off x="714375" y="5362575"/>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6"/>
                </a:solidFill>
                <a:latin typeface="Arial"/>
                <a:ea typeface="Arial"/>
                <a:cs typeface="Arial"/>
              </a:defRPr>
            </a:pPr>
            <a:r>
              <a:rPr sz="1650" b="1">
                <a:solidFill>
                  <a:srgbClr val="167D86"/>
                </a:solidFill>
                <a:latin typeface="Arial"/>
                <a:ea typeface="Arial"/>
                <a:cs typeface="Arial"/>
              </a:rPr>
              <a:t>Alert policy corrected: one alert per cycle; completion opens the next 100-hour cycle.</a:t>
            </a:r>
          </a:p>
        </p:txBody>
      </p:sp>
    </p:spTree>
    <p:extLst>
      <p:ext uri="{BB962C8B-B14F-4D97-AF65-F5344CB8AC3E}">
        <p14:creationId xmlns:p14="http://schemas.microsoft.com/office/powerpoint/2010/main" val="191413130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A5D0953-99A6-4853-A0CB-857A0B7DA730}"/>
              </a:ext>
            </a:extLst>
          </p:cNvPr>
          <p:cNvSpPr>
            <a:spLocks xmlns:a="http://schemas.openxmlformats.org/drawingml/2006/main" noGrp="1"/>
          </p:cNvSpPr>
          <p:nvPr/>
        </p:nvSpPr>
        <p:spPr>
          <a:xfrm xmlns:a="http://schemas.openxmlformats.org/drawingml/2006/main">
            <a:off x="609600" y="4191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C"/>
                </a:solidFill>
                <a:latin typeface="Arial"/>
                <a:ea typeface="Arial"/>
                <a:cs typeface="Arial"/>
              </a:defRPr>
            </a:pPr>
            <a:r>
              <a:rPr sz="2700" b="1">
                <a:solidFill>
                  <a:srgbClr val="16324C"/>
                </a:solidFill>
                <a:latin typeface="Arial"/>
                <a:ea typeface="Arial"/>
                <a:cs typeface="Arial"/>
              </a:rPr>
              <a:t>Console demonstration</a:t>
            </a:r>
          </a:p>
        </p:txBody>
      </p:sp>
      <p:sp>
        <p:nvSpPr>
          <p:cNvPr id="2" name="">
            <a:extLst xmlns:a="http://schemas.openxmlformats.org/drawingml/2006/main">
              <a:ext uri="{FF2B5EF4-FFF2-40B4-BE49-F238E27FC236}">
                <a16:creationId xmlns:a16="http://schemas.microsoft.com/office/drawing/2014/main" id="{9F52D48C-1CE2-4885-907C-A42B99A1D4B6}"/>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38100">
            <a:solidFill>
              <a:srgbClr val="167D86"/>
            </a:solidFill>
          </a:ln>
        </p:spPr>
      </p:sp>
      <p:sp>
        <p:nvSpPr>
          <p:cNvPr id="3" name="">
            <a:extLst xmlns:a="http://schemas.openxmlformats.org/drawingml/2006/main">
              <a:ext uri="{FF2B5EF4-FFF2-40B4-BE49-F238E27FC236}">
                <a16:creationId xmlns:a16="http://schemas.microsoft.com/office/drawing/2014/main" id="{6AB736B5-2895-4B06-BE6C-59075B95043F}"/>
              </a:ext>
            </a:extLst>
          </p:cNvPr>
          <p:cNvSpPr>
            <a:spLocks xmlns:a="http://schemas.openxmlformats.org/drawingml/2006/main" noGrp="1"/>
          </p:cNvSpPr>
          <p:nvPr/>
        </p:nvSpPr>
        <p:spPr>
          <a:xfrm xmlns:a="http://schemas.openxmlformats.org/drawingml/2006/main">
            <a:off x="609600" y="64484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F6C76"/>
                </a:solidFill>
                <a:latin typeface="Arial"/>
                <a:ea typeface="Arial"/>
                <a:cs typeface="Arial"/>
              </a:defRPr>
            </a:pPr>
            <a:r>
              <a:rPr sz="975" b="0">
                <a:solidFill>
                  <a:srgbClr val="5F6C76"/>
                </a:solidFill>
                <a:latin typeface="Arial"/>
                <a:ea typeface="Arial"/>
                <a:cs typeface="Arial"/>
              </a:rPr>
              <a:t>IWFC  /  CMP 7001 PRES1</a:t>
            </a:r>
          </a:p>
        </p:txBody>
      </p:sp>
      <p:sp>
        <p:nvSpPr>
          <p:cNvPr id="4" name="">
            <a:extLst xmlns:a="http://schemas.openxmlformats.org/drawingml/2006/main">
              <a:ext uri="{FF2B5EF4-FFF2-40B4-BE49-F238E27FC236}">
                <a16:creationId xmlns:a16="http://schemas.microsoft.com/office/drawing/2014/main" id="{99EA4288-8DB1-464B-86B6-B313EC150245}"/>
              </a:ext>
            </a:extLst>
          </p:cNvPr>
          <p:cNvSpPr>
            <a:spLocks xmlns:a="http://schemas.openxmlformats.org/drawingml/2006/main" noGrp="1"/>
          </p:cNvSpPr>
          <p:nvPr/>
        </p:nvSpPr>
        <p:spPr>
          <a:xfrm xmlns:a="http://schemas.openxmlformats.org/drawingml/2006/main">
            <a:off x="11068050" y="642937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5F6C76"/>
                </a:solidFill>
                <a:latin typeface="Arial"/>
                <a:ea typeface="Arial"/>
                <a:cs typeface="Arial"/>
              </a:defRPr>
            </a:pPr>
            <a:r>
              <a:rPr sz="975" b="1">
                <a:solidFill>
                  <a:srgbClr val="5F6C76"/>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5EA98012-B238-4D15-B1AC-D50E14D001DF}"/>
              </a:ext>
            </a:extLst>
          </p:cNvPr>
          <p:cNvSpPr>
            <a:spLocks xmlns:a="http://schemas.openxmlformats.org/drawingml/2006/main" noGrp="1"/>
          </p:cNvSpPr>
          <p:nvPr/>
        </p:nvSpPr>
        <p:spPr>
          <a:xfrm xmlns:a="http://schemas.openxmlformats.org/drawingml/2006/main">
            <a:off x="714375" y="1695450"/>
            <a:ext cx="971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324C"/>
                </a:solidFill>
                <a:latin typeface="Arial"/>
                <a:ea typeface="Arial"/>
                <a:cs typeface="Arial"/>
              </a:defRPr>
            </a:pPr>
            <a:r>
              <a:rPr sz="1875" b="1">
                <a:solidFill>
                  <a:srgbClr val="16324C"/>
                </a:solidFill>
                <a:latin typeface="Arial"/>
                <a:ea typeface="Arial"/>
                <a:cs typeface="Arial"/>
              </a:rPr>
              <a:t>1  Set up the Administrator</a:t>
            </a:r>
          </a:p>
        </p:txBody>
      </p:sp>
      <p:sp>
        <p:nvSpPr>
          <p:cNvPr id="6" name="">
            <a:extLst xmlns:a="http://schemas.openxmlformats.org/drawingml/2006/main">
              <a:ext uri="{FF2B5EF4-FFF2-40B4-BE49-F238E27FC236}">
                <a16:creationId xmlns:a16="http://schemas.microsoft.com/office/drawing/2014/main" id="{B20C3DD3-6C27-4500-9FCC-A7C7DE71BAA6}"/>
              </a:ext>
            </a:extLst>
          </p:cNvPr>
          <p:cNvSpPr>
            <a:spLocks xmlns:a="http://schemas.openxmlformats.org/drawingml/2006/main" noGrp="1"/>
          </p:cNvSpPr>
          <p:nvPr/>
        </p:nvSpPr>
        <p:spPr>
          <a:xfrm xmlns:a="http://schemas.openxmlformats.org/drawingml/2006/main">
            <a:off x="714375" y="2343150"/>
            <a:ext cx="971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324C"/>
                </a:solidFill>
                <a:latin typeface="Arial"/>
                <a:ea typeface="Arial"/>
                <a:cs typeface="Arial"/>
              </a:defRPr>
            </a:pPr>
            <a:r>
              <a:rPr sz="1875" b="1">
                <a:solidFill>
                  <a:srgbClr val="16324C"/>
                </a:solidFill>
                <a:latin typeface="Arial"/>
                <a:ea typeface="Arial"/>
                <a:cs typeface="Arial"/>
              </a:rPr>
              <a:t>2  Choose the guided workflow</a:t>
            </a:r>
          </a:p>
        </p:txBody>
      </p:sp>
      <p:sp>
        <p:nvSpPr>
          <p:cNvPr id="7" name="">
            <a:extLst xmlns:a="http://schemas.openxmlformats.org/drawingml/2006/main">
              <a:ext uri="{FF2B5EF4-FFF2-40B4-BE49-F238E27FC236}">
                <a16:creationId xmlns:a16="http://schemas.microsoft.com/office/drawing/2014/main" id="{20F77834-2ED3-4500-B3DF-258364F29E3F}"/>
              </a:ext>
            </a:extLst>
          </p:cNvPr>
          <p:cNvSpPr>
            <a:spLocks xmlns:a="http://schemas.openxmlformats.org/drawingml/2006/main" noGrp="1"/>
          </p:cNvSpPr>
          <p:nvPr/>
        </p:nvSpPr>
        <p:spPr>
          <a:xfrm xmlns:a="http://schemas.openxmlformats.org/drawingml/2006/main">
            <a:off x="714375" y="299085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324C"/>
                </a:solidFill>
                <a:latin typeface="Arial"/>
                <a:ea typeface="Arial"/>
                <a:cs typeface="Arial"/>
              </a:defRPr>
            </a:pPr>
            <a:r>
              <a:rPr sz="1875" b="1">
                <a:solidFill>
                  <a:srgbClr val="16324C"/>
                </a:solidFill>
                <a:latin typeface="Arial"/>
                <a:ea typeface="Arial"/>
                <a:cs typeface="Arial"/>
              </a:rPr>
              <a:t>3  Observe booking, usage, maintenance and notifications</a:t>
            </a:r>
          </a:p>
        </p:txBody>
      </p:sp>
      <p:sp>
        <p:nvSpPr>
          <p:cNvPr id="8" name="">
            <a:extLst xmlns:a="http://schemas.openxmlformats.org/drawingml/2006/main">
              <a:ext uri="{FF2B5EF4-FFF2-40B4-BE49-F238E27FC236}">
                <a16:creationId xmlns:a16="http://schemas.microsoft.com/office/drawing/2014/main" id="{35C35BC4-D130-4A21-B3EF-A62DE22CCE26}"/>
              </a:ext>
            </a:extLst>
          </p:cNvPr>
          <p:cNvSpPr>
            <a:spLocks xmlns:a="http://schemas.openxmlformats.org/drawingml/2006/main" noGrp="1"/>
          </p:cNvSpPr>
          <p:nvPr/>
        </p:nvSpPr>
        <p:spPr>
          <a:xfrm xmlns:a="http://schemas.openxmlformats.org/drawingml/2006/main">
            <a:off x="714375" y="4000500"/>
            <a:ext cx="10525125" cy="0"/>
          </a:xfrm>
          <a:prstGeom xmlns:a="http://schemas.openxmlformats.org/drawingml/2006/main" prst="line">
            <a:avLst/>
          </a:prstGeom>
          <a:noFill xmlns:a="http://schemas.openxmlformats.org/drawingml/2006/main"/>
          <a:ln xmlns:a="http://schemas.openxmlformats.org/drawingml/2006/main" w="19050">
            <a:solidFill>
              <a:srgbClr val="C7D5DE"/>
            </a:solidFill>
          </a:ln>
        </p:spPr>
      </p:sp>
      <p:sp>
        <p:nvSpPr>
          <p:cNvPr id="9" name="">
            <a:extLst xmlns:a="http://schemas.openxmlformats.org/drawingml/2006/main">
              <a:ext uri="{FF2B5EF4-FFF2-40B4-BE49-F238E27FC236}">
                <a16:creationId xmlns:a16="http://schemas.microsoft.com/office/drawing/2014/main" id="{2AF45EEE-C4B2-456E-85DC-B57B1D7BA7FE}"/>
              </a:ext>
            </a:extLst>
          </p:cNvPr>
          <p:cNvSpPr>
            <a:spLocks xmlns:a="http://schemas.openxmlformats.org/drawingml/2006/main" noGrp="1"/>
          </p:cNvSpPr>
          <p:nvPr/>
        </p:nvSpPr>
        <p:spPr>
          <a:xfrm xmlns:a="http://schemas.openxmlformats.org/drawingml/2006/main">
            <a:off x="714375" y="44291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C2933"/>
                </a:solidFill>
                <a:latin typeface="Arial"/>
                <a:ea typeface="Arial"/>
                <a:cs typeface="Arial"/>
              </a:defRPr>
            </a:pPr>
            <a:r>
              <a:rPr sz="1500" b="0">
                <a:solidFill>
                  <a:srgbClr val="1C2933"/>
                </a:solidFill>
                <a:latin typeface="Arial"/>
                <a:ea typeface="Arial"/>
                <a:cs typeface="Arial"/>
              </a:rPr>
              <a:t>java -cp target\iwfc-management-system-1.0.0-SNAPSHOT.jar iwfc.app.IWFCFacade</a:t>
            </a:r>
          </a:p>
        </p:txBody>
      </p:sp>
      <p:sp>
        <p:nvSpPr>
          <p:cNvPr id="10" name="">
            <a:extLst xmlns:a="http://schemas.openxmlformats.org/drawingml/2006/main">
              <a:ext uri="{FF2B5EF4-FFF2-40B4-BE49-F238E27FC236}">
                <a16:creationId xmlns:a16="http://schemas.microsoft.com/office/drawing/2014/main" id="{6AD3C9BA-E16F-4456-90EA-91C2249B1800}"/>
              </a:ext>
            </a:extLst>
          </p:cNvPr>
          <p:cNvSpPr>
            <a:spLocks xmlns:a="http://schemas.openxmlformats.org/drawingml/2006/main" noGrp="1"/>
          </p:cNvSpPr>
          <p:nvPr/>
        </p:nvSpPr>
        <p:spPr>
          <a:xfrm xmlns:a="http://schemas.openxmlformats.org/drawingml/2006/main">
            <a:off x="714375" y="54673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6"/>
                </a:solidFill>
                <a:latin typeface="Arial"/>
                <a:ea typeface="Arial"/>
                <a:cs typeface="Arial"/>
              </a:defRPr>
            </a:pPr>
            <a:r>
              <a:rPr sz="1650" b="1">
                <a:solidFill>
                  <a:srgbClr val="167D86"/>
                </a:solidFill>
                <a:latin typeface="Arial"/>
                <a:ea typeface="Arial"/>
                <a:cs typeface="Arial"/>
              </a:rPr>
              <a:t>Expected finish: equipment OPERATIONAL; request COMPLETED.</a:t>
            </a:r>
          </a:p>
        </p:txBody>
      </p:sp>
    </p:spTree>
    <p:extLst>
      <p:ext uri="{BB962C8B-B14F-4D97-AF65-F5344CB8AC3E}">
        <p14:creationId xmlns:p14="http://schemas.microsoft.com/office/powerpoint/2010/main" val="82535393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64E7B9C-59C4-4A97-98F6-E042483EAF35}"/>
              </a:ext>
            </a:extLst>
          </p:cNvPr>
          <p:cNvSpPr>
            <a:spLocks xmlns:a="http://schemas.openxmlformats.org/drawingml/2006/main" noGrp="1"/>
          </p:cNvSpPr>
          <p:nvPr/>
        </p:nvSpPr>
        <p:spPr>
          <a:xfrm xmlns:a="http://schemas.openxmlformats.org/drawingml/2006/main">
            <a:off x="609600" y="4191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C"/>
                </a:solidFill>
                <a:latin typeface="Arial"/>
                <a:ea typeface="Arial"/>
                <a:cs typeface="Arial"/>
              </a:defRPr>
            </a:pPr>
            <a:r>
              <a:rPr sz="2700" b="1">
                <a:solidFill>
                  <a:srgbClr val="16324C"/>
                </a:solidFill>
                <a:latin typeface="Arial"/>
                <a:ea typeface="Arial"/>
                <a:cs typeface="Arial"/>
              </a:rPr>
              <a:t>Limitations and next steps</a:t>
            </a:r>
          </a:p>
        </p:txBody>
      </p:sp>
      <p:sp>
        <p:nvSpPr>
          <p:cNvPr id="2" name="">
            <a:extLst xmlns:a="http://schemas.openxmlformats.org/drawingml/2006/main">
              <a:ext uri="{FF2B5EF4-FFF2-40B4-BE49-F238E27FC236}">
                <a16:creationId xmlns:a16="http://schemas.microsoft.com/office/drawing/2014/main" id="{E23DB9A8-2B87-4AE7-8201-AFC4AB193D4A}"/>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38100">
            <a:solidFill>
              <a:srgbClr val="167D86"/>
            </a:solidFill>
          </a:ln>
        </p:spPr>
      </p:sp>
      <p:sp>
        <p:nvSpPr>
          <p:cNvPr id="3" name="">
            <a:extLst xmlns:a="http://schemas.openxmlformats.org/drawingml/2006/main">
              <a:ext uri="{FF2B5EF4-FFF2-40B4-BE49-F238E27FC236}">
                <a16:creationId xmlns:a16="http://schemas.microsoft.com/office/drawing/2014/main" id="{6D767729-AAAA-4E71-8917-D1D144E4110F}"/>
              </a:ext>
            </a:extLst>
          </p:cNvPr>
          <p:cNvSpPr>
            <a:spLocks xmlns:a="http://schemas.openxmlformats.org/drawingml/2006/main" noGrp="1"/>
          </p:cNvSpPr>
          <p:nvPr/>
        </p:nvSpPr>
        <p:spPr>
          <a:xfrm xmlns:a="http://schemas.openxmlformats.org/drawingml/2006/main">
            <a:off x="609600" y="64484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F6C76"/>
                </a:solidFill>
                <a:latin typeface="Arial"/>
                <a:ea typeface="Arial"/>
                <a:cs typeface="Arial"/>
              </a:defRPr>
            </a:pPr>
            <a:r>
              <a:rPr sz="975" b="0">
                <a:solidFill>
                  <a:srgbClr val="5F6C76"/>
                </a:solidFill>
                <a:latin typeface="Arial"/>
                <a:ea typeface="Arial"/>
                <a:cs typeface="Arial"/>
              </a:rPr>
              <a:t>IWFC  /  CMP 7001 PRES1</a:t>
            </a:r>
          </a:p>
        </p:txBody>
      </p:sp>
      <p:sp>
        <p:nvSpPr>
          <p:cNvPr id="4" name="">
            <a:extLst xmlns:a="http://schemas.openxmlformats.org/drawingml/2006/main">
              <a:ext uri="{FF2B5EF4-FFF2-40B4-BE49-F238E27FC236}">
                <a16:creationId xmlns:a16="http://schemas.microsoft.com/office/drawing/2014/main" id="{9A1EAF02-282D-44A8-A419-95C599984652}"/>
              </a:ext>
            </a:extLst>
          </p:cNvPr>
          <p:cNvSpPr>
            <a:spLocks xmlns:a="http://schemas.openxmlformats.org/drawingml/2006/main" noGrp="1"/>
          </p:cNvSpPr>
          <p:nvPr/>
        </p:nvSpPr>
        <p:spPr>
          <a:xfrm xmlns:a="http://schemas.openxmlformats.org/drawingml/2006/main">
            <a:off x="11068050" y="642937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5F6C76"/>
                </a:solidFill>
                <a:latin typeface="Arial"/>
                <a:ea typeface="Arial"/>
                <a:cs typeface="Arial"/>
              </a:defRPr>
            </a:pPr>
            <a:r>
              <a:rPr sz="975" b="1">
                <a:solidFill>
                  <a:srgbClr val="5F6C76"/>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1CCD3EEE-EA14-4A06-B23D-69DF3349EBBE}"/>
              </a:ext>
            </a:extLst>
          </p:cNvPr>
          <p:cNvSpPr>
            <a:spLocks xmlns:a="http://schemas.openxmlformats.org/drawingml/2006/main" noGrp="1"/>
          </p:cNvSpPr>
          <p:nvPr/>
        </p:nvSpPr>
        <p:spPr>
          <a:xfrm xmlns:a="http://schemas.openxmlformats.org/drawingml/2006/main">
            <a:off x="723900" y="17430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324C"/>
                </a:solidFill>
                <a:latin typeface="Arial"/>
                <a:ea typeface="Arial"/>
                <a:cs typeface="Arial"/>
              </a:defRPr>
            </a:pPr>
            <a:r>
              <a:rPr sz="1950" b="1">
                <a:solidFill>
                  <a:srgbClr val="16324C"/>
                </a:solidFill>
                <a:latin typeface="Arial"/>
                <a:ea typeface="Arial"/>
                <a:cs typeface="Arial"/>
              </a:rPr>
              <a:t>Current prototype</a:t>
            </a:r>
          </a:p>
        </p:txBody>
      </p:sp>
      <p:sp>
        <p:nvSpPr>
          <p:cNvPr id="6" name="">
            <a:extLst xmlns:a="http://schemas.openxmlformats.org/drawingml/2006/main">
              <a:ext uri="{FF2B5EF4-FFF2-40B4-BE49-F238E27FC236}">
                <a16:creationId xmlns:a16="http://schemas.microsoft.com/office/drawing/2014/main" id="{DD9429FA-47DE-4E3A-814F-AFA8652C4693}"/>
              </a:ext>
            </a:extLst>
          </p:cNvPr>
          <p:cNvSpPr>
            <a:spLocks xmlns:a="http://schemas.openxmlformats.org/drawingml/2006/main" noGrp="1"/>
          </p:cNvSpPr>
          <p:nvPr/>
        </p:nvSpPr>
        <p:spPr>
          <a:xfrm xmlns:a="http://schemas.openxmlformats.org/drawingml/2006/main">
            <a:off x="723900" y="2238375"/>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C2933"/>
                </a:solidFill>
                <a:latin typeface="Arial"/>
                <a:ea typeface="Arial"/>
                <a:cs typeface="Arial"/>
              </a:defRPr>
            </a:pPr>
            <a:r>
              <a:rPr sz="1575" b="0">
                <a:solidFill>
                  <a:srgbClr val="1C2933"/>
                </a:solidFill>
                <a:latin typeface="Arial"/>
                <a:ea typeface="Arial"/>
                <a:cs typeface="Arial"/>
              </a:rPr>
              <a:t>In-memory data; guided console; no credential login.</a:t>
            </a:r>
          </a:p>
        </p:txBody>
      </p:sp>
      <p:sp>
        <p:nvSpPr>
          <p:cNvPr id="7" name="">
            <a:extLst xmlns:a="http://schemas.openxmlformats.org/drawingml/2006/main">
              <a:ext uri="{FF2B5EF4-FFF2-40B4-BE49-F238E27FC236}">
                <a16:creationId xmlns:a16="http://schemas.microsoft.com/office/drawing/2014/main" id="{AA39AB94-D5D7-4A75-8E98-BD0044488BCA}"/>
              </a:ext>
            </a:extLst>
          </p:cNvPr>
          <p:cNvSpPr>
            <a:spLocks xmlns:a="http://schemas.openxmlformats.org/drawingml/2006/main" noGrp="1"/>
          </p:cNvSpPr>
          <p:nvPr/>
        </p:nvSpPr>
        <p:spPr>
          <a:xfrm xmlns:a="http://schemas.openxmlformats.org/drawingml/2006/main">
            <a:off x="6419850" y="17430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324C"/>
                </a:solidFill>
                <a:latin typeface="Arial"/>
                <a:ea typeface="Arial"/>
                <a:cs typeface="Arial"/>
              </a:defRPr>
            </a:pPr>
            <a:r>
              <a:rPr sz="1950" b="1">
                <a:solidFill>
                  <a:srgbClr val="16324C"/>
                </a:solidFill>
                <a:latin typeface="Arial"/>
                <a:ea typeface="Arial"/>
                <a:cs typeface="Arial"/>
              </a:rPr>
              <a:t>Known gaps</a:t>
            </a:r>
          </a:p>
        </p:txBody>
      </p:sp>
      <p:sp>
        <p:nvSpPr>
          <p:cNvPr id="8" name="">
            <a:extLst xmlns:a="http://schemas.openxmlformats.org/drawingml/2006/main">
              <a:ext uri="{FF2B5EF4-FFF2-40B4-BE49-F238E27FC236}">
                <a16:creationId xmlns:a16="http://schemas.microsoft.com/office/drawing/2014/main" id="{4C688A0A-4A64-4AE5-B34C-5AEB66500376}"/>
              </a:ext>
            </a:extLst>
          </p:cNvPr>
          <p:cNvSpPr>
            <a:spLocks xmlns:a="http://schemas.openxmlformats.org/drawingml/2006/main" noGrp="1"/>
          </p:cNvSpPr>
          <p:nvPr/>
        </p:nvSpPr>
        <p:spPr>
          <a:xfrm xmlns:a="http://schemas.openxmlformats.org/drawingml/2006/main">
            <a:off x="6419850" y="2238375"/>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C2933"/>
                </a:solidFill>
                <a:latin typeface="Arial"/>
                <a:ea typeface="Arial"/>
                <a:cs typeface="Arial"/>
              </a:defRPr>
            </a:pPr>
            <a:r>
              <a:rPr sz="1575" b="0">
                <a:solidFill>
                  <a:srgbClr val="1C2933"/>
                </a:solidFill>
                <a:latin typeface="Arial"/>
                <a:ea typeface="Arial"/>
                <a:cs typeface="Arial"/>
              </a:rPr>
              <a:t>No weekly recurrence or Member schedule reminders.</a:t>
            </a:r>
          </a:p>
        </p:txBody>
      </p:sp>
      <p:sp>
        <p:nvSpPr>
          <p:cNvPr id="9" name="">
            <a:extLst xmlns:a="http://schemas.openxmlformats.org/drawingml/2006/main">
              <a:ext uri="{FF2B5EF4-FFF2-40B4-BE49-F238E27FC236}">
                <a16:creationId xmlns:a16="http://schemas.microsoft.com/office/drawing/2014/main" id="{EB49B347-D9BA-465A-B6C9-D66859F30387}"/>
              </a:ext>
            </a:extLst>
          </p:cNvPr>
          <p:cNvSpPr>
            <a:spLocks xmlns:a="http://schemas.openxmlformats.org/drawingml/2006/main" noGrp="1"/>
          </p:cNvSpPr>
          <p:nvPr/>
        </p:nvSpPr>
        <p:spPr>
          <a:xfrm xmlns:a="http://schemas.openxmlformats.org/drawingml/2006/main">
            <a:off x="723900" y="4267200"/>
            <a:ext cx="10515600" cy="0"/>
          </a:xfrm>
          <a:prstGeom xmlns:a="http://schemas.openxmlformats.org/drawingml/2006/main" prst="line">
            <a:avLst/>
          </a:prstGeom>
          <a:noFill xmlns:a="http://schemas.openxmlformats.org/drawingml/2006/main"/>
          <a:ln xmlns:a="http://schemas.openxmlformats.org/drawingml/2006/main" w="19050">
            <a:solidFill>
              <a:srgbClr val="C7D5DE"/>
            </a:solidFill>
          </a:ln>
        </p:spPr>
      </p:sp>
      <p:sp>
        <p:nvSpPr>
          <p:cNvPr id="10" name="">
            <a:extLst xmlns:a="http://schemas.openxmlformats.org/drawingml/2006/main">
              <a:ext uri="{FF2B5EF4-FFF2-40B4-BE49-F238E27FC236}">
                <a16:creationId xmlns:a16="http://schemas.microsoft.com/office/drawing/2014/main" id="{D1656BAD-A5F1-4658-A929-7D080BDF37C4}"/>
              </a:ext>
            </a:extLst>
          </p:cNvPr>
          <p:cNvSpPr>
            <a:spLocks xmlns:a="http://schemas.openxmlformats.org/drawingml/2006/main" noGrp="1"/>
          </p:cNvSpPr>
          <p:nvPr/>
        </p:nvSpPr>
        <p:spPr>
          <a:xfrm xmlns:a="http://schemas.openxmlformats.org/drawingml/2006/main">
            <a:off x="723900" y="46672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7D86"/>
                </a:solidFill>
                <a:latin typeface="Arial"/>
                <a:ea typeface="Arial"/>
                <a:cs typeface="Arial"/>
              </a:defRPr>
            </a:pPr>
            <a:r>
              <a:rPr sz="1200" b="1">
                <a:solidFill>
                  <a:srgbClr val="167D86"/>
                </a:solidFill>
                <a:latin typeface="Arial"/>
                <a:ea typeface="Arial"/>
                <a:cs typeface="Arial"/>
              </a:rPr>
              <a:t>FUTURE IMPLEMENTATION</a:t>
            </a:r>
          </a:p>
        </p:txBody>
      </p:sp>
      <p:sp>
        <p:nvSpPr>
          <p:cNvPr id="11" name="">
            <a:extLst xmlns:a="http://schemas.openxmlformats.org/drawingml/2006/main">
              <a:ext uri="{FF2B5EF4-FFF2-40B4-BE49-F238E27FC236}">
                <a16:creationId xmlns:a16="http://schemas.microsoft.com/office/drawing/2014/main" id="{D17A7948-FEEA-4C8D-94AF-597D05EF1E3C}"/>
              </a:ext>
            </a:extLst>
          </p:cNvPr>
          <p:cNvSpPr>
            <a:spLocks xmlns:a="http://schemas.openxmlformats.org/drawingml/2006/main" noGrp="1"/>
          </p:cNvSpPr>
          <p:nvPr/>
        </p:nvSpPr>
        <p:spPr>
          <a:xfrm xmlns:a="http://schemas.openxmlformats.org/drawingml/2006/main">
            <a:off x="723900" y="50958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324C"/>
                </a:solidFill>
                <a:latin typeface="Arial"/>
                <a:ea typeface="Arial"/>
                <a:cs typeface="Arial"/>
              </a:defRPr>
            </a:pPr>
            <a:r>
              <a:rPr sz="1950" b="1">
                <a:solidFill>
                  <a:srgbClr val="16324C"/>
                </a:solidFill>
                <a:latin typeface="Arial"/>
                <a:ea typeface="Arial"/>
                <a:cs typeface="Arial"/>
              </a:rPr>
              <a:t>Persistent storage, transactional booking, authentication and reminder events</a:t>
            </a:r>
          </a:p>
        </p:txBody>
      </p:sp>
    </p:spTree>
    <p:extLst>
      <p:ext uri="{BB962C8B-B14F-4D97-AF65-F5344CB8AC3E}">
        <p14:creationId xmlns:p14="http://schemas.microsoft.com/office/powerpoint/2010/main" val="70030562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44DDCB7-0D31-4A8E-8D90-92399DCFC2B5}"/>
              </a:ext>
            </a:extLst>
          </p:cNvPr>
          <p:cNvSpPr>
            <a:spLocks xmlns:a="http://schemas.openxmlformats.org/drawingml/2006/main" noGrp="1"/>
          </p:cNvSpPr>
          <p:nvPr/>
        </p:nvSpPr>
        <p:spPr>
          <a:xfrm xmlns:a="http://schemas.openxmlformats.org/drawingml/2006/main">
            <a:off x="609600" y="4191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C"/>
                </a:solidFill>
                <a:latin typeface="Arial"/>
                <a:ea typeface="Arial"/>
                <a:cs typeface="Arial"/>
              </a:defRPr>
            </a:pPr>
            <a:r>
              <a:rPr sz="2700" b="1">
                <a:solidFill>
                  <a:srgbClr val="16324C"/>
                </a:solidFill>
                <a:latin typeface="Arial"/>
                <a:ea typeface="Arial"/>
                <a:cs typeface="Arial"/>
              </a:rPr>
              <a:t>What this project demonstrates</a:t>
            </a:r>
          </a:p>
        </p:txBody>
      </p:sp>
      <p:sp>
        <p:nvSpPr>
          <p:cNvPr id="2" name="">
            <a:extLst xmlns:a="http://schemas.openxmlformats.org/drawingml/2006/main">
              <a:ext uri="{FF2B5EF4-FFF2-40B4-BE49-F238E27FC236}">
                <a16:creationId xmlns:a16="http://schemas.microsoft.com/office/drawing/2014/main" id="{B3ED36EE-4FF6-47AC-A64F-FD584D821517}"/>
              </a:ext>
            </a:extLst>
          </p:cNvPr>
          <p:cNvSpPr>
            <a:spLocks xmlns:a="http://schemas.openxmlformats.org/drawingml/2006/main" noGrp="1"/>
          </p:cNvSpPr>
          <p:nvPr/>
        </p:nvSpPr>
        <p:spPr>
          <a:xfrm xmlns:a="http://schemas.openxmlformats.org/drawingml/2006/main">
            <a:off x="609600" y="1104900"/>
            <a:ext cx="10972800" cy="0"/>
          </a:xfrm>
          <a:prstGeom xmlns:a="http://schemas.openxmlformats.org/drawingml/2006/main" prst="line">
            <a:avLst/>
          </a:prstGeom>
          <a:noFill xmlns:a="http://schemas.openxmlformats.org/drawingml/2006/main"/>
          <a:ln xmlns:a="http://schemas.openxmlformats.org/drawingml/2006/main" w="38100">
            <a:solidFill>
              <a:srgbClr val="167D86"/>
            </a:solidFill>
          </a:ln>
        </p:spPr>
      </p:sp>
      <p:sp>
        <p:nvSpPr>
          <p:cNvPr id="3" name="">
            <a:extLst xmlns:a="http://schemas.openxmlformats.org/drawingml/2006/main">
              <a:ext uri="{FF2B5EF4-FFF2-40B4-BE49-F238E27FC236}">
                <a16:creationId xmlns:a16="http://schemas.microsoft.com/office/drawing/2014/main" id="{BE95C299-7CC8-4F1D-ADED-B100D85DB1C7}"/>
              </a:ext>
            </a:extLst>
          </p:cNvPr>
          <p:cNvSpPr>
            <a:spLocks xmlns:a="http://schemas.openxmlformats.org/drawingml/2006/main" noGrp="1"/>
          </p:cNvSpPr>
          <p:nvPr/>
        </p:nvSpPr>
        <p:spPr>
          <a:xfrm xmlns:a="http://schemas.openxmlformats.org/drawingml/2006/main">
            <a:off x="609600" y="64484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F6C76"/>
                </a:solidFill>
                <a:latin typeface="Arial"/>
                <a:ea typeface="Arial"/>
                <a:cs typeface="Arial"/>
              </a:defRPr>
            </a:pPr>
            <a:r>
              <a:rPr sz="975" b="0">
                <a:solidFill>
                  <a:srgbClr val="5F6C76"/>
                </a:solidFill>
                <a:latin typeface="Arial"/>
                <a:ea typeface="Arial"/>
                <a:cs typeface="Arial"/>
              </a:rPr>
              <a:t>IWFC  /  CMP 7001 PRES1</a:t>
            </a:r>
          </a:p>
        </p:txBody>
      </p:sp>
      <p:sp>
        <p:nvSpPr>
          <p:cNvPr id="4" name="">
            <a:extLst xmlns:a="http://schemas.openxmlformats.org/drawingml/2006/main">
              <a:ext uri="{FF2B5EF4-FFF2-40B4-BE49-F238E27FC236}">
                <a16:creationId xmlns:a16="http://schemas.microsoft.com/office/drawing/2014/main" id="{4FC67E00-4914-41BB-88CB-DF1503F82B4C}"/>
              </a:ext>
            </a:extLst>
          </p:cNvPr>
          <p:cNvSpPr>
            <a:spLocks xmlns:a="http://schemas.openxmlformats.org/drawingml/2006/main" noGrp="1"/>
          </p:cNvSpPr>
          <p:nvPr/>
        </p:nvSpPr>
        <p:spPr>
          <a:xfrm xmlns:a="http://schemas.openxmlformats.org/drawingml/2006/main">
            <a:off x="11068050" y="642937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5F6C76"/>
                </a:solidFill>
                <a:latin typeface="Arial"/>
                <a:ea typeface="Arial"/>
                <a:cs typeface="Arial"/>
              </a:defRPr>
            </a:pPr>
            <a:r>
              <a:rPr sz="975" b="1">
                <a:solidFill>
                  <a:srgbClr val="5F6C76"/>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CAE41E5F-C308-4EFA-98BD-14D5A1AF9A9A}"/>
              </a:ext>
            </a:extLst>
          </p:cNvPr>
          <p:cNvSpPr>
            <a:spLocks xmlns:a="http://schemas.openxmlformats.org/drawingml/2006/main" noGrp="1"/>
          </p:cNvSpPr>
          <p:nvPr/>
        </p:nvSpPr>
        <p:spPr>
          <a:xfrm xmlns:a="http://schemas.openxmlformats.org/drawingml/2006/main">
            <a:off x="714375" y="18573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6324C"/>
                </a:solidFill>
                <a:latin typeface="Arial"/>
                <a:ea typeface="Arial"/>
                <a:cs typeface="Arial"/>
              </a:defRPr>
            </a:pPr>
            <a:r>
              <a:rPr sz="2925" b="1">
                <a:solidFill>
                  <a:srgbClr val="16324C"/>
                </a:solidFill>
                <a:latin typeface="Arial"/>
                <a:ea typeface="Arial"/>
                <a:cs typeface="Arial"/>
              </a:rPr>
              <a:t>A working Java 21 prototype</a:t>
            </a:r>
          </a:p>
        </p:txBody>
      </p:sp>
      <p:sp>
        <p:nvSpPr>
          <p:cNvPr id="6" name="">
            <a:extLst xmlns:a="http://schemas.openxmlformats.org/drawingml/2006/main">
              <a:ext uri="{FF2B5EF4-FFF2-40B4-BE49-F238E27FC236}">
                <a16:creationId xmlns:a16="http://schemas.microsoft.com/office/drawing/2014/main" id="{0E9B56FA-AF50-4700-822B-331D3A568DFB}"/>
              </a:ext>
            </a:extLst>
          </p:cNvPr>
          <p:cNvSpPr>
            <a:spLocks xmlns:a="http://schemas.openxmlformats.org/drawingml/2006/main" noGrp="1"/>
          </p:cNvSpPr>
          <p:nvPr/>
        </p:nvSpPr>
        <p:spPr>
          <a:xfrm xmlns:a="http://schemas.openxmlformats.org/drawingml/2006/main">
            <a:off x="714375" y="30003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6"/>
                </a:solidFill>
                <a:latin typeface="Arial"/>
                <a:ea typeface="Arial"/>
                <a:cs typeface="Arial"/>
              </a:defRPr>
            </a:pPr>
            <a:r>
              <a:rPr sz="2100" b="1">
                <a:solidFill>
                  <a:srgbClr val="167D86"/>
                </a:solidFill>
                <a:latin typeface="Arial"/>
                <a:ea typeface="Arial"/>
                <a:cs typeface="Arial"/>
              </a:rPr>
              <a:t>15 production classes   /   three meaningful patterns   /   126 passing tests</a:t>
            </a:r>
          </a:p>
        </p:txBody>
      </p:sp>
      <p:sp>
        <p:nvSpPr>
          <p:cNvPr id="7" name="">
            <a:extLst xmlns:a="http://schemas.openxmlformats.org/drawingml/2006/main">
              <a:ext uri="{FF2B5EF4-FFF2-40B4-BE49-F238E27FC236}">
                <a16:creationId xmlns:a16="http://schemas.microsoft.com/office/drawing/2014/main" id="{F79A967B-88C6-4251-9F2D-5AC4CDC15507}"/>
              </a:ext>
            </a:extLst>
          </p:cNvPr>
          <p:cNvSpPr>
            <a:spLocks xmlns:a="http://schemas.openxmlformats.org/drawingml/2006/main" noGrp="1"/>
          </p:cNvSpPr>
          <p:nvPr/>
        </p:nvSpPr>
        <p:spPr>
          <a:xfrm xmlns:a="http://schemas.openxmlformats.org/drawingml/2006/main">
            <a:off x="714375" y="4314825"/>
            <a:ext cx="10525125" cy="0"/>
          </a:xfrm>
          <a:prstGeom xmlns:a="http://schemas.openxmlformats.org/drawingml/2006/main" prst="line">
            <a:avLst/>
          </a:prstGeom>
          <a:noFill xmlns:a="http://schemas.openxmlformats.org/drawingml/2006/main"/>
          <a:ln xmlns:a="http://schemas.openxmlformats.org/drawingml/2006/main" w="19050">
            <a:solidFill>
              <a:srgbClr val="C7D5DE"/>
            </a:solidFill>
          </a:ln>
        </p:spPr>
      </p:sp>
      <p:sp>
        <p:nvSpPr>
          <p:cNvPr id="8" name="">
            <a:extLst xmlns:a="http://schemas.openxmlformats.org/drawingml/2006/main">
              <a:ext uri="{FF2B5EF4-FFF2-40B4-BE49-F238E27FC236}">
                <a16:creationId xmlns:a16="http://schemas.microsoft.com/office/drawing/2014/main" id="{A49EBDD4-0301-457E-9531-6B203086663E}"/>
              </a:ext>
            </a:extLst>
          </p:cNvPr>
          <p:cNvSpPr>
            <a:spLocks xmlns:a="http://schemas.openxmlformats.org/drawingml/2006/main" noGrp="1"/>
          </p:cNvSpPr>
          <p:nvPr/>
        </p:nvSpPr>
        <p:spPr>
          <a:xfrm xmlns:a="http://schemas.openxmlformats.org/drawingml/2006/main">
            <a:off x="714375" y="4829175"/>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2933"/>
                </a:solidFill>
                <a:latin typeface="Arial"/>
                <a:ea typeface="Arial"/>
                <a:cs typeface="Arial"/>
              </a:defRPr>
            </a:pPr>
            <a:r>
              <a:rPr sz="1800" b="0">
                <a:solidFill>
                  <a:srgbClr val="1C2933"/>
                </a:solidFill>
                <a:latin typeface="Arial"/>
                <a:ea typeface="Arial"/>
                <a:cs typeface="Arial"/>
              </a:rPr>
              <a:t>Final manual step: record the 10-minute walkthrough and place its verified link on slide 1.</a:t>
            </a:r>
          </a:p>
        </p:txBody>
      </p:sp>
    </p:spTree>
    <p:extLst>
      <p:ext uri="{BB962C8B-B14F-4D97-AF65-F5344CB8AC3E}">
        <p14:creationId xmlns:p14="http://schemas.microsoft.com/office/powerpoint/2010/main" val="15280894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2026-09-22T16:08:59.0550000Z</dcterms:created>
  <dcterms:modified xsi:type="dcterms:W3CDTF">2026-09-22T16:08:59.0550000Z</dcterms:modified>
</coreProperties>
</file>